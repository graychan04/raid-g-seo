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8" r:id="rId3"/>
    <p:sldId id="257" r:id="rId4"/>
    <p:sldId id="259" r:id="rId5"/>
    <p:sldId id="260" r:id="rId6"/>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DB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71" autoAdjust="0"/>
    <p:restoredTop sz="96335" autoAdjust="0"/>
  </p:normalViewPr>
  <p:slideViewPr>
    <p:cSldViewPr snapToGrid="0">
      <p:cViewPr>
        <p:scale>
          <a:sx n="75" d="100"/>
          <a:sy n="75" d="100"/>
        </p:scale>
        <p:origin x="3981" y="12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graychan\Desktop\resul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graychan\Desktop\resul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graychan\Desktop\resul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graychan\Desktop\resul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graychan\Desktop\result.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0" vertOverflow="ellipsis" vert="horz" wrap="square" anchor="ctr" anchorCtr="1"/>
          <a:lstStyle/>
          <a:p>
            <a:pPr defTabSz="914400">
              <a:defRPr lang="zh-CN" sz="1080" b="1"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r>
              <a:rPr lang="en-US" altLang="zh-CN" sz="108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Traget Distribution</a:t>
            </a:r>
          </a:p>
        </c:rich>
      </c:tx>
      <c:overlay val="0"/>
      <c:spPr>
        <a:noFill/>
        <a:ln>
          <a:noFill/>
        </a:ln>
        <a:effectLst/>
      </c:spPr>
      <c:txPr>
        <a:bodyPr rot="0" spcFirstLastPara="0" vertOverflow="ellipsis" vert="horz" wrap="square" anchor="ctr" anchorCtr="1"/>
        <a:lstStyle/>
        <a:p>
          <a:pPr defTabSz="914400">
            <a:defRPr lang="zh-CN" sz="1080" b="1"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en-US" altLang="zh-CN"/>
        </a:p>
      </c:txPr>
    </c:title>
    <c:autoTitleDeleted val="0"/>
    <c:plotArea>
      <c:layout/>
      <c:pieChart>
        <c:varyColors val="1"/>
        <c:ser>
          <c:idx val="0"/>
          <c:order val="0"/>
          <c:dPt>
            <c:idx val="0"/>
            <c:bubble3D val="0"/>
            <c:spPr>
              <a:solidFill>
                <a:schemeClr val="accent6">
                  <a:shade val="58000"/>
                </a:schemeClr>
              </a:solidFill>
              <a:ln>
                <a:solidFill>
                  <a:schemeClr val="bg1"/>
                </a:solidFill>
              </a:ln>
              <a:effectLst/>
            </c:spPr>
            <c:extLst>
              <c:ext xmlns:c16="http://schemas.microsoft.com/office/drawing/2014/chart" uri="{C3380CC4-5D6E-409C-BE32-E72D297353CC}">
                <c16:uniqueId val="{00000001-26DD-4E60-8347-14E5FCD3A2BC}"/>
              </c:ext>
            </c:extLst>
          </c:dPt>
          <c:dPt>
            <c:idx val="1"/>
            <c:bubble3D val="0"/>
            <c:spPr>
              <a:solidFill>
                <a:schemeClr val="accent6">
                  <a:shade val="86000"/>
                </a:schemeClr>
              </a:solidFill>
              <a:ln>
                <a:solidFill>
                  <a:schemeClr val="bg1"/>
                </a:solidFill>
              </a:ln>
              <a:effectLst/>
            </c:spPr>
            <c:extLst>
              <c:ext xmlns:c16="http://schemas.microsoft.com/office/drawing/2014/chart" uri="{C3380CC4-5D6E-409C-BE32-E72D297353CC}">
                <c16:uniqueId val="{00000003-26DD-4E60-8347-14E5FCD3A2BC}"/>
              </c:ext>
            </c:extLst>
          </c:dPt>
          <c:dPt>
            <c:idx val="2"/>
            <c:bubble3D val="0"/>
            <c:spPr>
              <a:solidFill>
                <a:schemeClr val="accent6">
                  <a:tint val="86000"/>
                </a:schemeClr>
              </a:solidFill>
              <a:ln>
                <a:solidFill>
                  <a:schemeClr val="bg1"/>
                </a:solidFill>
              </a:ln>
              <a:effectLst/>
            </c:spPr>
            <c:extLst>
              <c:ext xmlns:c16="http://schemas.microsoft.com/office/drawing/2014/chart" uri="{C3380CC4-5D6E-409C-BE32-E72D297353CC}">
                <c16:uniqueId val="{00000005-26DD-4E60-8347-14E5FCD3A2BC}"/>
              </c:ext>
            </c:extLst>
          </c:dPt>
          <c:dPt>
            <c:idx val="3"/>
            <c:bubble3D val="0"/>
            <c:spPr>
              <a:solidFill>
                <a:schemeClr val="accent6">
                  <a:tint val="58000"/>
                </a:schemeClr>
              </a:solidFill>
              <a:ln>
                <a:solidFill>
                  <a:schemeClr val="bg1"/>
                </a:solidFill>
              </a:ln>
              <a:effectLst/>
            </c:spPr>
            <c:extLst>
              <c:ext xmlns:c16="http://schemas.microsoft.com/office/drawing/2014/chart" uri="{C3380CC4-5D6E-409C-BE32-E72D297353CC}">
                <c16:uniqueId val="{00000007-26DD-4E60-8347-14E5FCD3A2BC}"/>
              </c:ext>
            </c:extLst>
          </c:dPt>
          <c:dLbls>
            <c:dLbl>
              <c:idx val="0"/>
              <c:layout>
                <c:manualLayout>
                  <c:x val="6.4317180616740105E-2"/>
                  <c:y val="-0.19820397690827499"/>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6DD-4E60-8347-14E5FCD3A2BC}"/>
                </c:ext>
              </c:extLst>
            </c:dLbl>
            <c:dLbl>
              <c:idx val="2"/>
              <c:layout>
                <c:manualLayout>
                  <c:x val="-3.5328278754637801E-2"/>
                  <c:y val="0"/>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26DD-4E60-8347-14E5FCD3A2BC}"/>
                </c:ext>
              </c:extLst>
            </c:dLbl>
            <c:dLbl>
              <c:idx val="3"/>
              <c:layout>
                <c:manualLayout>
                  <c:x val="5.5976770446846298E-2"/>
                  <c:y val="-8.7847730600292794E-3"/>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26DD-4E60-8347-14E5FCD3A2BC}"/>
                </c:ext>
              </c:extLst>
            </c:dLbl>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dLblPos val="out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[result.xlsx]Sheet2!$A$59:$A$62</c:f>
              <c:strCache>
                <c:ptCount val="4"/>
                <c:pt idx="0">
                  <c:v>Clarity for Comprehension</c:v>
                </c:pt>
                <c:pt idx="1">
                  <c:v>Value Depth</c:v>
                </c:pt>
                <c:pt idx="2">
                  <c:v>Structural Optimization</c:v>
                </c:pt>
                <c:pt idx="3">
                  <c:v>Engagement and Conversion</c:v>
                </c:pt>
              </c:strCache>
            </c:strRef>
          </c:cat>
          <c:val>
            <c:numRef>
              <c:f>[result.xlsx]Sheet2!$B$59:$B$62</c:f>
              <c:numCache>
                <c:formatCode>General</c:formatCode>
                <c:ptCount val="4"/>
                <c:pt idx="0">
                  <c:v>24640</c:v>
                </c:pt>
                <c:pt idx="1">
                  <c:v>5885</c:v>
                </c:pt>
                <c:pt idx="2">
                  <c:v>330</c:v>
                </c:pt>
                <c:pt idx="3">
                  <c:v>275</c:v>
                </c:pt>
              </c:numCache>
            </c:numRef>
          </c:val>
          <c:extLst>
            <c:ext xmlns:c16="http://schemas.microsoft.com/office/drawing/2014/chart" uri="{C3380CC4-5D6E-409C-BE32-E72D297353CC}">
              <c16:uniqueId val="{00000008-26DD-4E60-8347-14E5FCD3A2BC}"/>
            </c:ext>
          </c:extLst>
        </c:ser>
        <c:dLbls>
          <c:showLegendKey val="0"/>
          <c:showVal val="1"/>
          <c:showCatName val="0"/>
          <c:showSerName val="0"/>
          <c:showPercent val="0"/>
          <c:showBubbleSize val="0"/>
          <c:showLeaderLines val="1"/>
        </c:dLbls>
        <c:firstSliceAng val="0"/>
      </c:pieChart>
      <c:spPr>
        <a:noFill/>
        <a:ln>
          <a:noFill/>
        </a:ln>
        <a:effectLst/>
      </c:spPr>
    </c:plotArea>
    <c:legend>
      <c:legendPos val="t"/>
      <c:legendEntry>
        <c:idx val="0"/>
        <c:txPr>
          <a:bodyPr rot="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legendEntry>
      <c:legendEntry>
        <c:idx val="1"/>
        <c:txPr>
          <a:bodyPr rot="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legendEntry>
      <c:legendEntry>
        <c:idx val="2"/>
        <c:txPr>
          <a:bodyPr rot="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legendEntry>
      <c:legendEntry>
        <c:idx val="3"/>
        <c:txPr>
          <a:bodyPr rot="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legendEntry>
      <c:overlay val="0"/>
      <c:spPr>
        <a:noFill/>
        <a:ln>
          <a:noFill/>
        </a:ln>
        <a:effectLst/>
      </c:spPr>
      <c:txPr>
        <a:bodyPr rot="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legend>
    <c:plotVisOnly val="1"/>
    <c:dispBlanksAs val="gap"/>
    <c:showDLblsOverMax val="0"/>
  </c:chart>
  <c:spPr>
    <a:solidFill>
      <a:schemeClr val="bg1"/>
    </a:solidFill>
    <a:ln w="9525" cap="flat" cmpd="sng" algn="ctr">
      <a:noFill/>
      <a:round/>
    </a:ln>
    <a:effectLst/>
  </c:spPr>
  <c:txPr>
    <a:bodyPr/>
    <a:lstStyle/>
    <a:p>
      <a:pPr>
        <a:defRPr lang="zh-CN" sz="900">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0" vertOverflow="ellipsis" vert="horz" wrap="square" anchor="ctr" anchorCtr="1"/>
          <a:lstStyle/>
          <a:p>
            <a:pPr defTabSz="914400">
              <a:defRPr lang="zh-CN" sz="1080" b="1"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r>
              <a:rPr lang="en-US" altLang="zh-CN" sz="108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Action Distribution</a:t>
            </a:r>
          </a:p>
        </c:rich>
      </c:tx>
      <c:overlay val="0"/>
      <c:spPr>
        <a:noFill/>
        <a:ln>
          <a:noFill/>
        </a:ln>
        <a:effectLst/>
      </c:spPr>
      <c:txPr>
        <a:bodyPr rot="0" spcFirstLastPara="0" vertOverflow="ellipsis" vert="horz" wrap="square" anchor="ctr" anchorCtr="1"/>
        <a:lstStyle/>
        <a:p>
          <a:pPr defTabSz="914400">
            <a:defRPr lang="zh-CN" sz="1080" b="1"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en-US" altLang="zh-CN"/>
        </a:p>
      </c:txPr>
    </c:title>
    <c:autoTitleDeleted val="0"/>
    <c:plotArea>
      <c:layout/>
      <c:pieChart>
        <c:varyColors val="1"/>
        <c:ser>
          <c:idx val="0"/>
          <c:order val="0"/>
          <c:dPt>
            <c:idx val="0"/>
            <c:bubble3D val="0"/>
            <c:spPr>
              <a:solidFill>
                <a:schemeClr val="accent4">
                  <a:shade val="53000"/>
                </a:schemeClr>
              </a:solidFill>
              <a:ln>
                <a:solidFill>
                  <a:schemeClr val="bg1"/>
                </a:solidFill>
              </a:ln>
              <a:effectLst/>
            </c:spPr>
            <c:extLst>
              <c:ext xmlns:c16="http://schemas.microsoft.com/office/drawing/2014/chart" uri="{C3380CC4-5D6E-409C-BE32-E72D297353CC}">
                <c16:uniqueId val="{00000001-EF52-49CD-99DB-346A510D93DE}"/>
              </c:ext>
            </c:extLst>
          </c:dPt>
          <c:dPt>
            <c:idx val="1"/>
            <c:bubble3D val="0"/>
            <c:spPr>
              <a:solidFill>
                <a:schemeClr val="accent4">
                  <a:shade val="76000"/>
                </a:schemeClr>
              </a:solidFill>
              <a:ln>
                <a:solidFill>
                  <a:schemeClr val="bg1"/>
                </a:solidFill>
              </a:ln>
              <a:effectLst/>
            </c:spPr>
            <c:extLst>
              <c:ext xmlns:c16="http://schemas.microsoft.com/office/drawing/2014/chart" uri="{C3380CC4-5D6E-409C-BE32-E72D297353CC}">
                <c16:uniqueId val="{00000003-EF52-49CD-99DB-346A510D93DE}"/>
              </c:ext>
            </c:extLst>
          </c:dPt>
          <c:dPt>
            <c:idx val="2"/>
            <c:bubble3D val="0"/>
            <c:spPr>
              <a:solidFill>
                <a:schemeClr val="accent4"/>
              </a:solidFill>
              <a:ln>
                <a:solidFill>
                  <a:schemeClr val="bg1"/>
                </a:solidFill>
              </a:ln>
              <a:effectLst/>
            </c:spPr>
            <c:extLst>
              <c:ext xmlns:c16="http://schemas.microsoft.com/office/drawing/2014/chart" uri="{C3380CC4-5D6E-409C-BE32-E72D297353CC}">
                <c16:uniqueId val="{00000005-EF52-49CD-99DB-346A510D93DE}"/>
              </c:ext>
            </c:extLst>
          </c:dPt>
          <c:dPt>
            <c:idx val="3"/>
            <c:bubble3D val="0"/>
            <c:spPr>
              <a:solidFill>
                <a:schemeClr val="accent4">
                  <a:tint val="77000"/>
                </a:schemeClr>
              </a:solidFill>
              <a:ln>
                <a:solidFill>
                  <a:schemeClr val="bg1"/>
                </a:solidFill>
              </a:ln>
              <a:effectLst/>
            </c:spPr>
            <c:extLst>
              <c:ext xmlns:c16="http://schemas.microsoft.com/office/drawing/2014/chart" uri="{C3380CC4-5D6E-409C-BE32-E72D297353CC}">
                <c16:uniqueId val="{00000007-EF52-49CD-99DB-346A510D93DE}"/>
              </c:ext>
            </c:extLst>
          </c:dPt>
          <c:dPt>
            <c:idx val="4"/>
            <c:bubble3D val="0"/>
            <c:spPr>
              <a:solidFill>
                <a:schemeClr val="accent4">
                  <a:tint val="54000"/>
                </a:schemeClr>
              </a:solidFill>
              <a:ln>
                <a:solidFill>
                  <a:schemeClr val="bg1"/>
                </a:solidFill>
              </a:ln>
              <a:effectLst/>
            </c:spPr>
            <c:extLst>
              <c:ext xmlns:c16="http://schemas.microsoft.com/office/drawing/2014/chart" uri="{C3380CC4-5D6E-409C-BE32-E72D297353CC}">
                <c16:uniqueId val="{00000009-EF52-49CD-99DB-346A510D93DE}"/>
              </c:ext>
            </c:extLst>
          </c:dPt>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dLblPos val="out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[result.xlsx]Sheet2!$A$74:$A$78</c:f>
              <c:strCache>
                <c:ptCount val="5"/>
                <c:pt idx="0">
                  <c:v>Content Enrichment and Expansion</c:v>
                </c:pt>
                <c:pt idx="1">
                  <c:v>Content Restructure</c:v>
                </c:pt>
                <c:pt idx="2">
                  <c:v>Expression Refinement</c:v>
                </c:pt>
                <c:pt idx="3">
                  <c:v>Linking &amp; Metadata Addition</c:v>
                </c:pt>
                <c:pt idx="4">
                  <c:v>Engagement &amp; Conversion Calling</c:v>
                </c:pt>
              </c:strCache>
            </c:strRef>
          </c:cat>
          <c:val>
            <c:numRef>
              <c:f>[result.xlsx]Sheet2!$B$74:$B$78</c:f>
              <c:numCache>
                <c:formatCode>General</c:formatCode>
                <c:ptCount val="5"/>
                <c:pt idx="0">
                  <c:v>11660</c:v>
                </c:pt>
                <c:pt idx="1">
                  <c:v>7480</c:v>
                </c:pt>
                <c:pt idx="2">
                  <c:v>5170</c:v>
                </c:pt>
                <c:pt idx="3">
                  <c:v>5995</c:v>
                </c:pt>
                <c:pt idx="4">
                  <c:v>825</c:v>
                </c:pt>
              </c:numCache>
            </c:numRef>
          </c:val>
          <c:extLst>
            <c:ext xmlns:c16="http://schemas.microsoft.com/office/drawing/2014/chart" uri="{C3380CC4-5D6E-409C-BE32-E72D297353CC}">
              <c16:uniqueId val="{0000000A-EF52-49CD-99DB-346A510D93DE}"/>
            </c:ext>
          </c:extLst>
        </c:ser>
        <c:dLbls>
          <c:showLegendKey val="0"/>
          <c:showVal val="0"/>
          <c:showCatName val="0"/>
          <c:showSerName val="0"/>
          <c:showPercent val="1"/>
          <c:showBubbleSize val="0"/>
          <c:showLeaderLines val="1"/>
        </c:dLbls>
        <c:firstSliceAng val="0"/>
      </c:pieChart>
      <c:spPr>
        <a:noFill/>
        <a:ln>
          <a:noFill/>
        </a:ln>
        <a:effectLst/>
      </c:spPr>
    </c:plotArea>
    <c:legend>
      <c:legendPos val="t"/>
      <c:legendEntry>
        <c:idx val="0"/>
        <c:txPr>
          <a:bodyPr rot="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legendEntry>
      <c:legendEntry>
        <c:idx val="1"/>
        <c:txPr>
          <a:bodyPr rot="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legendEntry>
      <c:legendEntry>
        <c:idx val="2"/>
        <c:txPr>
          <a:bodyPr rot="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legendEntry>
      <c:legendEntry>
        <c:idx val="3"/>
        <c:txPr>
          <a:bodyPr rot="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legendEntry>
      <c:legendEntry>
        <c:idx val="4"/>
        <c:txPr>
          <a:bodyPr rot="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legendEntry>
      <c:overlay val="0"/>
      <c:spPr>
        <a:noFill/>
        <a:ln>
          <a:noFill/>
        </a:ln>
        <a:effectLst/>
      </c:spPr>
      <c:txPr>
        <a:bodyPr rot="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legend>
    <c:plotVisOnly val="1"/>
    <c:dispBlanksAs val="gap"/>
    <c:showDLblsOverMax val="0"/>
  </c:chart>
  <c:spPr>
    <a:solidFill>
      <a:schemeClr val="bg1"/>
    </a:solidFill>
    <a:ln w="9525" cap="flat" cmpd="sng" algn="ctr">
      <a:noFill/>
      <a:round/>
    </a:ln>
    <a:effectLst/>
  </c:spPr>
  <c:txPr>
    <a:bodyPr/>
    <a:lstStyle/>
    <a:p>
      <a:pPr>
        <a:defRPr lang="zh-CN" sz="900">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chemeClr val="accent6"/>
              </a:solidFill>
              <a:ln>
                <a:solidFill>
                  <a:schemeClr val="bg1"/>
                </a:solidFill>
              </a:ln>
              <a:effectLst/>
            </c:spPr>
            <c:extLst>
              <c:ext xmlns:c16="http://schemas.microsoft.com/office/drawing/2014/chart" uri="{C3380CC4-5D6E-409C-BE32-E72D297353CC}">
                <c16:uniqueId val="{00000001-E846-43AB-BECB-F46C7CA0F5E7}"/>
              </c:ext>
            </c:extLst>
          </c:dPt>
          <c:dPt>
            <c:idx val="1"/>
            <c:bubble3D val="0"/>
            <c:spPr>
              <a:solidFill>
                <a:schemeClr val="accent4">
                  <a:lumMod val="60000"/>
                  <a:lumOff val="40000"/>
                </a:schemeClr>
              </a:solidFill>
              <a:ln>
                <a:solidFill>
                  <a:schemeClr val="bg1"/>
                </a:solidFill>
              </a:ln>
              <a:effectLst/>
            </c:spPr>
            <c:extLst>
              <c:ext xmlns:c16="http://schemas.microsoft.com/office/drawing/2014/chart" uri="{C3380CC4-5D6E-409C-BE32-E72D297353CC}">
                <c16:uniqueId val="{00000003-E846-43AB-BECB-F46C7CA0F5E7}"/>
              </c:ext>
            </c:extLst>
          </c:dPt>
          <c:dPt>
            <c:idx val="2"/>
            <c:bubble3D val="0"/>
            <c:spPr>
              <a:solidFill>
                <a:schemeClr val="accent4"/>
              </a:solidFill>
              <a:ln>
                <a:solidFill>
                  <a:schemeClr val="bg1"/>
                </a:solidFill>
              </a:ln>
              <a:effectLst/>
            </c:spPr>
            <c:extLst>
              <c:ext xmlns:c16="http://schemas.microsoft.com/office/drawing/2014/chart" uri="{C3380CC4-5D6E-409C-BE32-E72D297353CC}">
                <c16:uniqueId val="{00000005-E846-43AB-BECB-F46C7CA0F5E7}"/>
              </c:ext>
            </c:extLst>
          </c:dPt>
          <c:dPt>
            <c:idx val="3"/>
            <c:bubble3D val="0"/>
            <c:spPr>
              <a:solidFill>
                <a:schemeClr val="accent4">
                  <a:lumMod val="75000"/>
                </a:schemeClr>
              </a:solidFill>
              <a:ln>
                <a:solidFill>
                  <a:schemeClr val="bg1"/>
                </a:solidFill>
              </a:ln>
              <a:effectLst/>
            </c:spPr>
            <c:extLst>
              <c:ext xmlns:c16="http://schemas.microsoft.com/office/drawing/2014/chart" uri="{C3380CC4-5D6E-409C-BE32-E72D297353CC}">
                <c16:uniqueId val="{00000007-E846-43AB-BECB-F46C7CA0F5E7}"/>
              </c:ext>
            </c:extLst>
          </c:dPt>
          <c:dPt>
            <c:idx val="4"/>
            <c:bubble3D val="0"/>
            <c:spPr>
              <a:solidFill>
                <a:schemeClr val="accent6">
                  <a:lumMod val="75000"/>
                </a:schemeClr>
              </a:solidFill>
              <a:ln>
                <a:solidFill>
                  <a:schemeClr val="bg1"/>
                </a:solidFill>
              </a:ln>
              <a:effectLst/>
            </c:spPr>
            <c:extLst>
              <c:ext xmlns:c16="http://schemas.microsoft.com/office/drawing/2014/chart" uri="{C3380CC4-5D6E-409C-BE32-E72D297353CC}">
                <c16:uniqueId val="{00000009-E846-43AB-BECB-F46C7CA0F5E7}"/>
              </c:ext>
            </c:extLst>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dLblPos val="out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[result.xlsx]Sheet2!$A$48:$A$52</c:f>
              <c:strCache>
                <c:ptCount val="5"/>
                <c:pt idx="0">
                  <c:v>Knowledge Producers &amp; Interpreters</c:v>
                </c:pt>
                <c:pt idx="1">
                  <c:v>Institutional &amp; Governance Actors</c:v>
                </c:pt>
                <c:pt idx="2">
                  <c:v>Organizational Decision-Makers</c:v>
                </c:pt>
                <c:pt idx="3">
                  <c:v>Professional &amp; Technical Practitioners</c:v>
                </c:pt>
                <c:pt idx="4">
                  <c:v>Everyday Experiencers</c:v>
                </c:pt>
              </c:strCache>
            </c:strRef>
          </c:cat>
          <c:val>
            <c:numRef>
              <c:f>[result.xlsx]Sheet2!$B$48:$B$52</c:f>
              <c:numCache>
                <c:formatCode>General</c:formatCode>
                <c:ptCount val="5"/>
                <c:pt idx="0">
                  <c:v>5335</c:v>
                </c:pt>
                <c:pt idx="1">
                  <c:v>1045</c:v>
                </c:pt>
                <c:pt idx="2">
                  <c:v>2035</c:v>
                </c:pt>
                <c:pt idx="3">
                  <c:v>2530</c:v>
                </c:pt>
                <c:pt idx="4">
                  <c:v>5225</c:v>
                </c:pt>
              </c:numCache>
            </c:numRef>
          </c:val>
          <c:extLst>
            <c:ext xmlns:c16="http://schemas.microsoft.com/office/drawing/2014/chart" uri="{C3380CC4-5D6E-409C-BE32-E72D297353CC}">
              <c16:uniqueId val="{0000000A-E846-43AB-BECB-F46C7CA0F5E7}"/>
            </c:ext>
          </c:extLst>
        </c:ser>
        <c:dLbls>
          <c:showLegendKey val="0"/>
          <c:showVal val="1"/>
          <c:showCatName val="0"/>
          <c:showSerName val="0"/>
          <c:showPercent val="0"/>
          <c:showBubbleSize val="0"/>
          <c:showLeaderLines val="1"/>
        </c:dLbls>
        <c:firstSliceAng val="0"/>
      </c:pieChart>
      <c:spPr>
        <a:noFill/>
        <a:ln>
          <a:noFill/>
        </a:ln>
        <a:effectLst/>
      </c:spPr>
    </c:plotArea>
    <c:legend>
      <c:legendPos val="r"/>
      <c:layout>
        <c:manualLayout>
          <c:xMode val="edge"/>
          <c:yMode val="edge"/>
          <c:x val="0.55209313264346205"/>
          <c:y val="0.184263448969331"/>
          <c:w val="0.43379586077140198"/>
          <c:h val="0.631724484665661"/>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legend>
    <c:plotVisOnly val="1"/>
    <c:dispBlanksAs val="gap"/>
    <c:showDLblsOverMax val="0"/>
    <c:extLst>
      <c:ext uri="{0b15fc19-7d7d-44ad-8c2d-2c3a37ce22c3}">
        <chartProps xmlns="https://web.wps.cn/et/2018/main" chartId="{375be9d1-6e84-48fb-889f-8a148b911de6}"/>
      </c:ext>
    </c:extLst>
  </c:chart>
  <c:spPr>
    <a:solidFill>
      <a:schemeClr val="bg1"/>
    </a:solidFill>
    <a:ln w="6350" cap="flat" cmpd="sng" algn="ctr">
      <a:noFill/>
      <a:round/>
    </a:ln>
    <a:effectLst/>
  </c:spPr>
  <c:txPr>
    <a:bodyPr/>
    <a:lstStyle/>
    <a:p>
      <a:pPr>
        <a:defRPr lang="zh-CN">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col"/>
        <c:grouping val="clustered"/>
        <c:varyColors val="0"/>
        <c:ser>
          <c:idx val="0"/>
          <c:order val="0"/>
          <c:tx>
            <c:strRef>
              <c:f>"Adaptability Analysis on Subjective Impression (Average)"</c:f>
              <c:strCache>
                <c:ptCount val="1"/>
                <c:pt idx="0">
                  <c:v>Adaptability Analysis on Subjective Impression (Average)</c:v>
                </c:pt>
              </c:strCache>
            </c:strRef>
          </c:tx>
          <c:spPr>
            <a:solidFill>
              <a:schemeClr val="accent6">
                <a:lumMod val="75000"/>
              </a:schemeClr>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([result.xlsx]Sheet2!$A$26:$A$34,[result.xlsx]Sheet2!$A$39)</c:f>
              <c:strCache>
                <c:ptCount val="10"/>
                <c:pt idx="0">
                  <c:v>Tran.SEO</c:v>
                </c:pt>
                <c:pt idx="1">
                  <c:v>Uniq. Word</c:v>
                </c:pt>
                <c:pt idx="2">
                  <c:v>Simp. Expr.</c:v>
                </c:pt>
                <c:pt idx="3">
                  <c:v>Auth. Expr.</c:v>
                </c:pt>
                <c:pt idx="4">
                  <c:v>Flue. Expr.</c:v>
                </c:pt>
                <c:pt idx="5">
                  <c:v>Term. Addi.</c:v>
                </c:pt>
                <c:pt idx="6">
                  <c:v>Repu. Addi.</c:v>
                </c:pt>
                <c:pt idx="7">
                  <c:v>Quot. Addi.</c:v>
                </c:pt>
                <c:pt idx="8">
                  <c:v>Stat. Addi.</c:v>
                </c:pt>
                <c:pt idx="9">
                  <c:v>RAID    G-SEO</c:v>
                </c:pt>
              </c:strCache>
            </c:strRef>
          </c:cat>
          <c:val>
            <c:numRef>
              <c:f>([result.xlsx]Sheet2!$B$26:$B$34,[result.xlsx]Sheet2!$B$39)</c:f>
              <c:numCache>
                <c:formatCode>General</c:formatCode>
                <c:ptCount val="10"/>
                <c:pt idx="0">
                  <c:v>248</c:v>
                </c:pt>
                <c:pt idx="1">
                  <c:v>237</c:v>
                </c:pt>
                <c:pt idx="2">
                  <c:v>238</c:v>
                </c:pt>
                <c:pt idx="3">
                  <c:v>269</c:v>
                </c:pt>
                <c:pt idx="4">
                  <c:v>278</c:v>
                </c:pt>
                <c:pt idx="5">
                  <c:v>279</c:v>
                </c:pt>
                <c:pt idx="6">
                  <c:v>269</c:v>
                </c:pt>
                <c:pt idx="7">
                  <c:v>266</c:v>
                </c:pt>
                <c:pt idx="8">
                  <c:v>278</c:v>
                </c:pt>
                <c:pt idx="9">
                  <c:v>298</c:v>
                </c:pt>
              </c:numCache>
            </c:numRef>
          </c:val>
          <c:extLst>
            <c:ext xmlns:c16="http://schemas.microsoft.com/office/drawing/2014/chart" uri="{C3380CC4-5D6E-409C-BE32-E72D297353CC}">
              <c16:uniqueId val="{00000000-5A30-44C3-87FB-8702EC8BAFF4}"/>
            </c:ext>
          </c:extLst>
        </c:ser>
        <c:ser>
          <c:idx val="1"/>
          <c:order val="1"/>
          <c:tx>
            <c:strRef>
              <c:f>"Adaptability Analysis on Objective Impression (Overall)"</c:f>
              <c:strCache>
                <c:ptCount val="1"/>
                <c:pt idx="0">
                  <c:v>Adaptability Analysis on Objective Impression (Overall)</c:v>
                </c:pt>
              </c:strCache>
            </c:strRef>
          </c:tx>
          <c:spPr>
            <a:solidFill>
              <a:schemeClr val="accent6">
                <a:lumMod val="60000"/>
                <a:lumOff val="40000"/>
              </a:schemeClr>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([result.xlsx]Sheet2!$A$26:$A$34,[result.xlsx]Sheet2!$A$39)</c:f>
              <c:strCache>
                <c:ptCount val="10"/>
                <c:pt idx="0">
                  <c:v>Tran.SEO</c:v>
                </c:pt>
                <c:pt idx="1">
                  <c:v>Uniq. Word</c:v>
                </c:pt>
                <c:pt idx="2">
                  <c:v>Simp. Expr.</c:v>
                </c:pt>
                <c:pt idx="3">
                  <c:v>Auth. Expr.</c:v>
                </c:pt>
                <c:pt idx="4">
                  <c:v>Flue. Expr.</c:v>
                </c:pt>
                <c:pt idx="5">
                  <c:v>Term. Addi.</c:v>
                </c:pt>
                <c:pt idx="6">
                  <c:v>Repu. Addi.</c:v>
                </c:pt>
                <c:pt idx="7">
                  <c:v>Quot. Addi.</c:v>
                </c:pt>
                <c:pt idx="8">
                  <c:v>Stat. Addi.</c:v>
                </c:pt>
                <c:pt idx="9">
                  <c:v>RAID    G-SEO</c:v>
                </c:pt>
              </c:strCache>
            </c:strRef>
          </c:cat>
          <c:val>
            <c:numRef>
              <c:f>([result.xlsx]Sheet2!$C$26:$C$34,[result.xlsx]Sheet2!$C$39)</c:f>
              <c:numCache>
                <c:formatCode>General</c:formatCode>
                <c:ptCount val="10"/>
                <c:pt idx="0">
                  <c:v>226</c:v>
                </c:pt>
                <c:pt idx="1">
                  <c:v>209</c:v>
                </c:pt>
                <c:pt idx="2">
                  <c:v>207</c:v>
                </c:pt>
                <c:pt idx="3">
                  <c:v>278</c:v>
                </c:pt>
                <c:pt idx="4">
                  <c:v>278</c:v>
                </c:pt>
                <c:pt idx="5">
                  <c:v>287</c:v>
                </c:pt>
                <c:pt idx="6">
                  <c:v>271</c:v>
                </c:pt>
                <c:pt idx="7">
                  <c:v>286</c:v>
                </c:pt>
                <c:pt idx="8">
                  <c:v>287</c:v>
                </c:pt>
                <c:pt idx="9">
                  <c:v>278</c:v>
                </c:pt>
              </c:numCache>
            </c:numRef>
          </c:val>
          <c:extLst>
            <c:ext xmlns:c16="http://schemas.microsoft.com/office/drawing/2014/chart" uri="{C3380CC4-5D6E-409C-BE32-E72D297353CC}">
              <c16:uniqueId val="{00000001-5A30-44C3-87FB-8702EC8BAFF4}"/>
            </c:ext>
          </c:extLst>
        </c:ser>
        <c:dLbls>
          <c:showLegendKey val="0"/>
          <c:showVal val="1"/>
          <c:showCatName val="0"/>
          <c:showSerName val="0"/>
          <c:showPercent val="0"/>
          <c:showBubbleSize val="0"/>
        </c:dLbls>
        <c:gapWidth val="200"/>
        <c:overlap val="-50"/>
        <c:axId val="179772871"/>
        <c:axId val="846994260"/>
      </c:barChart>
      <c:catAx>
        <c:axId val="179772871"/>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crossAx val="846994260"/>
        <c:crosses val="autoZero"/>
        <c:auto val="1"/>
        <c:lblAlgn val="ctr"/>
        <c:lblOffset val="100"/>
        <c:noMultiLvlLbl val="0"/>
      </c:catAx>
      <c:valAx>
        <c:axId val="846994260"/>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crossAx val="179772871"/>
        <c:crosses val="autoZero"/>
        <c:crossBetween val="between"/>
      </c:valAx>
      <c:spPr>
        <a:noFill/>
        <a:ln>
          <a:noFill/>
        </a:ln>
        <a:effectLst/>
      </c:spPr>
    </c:plotArea>
    <c:legend>
      <c:legendPos val="b"/>
      <c:legendEntry>
        <c:idx val="0"/>
        <c:txPr>
          <a:bodyPr rot="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legendEntry>
      <c:legendEntry>
        <c:idx val="1"/>
        <c:txPr>
          <a:bodyPr rot="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legendEntry>
      <c:overlay val="0"/>
      <c:spPr>
        <a:noFill/>
        <a:ln>
          <a:noFill/>
        </a:ln>
        <a:effectLst/>
      </c:spPr>
      <c:txPr>
        <a:bodyPr rot="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legend>
    <c:plotVisOnly val="1"/>
    <c:dispBlanksAs val="gap"/>
    <c:showDLblsOverMax val="0"/>
    <c:extLst>
      <c:ext uri="{0b15fc19-7d7d-44ad-8c2d-2c3a37ce22c3}">
        <chartProps xmlns="https://web.wps.cn/et/2018/main" chartId="{0491def1-94ae-4bfb-9a42-06fd1c0f4941}"/>
      </c:ext>
    </c:extLst>
  </c:chart>
  <c:spPr>
    <a:solidFill>
      <a:schemeClr val="bg1"/>
    </a:solidFill>
    <a:ln w="9525" cap="flat" cmpd="sng" algn="ctr">
      <a:noFill/>
      <a:round/>
    </a:ln>
    <a:effectLst/>
  </c:spPr>
  <c:txPr>
    <a:bodyPr/>
    <a:lstStyle/>
    <a:p>
      <a:pPr>
        <a:defRPr lang="zh-CN" sz="900">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col"/>
        <c:grouping val="clustered"/>
        <c:varyColors val="0"/>
        <c:ser>
          <c:idx val="0"/>
          <c:order val="0"/>
          <c:tx>
            <c:strRef>
              <c:f>"Adaptability Analysis on Subjective Impression (Average)"</c:f>
              <c:strCache>
                <c:ptCount val="1"/>
                <c:pt idx="0">
                  <c:v>Adaptability Analysis on Subjective Impression (Average)</c:v>
                </c:pt>
              </c:strCache>
            </c:strRef>
          </c:tx>
          <c:spPr>
            <a:solidFill>
              <a:schemeClr val="accent4">
                <a:lumMod val="75000"/>
              </a:schemeClr>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[result.xlsx]Sheet2!$A$35:$A$39</c:f>
              <c:strCache>
                <c:ptCount val="5"/>
                <c:pt idx="0">
                  <c:v>Simple G-SEO (w/o Step)</c:v>
                </c:pt>
                <c:pt idx="1">
                  <c:v>Simple G-SEO   (w/ Step)</c:v>
                </c:pt>
                <c:pt idx="2">
                  <c:v>ID G-SEO           (w/o Summ.)</c:v>
                </c:pt>
                <c:pt idx="3">
                  <c:v>ID G-SEO          (w/ Summ.)</c:v>
                </c:pt>
                <c:pt idx="4">
                  <c:v>RAID G-SEO</c:v>
                </c:pt>
              </c:strCache>
            </c:strRef>
          </c:cat>
          <c:val>
            <c:numRef>
              <c:f>[result.xlsx]Sheet2!$B$35:$B$39</c:f>
              <c:numCache>
                <c:formatCode>General</c:formatCode>
                <c:ptCount val="5"/>
                <c:pt idx="0">
                  <c:v>293</c:v>
                </c:pt>
                <c:pt idx="1">
                  <c:v>286</c:v>
                </c:pt>
                <c:pt idx="2">
                  <c:v>292</c:v>
                </c:pt>
                <c:pt idx="3">
                  <c:v>302</c:v>
                </c:pt>
                <c:pt idx="4">
                  <c:v>298</c:v>
                </c:pt>
              </c:numCache>
            </c:numRef>
          </c:val>
          <c:extLst>
            <c:ext xmlns:c16="http://schemas.microsoft.com/office/drawing/2014/chart" uri="{C3380CC4-5D6E-409C-BE32-E72D297353CC}">
              <c16:uniqueId val="{00000000-4E7D-46BC-8F9E-E2849479D749}"/>
            </c:ext>
          </c:extLst>
        </c:ser>
        <c:ser>
          <c:idx val="1"/>
          <c:order val="1"/>
          <c:tx>
            <c:strRef>
              <c:f>"Adaptability Analysis on Objective Impression (Overall)"</c:f>
              <c:strCache>
                <c:ptCount val="1"/>
                <c:pt idx="0">
                  <c:v>Adaptability Analysis on Objective Impression (Overall)</c:v>
                </c:pt>
              </c:strCache>
            </c:strRef>
          </c:tx>
          <c:spPr>
            <a:solidFill>
              <a:schemeClr val="accent4">
                <a:lumMod val="60000"/>
                <a:lumOff val="40000"/>
              </a:schemeClr>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[result.xlsx]Sheet2!$A$35:$A$39</c:f>
              <c:strCache>
                <c:ptCount val="5"/>
                <c:pt idx="0">
                  <c:v>Simple G-SEO (w/o Step)</c:v>
                </c:pt>
                <c:pt idx="1">
                  <c:v>Simple G-SEO   (w/ Step)</c:v>
                </c:pt>
                <c:pt idx="2">
                  <c:v>ID G-SEO           (w/o Summ.)</c:v>
                </c:pt>
                <c:pt idx="3">
                  <c:v>ID G-SEO          (w/ Summ.)</c:v>
                </c:pt>
                <c:pt idx="4">
                  <c:v>RAID G-SEO</c:v>
                </c:pt>
              </c:strCache>
            </c:strRef>
          </c:cat>
          <c:val>
            <c:numRef>
              <c:f>[result.xlsx]Sheet2!$C$35:$C$39</c:f>
              <c:numCache>
                <c:formatCode>General</c:formatCode>
                <c:ptCount val="5"/>
                <c:pt idx="0">
                  <c:v>271</c:v>
                </c:pt>
                <c:pt idx="1">
                  <c:v>271</c:v>
                </c:pt>
                <c:pt idx="2">
                  <c:v>261</c:v>
                </c:pt>
                <c:pt idx="3">
                  <c:v>264</c:v>
                </c:pt>
                <c:pt idx="4">
                  <c:v>278</c:v>
                </c:pt>
              </c:numCache>
            </c:numRef>
          </c:val>
          <c:extLst>
            <c:ext xmlns:c16="http://schemas.microsoft.com/office/drawing/2014/chart" uri="{C3380CC4-5D6E-409C-BE32-E72D297353CC}">
              <c16:uniqueId val="{00000001-4E7D-46BC-8F9E-E2849479D749}"/>
            </c:ext>
          </c:extLst>
        </c:ser>
        <c:dLbls>
          <c:showLegendKey val="0"/>
          <c:showVal val="0"/>
          <c:showCatName val="0"/>
          <c:showSerName val="0"/>
          <c:showPercent val="0"/>
          <c:showBubbleSize val="0"/>
        </c:dLbls>
        <c:gapWidth val="200"/>
        <c:overlap val="-50"/>
        <c:axId val="179772871"/>
        <c:axId val="846994260"/>
      </c:barChart>
      <c:catAx>
        <c:axId val="179772871"/>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crossAx val="846994260"/>
        <c:crosses val="autoZero"/>
        <c:auto val="1"/>
        <c:lblAlgn val="ctr"/>
        <c:lblOffset val="100"/>
        <c:noMultiLvlLbl val="0"/>
      </c:catAx>
      <c:valAx>
        <c:axId val="846994260"/>
        <c:scaling>
          <c:orientation val="minMax"/>
          <c:min val="0"/>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crossAx val="179772871"/>
        <c:crosses val="autoZero"/>
        <c:crossBetween val="between"/>
      </c:valAx>
      <c:spPr>
        <a:noFill/>
        <a:ln>
          <a:noFill/>
        </a:ln>
        <a:effectLst/>
      </c:spPr>
    </c:plotArea>
    <c:legend>
      <c:legendPos val="b"/>
      <c:legendEntry>
        <c:idx val="0"/>
        <c:txPr>
          <a:bodyPr rot="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legendEntry>
      <c:legendEntry>
        <c:idx val="1"/>
        <c:txPr>
          <a:bodyPr rot="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legendEntry>
      <c:overlay val="0"/>
      <c:spPr>
        <a:noFill/>
        <a:ln>
          <a:noFill/>
        </a:ln>
        <a:effectLst/>
      </c:spPr>
      <c:txPr>
        <a:bodyPr rot="0" spcFirstLastPara="0" vertOverflow="ellipsis" vert="horz" wrap="square" anchor="ctr" anchorCtr="1"/>
        <a:lstStyle/>
        <a:p>
          <a:pPr>
            <a:defRPr lang="zh-CN" sz="900" b="0" i="0" u="none" strike="noStrike" kern="1200" baseline="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legend>
    <c:plotVisOnly val="1"/>
    <c:dispBlanksAs val="gap"/>
    <c:showDLblsOverMax val="0"/>
    <c:extLst>
      <c:ext uri="{0b15fc19-7d7d-44ad-8c2d-2c3a37ce22c3}">
        <chartProps xmlns="https://web.wps.cn/et/2018/main" chartId="{f731a121-9e16-41d5-aca2-d021ac7e245c}"/>
      </c:ext>
    </c:extLst>
  </c:chart>
  <c:spPr>
    <a:solidFill>
      <a:schemeClr val="bg1"/>
    </a:solidFill>
    <a:ln w="9525" cap="flat" cmpd="sng" algn="ctr">
      <a:noFill/>
      <a:round/>
    </a:ln>
    <a:effectLst/>
  </c:spPr>
  <c:txPr>
    <a:bodyPr/>
    <a:lstStyle/>
    <a:p>
      <a:pPr>
        <a:defRPr lang="zh-CN" sz="900">
          <a:latin typeface="Times New Roman" panose="02020603050405020304" charset="0"/>
          <a:ea typeface="Times New Roman" panose="02020603050405020304" charset="0"/>
          <a:cs typeface="Times New Roman" panose="02020603050405020304" charset="0"/>
          <a:sym typeface="Times New Roman" panose="02020603050405020304" charset="0"/>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withinLinear" id="19">
  <a:schemeClr val="accent6"/>
</cs:colorStyle>
</file>

<file path=ppt/charts/colors2.xml><?xml version="1.0" encoding="utf-8"?>
<cs:colorStyle xmlns:cs="http://schemas.microsoft.com/office/drawing/2012/chartStyle" xmlns:a="http://schemas.openxmlformats.org/drawingml/2006/main" meth="withinLinear" id="17">
  <a:schemeClr val="accent4"/>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4">
  <a:schemeClr val="accent1"/>
</cs:colorStyle>
</file>

<file path=ppt/charts/colors5.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AB0982-1C07-47EA-B778-081BC307CEC0}" type="datetimeFigureOut">
              <a:rPr lang="zh-CN" altLang="en-US" smtClean="0"/>
              <a:t>2026/1/12</a:t>
            </a:fld>
            <a:endParaRPr lang="zh-CN" altLang="en-US"/>
          </a:p>
        </p:txBody>
      </p:sp>
      <p:sp>
        <p:nvSpPr>
          <p:cNvPr id="4" name="幻灯片图像占位符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C95050-72C0-4979-8A15-243046A262A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C95050-72C0-4979-8A15-243046A262AE}"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C95050-72C0-4979-8A15-243046A262AE}"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C95050-72C0-4979-8A15-243046A262AE}"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C95050-72C0-4979-8A15-243046A262AE}"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C95050-72C0-4979-8A15-243046A262AE}" type="slidenum">
              <a:rPr lang="zh-CN" altLang="en-US" smtClean="0"/>
              <a:t>5</a:t>
            </a:fld>
            <a:endParaRPr lang="zh-CN" altLang="en-US"/>
          </a:p>
        </p:txBody>
      </p:sp>
    </p:spTree>
    <p:extLst>
      <p:ext uri="{BB962C8B-B14F-4D97-AF65-F5344CB8AC3E}">
        <p14:creationId xmlns:p14="http://schemas.microsoft.com/office/powerpoint/2010/main" val="3216480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646133"/>
            <a:ext cx="6606540" cy="3501813"/>
          </a:xfrm>
        </p:spPr>
        <p:txBody>
          <a:bodyPr anchor="b"/>
          <a:lstStyle>
            <a:lvl1pPr algn="ctr">
              <a:defRPr sz="5100"/>
            </a:lvl1pPr>
          </a:lstStyle>
          <a:p>
            <a:r>
              <a:rPr lang="zh-CN" altLang="en-US"/>
              <a:t>单击此处编辑母版标题样式</a:t>
            </a:r>
            <a:endParaRPr lang="en-US" dirty="0"/>
          </a:p>
        </p:txBody>
      </p:sp>
      <p:sp>
        <p:nvSpPr>
          <p:cNvPr id="3" name="Subtitle 2"/>
          <p:cNvSpPr>
            <a:spLocks noGrp="1"/>
          </p:cNvSpPr>
          <p:nvPr>
            <p:ph type="subTitle" idx="1"/>
          </p:nvPr>
        </p:nvSpPr>
        <p:spPr>
          <a:xfrm>
            <a:off x="971550" y="5282989"/>
            <a:ext cx="5829300" cy="2428451"/>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46715FF-458B-4794-88AB-1A69C7883206}" type="datetimeFigureOut">
              <a:rPr lang="zh-CN" altLang="en-US" smtClean="0"/>
              <a:t>2026/1/12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99DE926-349C-4E43-8237-C00804C6C22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6715FF-458B-4794-88AB-1A69C7883206}" type="datetimeFigureOut">
              <a:rPr lang="zh-CN" altLang="en-US" smtClean="0"/>
              <a:t>2026/1/12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99DE926-349C-4E43-8237-C00804C6C22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30305" y="2507618"/>
            <a:ext cx="6703695" cy="4184014"/>
          </a:xfrm>
        </p:spPr>
        <p:txBody>
          <a:bodyPr anchor="b"/>
          <a:lstStyle>
            <a:lvl1pPr>
              <a:defRPr sz="5100"/>
            </a:lvl1pPr>
          </a:lstStyle>
          <a:p>
            <a:r>
              <a:rPr lang="zh-CN" altLang="en-US"/>
              <a:t>单击此处编辑母版标题样式</a:t>
            </a:r>
            <a:endParaRPr lang="en-US" dirty="0"/>
          </a:p>
        </p:txBody>
      </p:sp>
      <p:sp>
        <p:nvSpPr>
          <p:cNvPr id="3" name="Text Placeholder 2"/>
          <p:cNvSpPr>
            <a:spLocks noGrp="1"/>
          </p:cNvSpPr>
          <p:nvPr>
            <p:ph type="body" idx="1"/>
          </p:nvPr>
        </p:nvSpPr>
        <p:spPr>
          <a:xfrm>
            <a:off x="530305" y="6731215"/>
            <a:ext cx="6703695" cy="2200274"/>
          </a:xfrm>
        </p:spPr>
        <p:txBody>
          <a:bodyPr/>
          <a:lstStyle>
            <a:lvl1pPr marL="0" indent="0">
              <a:buNone/>
              <a:defRPr sz="2040">
                <a:solidFill>
                  <a:schemeClr val="tx1"/>
                </a:solidFill>
              </a:defRPr>
            </a:lvl1pPr>
            <a:lvl2pPr marL="388620" indent="0">
              <a:buNone/>
              <a:defRPr sz="1700">
                <a:solidFill>
                  <a:schemeClr val="tx1">
                    <a:tint val="75000"/>
                  </a:schemeClr>
                </a:solidFill>
              </a:defRPr>
            </a:lvl2pPr>
            <a:lvl3pPr marL="777240" indent="0">
              <a:buNone/>
              <a:defRPr sz="1530">
                <a:solidFill>
                  <a:schemeClr val="tx1">
                    <a:tint val="75000"/>
                  </a:schemeClr>
                </a:solidFill>
              </a:defRPr>
            </a:lvl3pPr>
            <a:lvl4pPr marL="1165860" indent="0">
              <a:buNone/>
              <a:defRPr sz="1360">
                <a:solidFill>
                  <a:schemeClr val="tx1">
                    <a:tint val="75000"/>
                  </a:schemeClr>
                </a:solidFill>
              </a:defRPr>
            </a:lvl4pPr>
            <a:lvl5pPr marL="1554480" indent="0">
              <a:buNone/>
              <a:defRPr sz="1360">
                <a:solidFill>
                  <a:schemeClr val="tx1">
                    <a:tint val="75000"/>
                  </a:schemeClr>
                </a:solidFill>
              </a:defRPr>
            </a:lvl5pPr>
            <a:lvl6pPr marL="1943100" indent="0">
              <a:buNone/>
              <a:defRPr sz="1360">
                <a:solidFill>
                  <a:schemeClr val="tx1">
                    <a:tint val="75000"/>
                  </a:schemeClr>
                </a:solidFill>
              </a:defRPr>
            </a:lvl6pPr>
            <a:lvl7pPr marL="2331720" indent="0">
              <a:buNone/>
              <a:defRPr sz="1360">
                <a:solidFill>
                  <a:schemeClr val="tx1">
                    <a:tint val="75000"/>
                  </a:schemeClr>
                </a:solidFill>
              </a:defRPr>
            </a:lvl7pPr>
            <a:lvl8pPr marL="2720340" indent="0">
              <a:buNone/>
              <a:defRPr sz="1360">
                <a:solidFill>
                  <a:schemeClr val="tx1">
                    <a:tint val="75000"/>
                  </a:schemeClr>
                </a:solidFill>
              </a:defRPr>
            </a:lvl8pPr>
            <a:lvl9pPr marL="3108960" indent="0">
              <a:buNone/>
              <a:defRPr sz="136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46715FF-458B-4794-88AB-1A69C7883206}" type="datetimeFigureOut">
              <a:rPr lang="zh-CN" altLang="en-US" smtClean="0"/>
              <a:t>2026/1/12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99DE926-349C-4E43-8237-C00804C6C22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34353" y="2677584"/>
            <a:ext cx="3303270" cy="63819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3934778" y="2677584"/>
            <a:ext cx="3303270" cy="63819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46715FF-458B-4794-88AB-1A69C7883206}" type="datetimeFigureOut">
              <a:rPr lang="zh-CN" altLang="en-US" smtClean="0"/>
              <a:t>2026/1/12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99DE926-349C-4E43-8237-C00804C6C22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535365" y="535519"/>
            <a:ext cx="6703695" cy="1944159"/>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535366" y="2465706"/>
            <a:ext cx="3288089"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zh-CN" altLang="en-US"/>
              <a:t>单击此处编辑母版文本样式</a:t>
            </a:r>
          </a:p>
        </p:txBody>
      </p:sp>
      <p:sp>
        <p:nvSpPr>
          <p:cNvPr id="4" name="Content Placeholder 3"/>
          <p:cNvSpPr>
            <a:spLocks noGrp="1"/>
          </p:cNvSpPr>
          <p:nvPr>
            <p:ph sz="half" idx="2"/>
          </p:nvPr>
        </p:nvSpPr>
        <p:spPr>
          <a:xfrm>
            <a:off x="535366" y="3674110"/>
            <a:ext cx="3288089" cy="54040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3934778" y="2465706"/>
            <a:ext cx="3304282"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zh-CN" altLang="en-US"/>
              <a:t>单击此处编辑母版文本样式</a:t>
            </a:r>
          </a:p>
        </p:txBody>
      </p:sp>
      <p:sp>
        <p:nvSpPr>
          <p:cNvPr id="6" name="Content Placeholder 5"/>
          <p:cNvSpPr>
            <a:spLocks noGrp="1"/>
          </p:cNvSpPr>
          <p:nvPr>
            <p:ph sz="quarter" idx="4"/>
          </p:nvPr>
        </p:nvSpPr>
        <p:spPr>
          <a:xfrm>
            <a:off x="3934778" y="3674110"/>
            <a:ext cx="3304282" cy="54040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46715FF-458B-4794-88AB-1A69C7883206}" type="datetimeFigureOut">
              <a:rPr lang="zh-CN" altLang="en-US" smtClean="0"/>
              <a:t>2026/1/12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99DE926-349C-4E43-8237-C00804C6C22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46715FF-458B-4794-88AB-1A69C7883206}" type="datetimeFigureOut">
              <a:rPr lang="zh-CN" altLang="en-US" smtClean="0"/>
              <a:t>2026/1/12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99DE926-349C-4E43-8237-C00804C6C22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6715FF-458B-4794-88AB-1A69C7883206}" type="datetimeFigureOut">
              <a:rPr lang="zh-CN" altLang="en-US" smtClean="0"/>
              <a:t>2026/1/12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99DE926-349C-4E43-8237-C00804C6C22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zh-CN" altLang="en-US"/>
              <a:t>单击此处编辑母版标题样式</a:t>
            </a:r>
            <a:endParaRPr lang="en-US" dirty="0"/>
          </a:p>
        </p:txBody>
      </p:sp>
      <p:sp>
        <p:nvSpPr>
          <p:cNvPr id="3" name="Content Placeholder 2"/>
          <p:cNvSpPr>
            <a:spLocks noGrp="1"/>
          </p:cNvSpPr>
          <p:nvPr>
            <p:ph idx="1"/>
          </p:nvPr>
        </p:nvSpPr>
        <p:spPr>
          <a:xfrm>
            <a:off x="3304282" y="1448226"/>
            <a:ext cx="3934778" cy="7147983"/>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46715FF-458B-4794-88AB-1A69C7883206}" type="datetimeFigureOut">
              <a:rPr lang="zh-CN" altLang="en-US" smtClean="0"/>
              <a:t>2026/1/12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99DE926-349C-4E43-8237-C00804C6C22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304282" y="1448226"/>
            <a:ext cx="3934778" cy="7147983"/>
          </a:xfrm>
        </p:spPr>
        <p:txBody>
          <a:bodyPr anchor="t"/>
          <a:lstStyle>
            <a:lvl1pPr marL="0" indent="0">
              <a:buNone/>
              <a:defRPr sz="2720"/>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zh-CN" altLang="en-US"/>
              <a:t>单击图标添加图片</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46715FF-458B-4794-88AB-1A69C7883206}" type="datetimeFigureOut">
              <a:rPr lang="zh-CN" altLang="en-US" smtClean="0"/>
              <a:t>2026/1/12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99DE926-349C-4E43-8237-C00804C6C22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6715FF-458B-4794-88AB-1A69C7883206}" type="datetimeFigureOut">
              <a:rPr lang="zh-CN" altLang="en-US" smtClean="0"/>
              <a:t>2026/1/12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99DE926-349C-4E43-8237-C00804C6C22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535517"/>
            <a:ext cx="1675924" cy="852402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34353" y="535517"/>
            <a:ext cx="4930616" cy="852402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6715FF-458B-4794-88AB-1A69C7883206}" type="datetimeFigureOut">
              <a:rPr lang="zh-CN" altLang="en-US" smtClean="0"/>
              <a:t>2026/1/12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99DE926-349C-4E43-8237-C00804C6C22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75000"/>
                  </a:schemeClr>
                </a:solidFill>
              </a:defRPr>
            </a:lvl1pPr>
          </a:lstStyle>
          <a:p>
            <a:fld id="{E46715FF-458B-4794-88AB-1A69C7883206}" type="datetimeFigureOut">
              <a:rPr lang="zh-CN" altLang="en-US" smtClean="0"/>
              <a:t>2026/1/12</a:t>
            </a:fld>
            <a:endParaRPr lang="zh-CN" altLang="en-US"/>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75000"/>
                  </a:schemeClr>
                </a:solidFill>
              </a:defRPr>
            </a:lvl1pPr>
          </a:lstStyle>
          <a:p>
            <a:fld id="{599DE926-349C-4E43-8237-C00804C6C22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sv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sv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svg"/><Relationship Id="rId15" Type="http://schemas.openxmlformats.org/officeDocument/2006/relationships/image" Target="../media/image13.svg"/><Relationship Id="rId10" Type="http://schemas.openxmlformats.org/officeDocument/2006/relationships/image" Target="../media/image8.sv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18" Type="http://schemas.openxmlformats.org/officeDocument/2006/relationships/image" Target="../media/image25.png"/><Relationship Id="rId3" Type="http://schemas.openxmlformats.org/officeDocument/2006/relationships/image" Target="../media/image1.png"/><Relationship Id="rId21" Type="http://schemas.openxmlformats.org/officeDocument/2006/relationships/image" Target="../media/image28.svg"/><Relationship Id="rId7" Type="http://schemas.openxmlformats.org/officeDocument/2006/relationships/image" Target="../media/image9.png"/><Relationship Id="rId12" Type="http://schemas.openxmlformats.org/officeDocument/2006/relationships/image" Target="../media/image21.png"/><Relationship Id="rId17" Type="http://schemas.openxmlformats.org/officeDocument/2006/relationships/image" Target="../media/image24.svg"/><Relationship Id="rId2" Type="http://schemas.openxmlformats.org/officeDocument/2006/relationships/notesSlide" Target="../notesSlides/notesSlide2.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15.svg"/><Relationship Id="rId11" Type="http://schemas.openxmlformats.org/officeDocument/2006/relationships/image" Target="../media/image20.svg"/><Relationship Id="rId5" Type="http://schemas.openxmlformats.org/officeDocument/2006/relationships/image" Target="../media/image14.png"/><Relationship Id="rId15" Type="http://schemas.openxmlformats.org/officeDocument/2006/relationships/image" Target="../media/image6.svg"/><Relationship Id="rId23" Type="http://schemas.openxmlformats.org/officeDocument/2006/relationships/image" Target="../media/image3.svg"/><Relationship Id="rId10" Type="http://schemas.openxmlformats.org/officeDocument/2006/relationships/image" Target="../media/image19.png"/><Relationship Id="rId19" Type="http://schemas.openxmlformats.org/officeDocument/2006/relationships/image" Target="../media/image26.svg"/><Relationship Id="rId4" Type="http://schemas.openxmlformats.org/officeDocument/2006/relationships/image" Target="../media/image16.png"/><Relationship Id="rId9" Type="http://schemas.openxmlformats.org/officeDocument/2006/relationships/image" Target="../media/image18.svg"/><Relationship Id="rId14" Type="http://schemas.openxmlformats.org/officeDocument/2006/relationships/image" Target="../media/image5.png"/><Relationship Id="rId22"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png"/><Relationship Id="rId7" Type="http://schemas.openxmlformats.org/officeDocument/2006/relationships/image" Target="../media/image23.png"/><Relationship Id="rId12" Type="http://schemas.openxmlformats.org/officeDocument/2006/relationships/image" Target="../media/image32.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svg"/><Relationship Id="rId11" Type="http://schemas.openxmlformats.org/officeDocument/2006/relationships/image" Target="../media/image31.png"/><Relationship Id="rId5" Type="http://schemas.openxmlformats.org/officeDocument/2006/relationships/image" Target="../media/image14.png"/><Relationship Id="rId10" Type="http://schemas.openxmlformats.org/officeDocument/2006/relationships/image" Target="../media/image30.jpeg"/><Relationship Id="rId4" Type="http://schemas.openxmlformats.org/officeDocument/2006/relationships/image" Target="../media/image9.png"/><Relationship Id="rId9" Type="http://schemas.openxmlformats.org/officeDocument/2006/relationships/image" Target="../media/image29.jpeg"/></Relationships>
</file>

<file path=ppt/slides/_rels/slide4.xml.rels><?xml version="1.0" encoding="UTF-8" standalone="yes"?>
<Relationships xmlns="http://schemas.openxmlformats.org/package/2006/relationships"><Relationship Id="rId8" Type="http://schemas.openxmlformats.org/officeDocument/2006/relationships/chart" Target="../charts/chart4.xml"/><Relationship Id="rId3" Type="http://schemas.openxmlformats.org/officeDocument/2006/relationships/image" Target="../media/image1.png"/><Relationship Id="rId7"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16.png"/><Relationship Id="rId9" Type="http://schemas.openxmlformats.org/officeDocument/2006/relationships/chart" Target="../charts/char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 name="矩形 508"/>
          <p:cNvSpPr/>
          <p:nvPr/>
        </p:nvSpPr>
        <p:spPr>
          <a:xfrm>
            <a:off x="106200" y="-534472"/>
            <a:ext cx="7560000" cy="52564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48" name="图片 547"/>
          <p:cNvPicPr>
            <a:picLocks noChangeAspect="1"/>
          </p:cNvPicPr>
          <p:nvPr/>
        </p:nvPicPr>
        <p:blipFill>
          <a:blip r:embed="rId3"/>
          <a:stretch>
            <a:fillRect/>
          </a:stretch>
        </p:blipFill>
        <p:spPr>
          <a:xfrm>
            <a:off x="0" y="-3151675"/>
            <a:ext cx="7772400" cy="3123221"/>
          </a:xfrm>
          <a:prstGeom prst="rect">
            <a:avLst/>
          </a:prstGeom>
        </p:spPr>
      </p:pic>
      <p:sp>
        <p:nvSpPr>
          <p:cNvPr id="804" name="文本框 803"/>
          <p:cNvSpPr txBox="1"/>
          <p:nvPr/>
        </p:nvSpPr>
        <p:spPr>
          <a:xfrm>
            <a:off x="743537" y="3733823"/>
            <a:ext cx="6120000" cy="1477328"/>
          </a:xfrm>
          <a:prstGeom prst="rect">
            <a:avLst/>
          </a:prstGeom>
          <a:noFill/>
        </p:spPr>
        <p:txBody>
          <a:bodyPr wrap="square" rtlCol="0">
            <a:spAutoFit/>
          </a:bodyPr>
          <a:lstStyle/>
          <a:p>
            <a:r>
              <a:rPr lang="zh-CN" altLang="en-US" dirty="0"/>
              <a:t>图</a:t>
            </a:r>
            <a:r>
              <a:rPr lang="en-US" altLang="zh-CN" dirty="0"/>
              <a:t>1</a:t>
            </a:r>
            <a:r>
              <a:rPr lang="zh-CN" altLang="en-US" dirty="0"/>
              <a:t>：生成式搜索引擎工作</a:t>
            </a:r>
            <a:r>
              <a:rPr lang="en-US" altLang="zh-CN" dirty="0"/>
              <a:t>Overview</a:t>
            </a:r>
            <a:r>
              <a:rPr lang="zh-CN" altLang="en-US" dirty="0"/>
              <a:t>。系统接收用户</a:t>
            </a:r>
            <a:r>
              <a:rPr lang="en-US" altLang="zh-CN" dirty="0"/>
              <a:t>query</a:t>
            </a:r>
            <a:r>
              <a:rPr lang="zh-CN" altLang="en-US" dirty="0"/>
              <a:t>后，首先进行相关文档检索，并将结果输入</a:t>
            </a:r>
            <a:r>
              <a:rPr lang="en-US" altLang="zh-CN" dirty="0"/>
              <a:t>LLM</a:t>
            </a:r>
            <a:r>
              <a:rPr lang="zh-CN" altLang="en-US" dirty="0"/>
              <a:t>，生成包含引用的综合</a:t>
            </a:r>
            <a:r>
              <a:rPr lang="en-US" altLang="zh-CN" dirty="0"/>
              <a:t>response</a:t>
            </a:r>
            <a:r>
              <a:rPr lang="zh-CN" altLang="en-US" dirty="0"/>
              <a:t>。经过优化的内容可能会影响其在最终响应中的可见性。需要指出的是，在本文设定的黑盒场景中，用户查询对于内容创作者是不可见的。</a:t>
            </a:r>
            <a:endParaRPr lang="en-US" altLang="zh-CN" dirty="0"/>
          </a:p>
        </p:txBody>
      </p:sp>
      <p:grpSp>
        <p:nvGrpSpPr>
          <p:cNvPr id="32" name="组合 31"/>
          <p:cNvGrpSpPr/>
          <p:nvPr/>
        </p:nvGrpSpPr>
        <p:grpSpPr>
          <a:xfrm>
            <a:off x="741034" y="187553"/>
            <a:ext cx="6210000" cy="3420000"/>
            <a:chOff x="741034" y="187553"/>
            <a:chExt cx="6210000" cy="3420000"/>
          </a:xfrm>
        </p:grpSpPr>
        <p:grpSp>
          <p:nvGrpSpPr>
            <p:cNvPr id="629" name="组合 628"/>
            <p:cNvGrpSpPr/>
            <p:nvPr/>
          </p:nvGrpSpPr>
          <p:grpSpPr>
            <a:xfrm>
              <a:off x="1191034" y="427717"/>
              <a:ext cx="360000" cy="2520000"/>
              <a:chOff x="1191034" y="288380"/>
              <a:chExt cx="360000" cy="2520000"/>
            </a:xfrm>
          </p:grpSpPr>
          <p:sp>
            <p:nvSpPr>
              <p:cNvPr id="86" name="文本框 85"/>
              <p:cNvSpPr txBox="1"/>
              <p:nvPr/>
            </p:nvSpPr>
            <p:spPr>
              <a:xfrm>
                <a:off x="1191034" y="288380"/>
                <a:ext cx="36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create</a:t>
                </a:r>
                <a:endParaRPr lang="zh-CN" altLang="en-US" sz="900" dirty="0">
                  <a:latin typeface="Times New Roman" panose="02020603050405020304" pitchFamily="18" charset="0"/>
                  <a:cs typeface="Times New Roman" panose="02020603050405020304" pitchFamily="18" charset="0"/>
                </a:endParaRPr>
              </a:p>
            </p:txBody>
          </p:sp>
          <p:sp>
            <p:nvSpPr>
              <p:cNvPr id="126" name="文本框 125"/>
              <p:cNvSpPr txBox="1"/>
              <p:nvPr/>
            </p:nvSpPr>
            <p:spPr>
              <a:xfrm>
                <a:off x="1191034" y="1368380"/>
                <a:ext cx="36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create</a:t>
                </a:r>
                <a:endParaRPr lang="zh-CN" altLang="en-US" sz="900" dirty="0">
                  <a:latin typeface="Times New Roman" panose="02020603050405020304" pitchFamily="18" charset="0"/>
                  <a:cs typeface="Times New Roman" panose="02020603050405020304" pitchFamily="18" charset="0"/>
                </a:endParaRPr>
              </a:p>
            </p:txBody>
          </p:sp>
          <p:sp>
            <p:nvSpPr>
              <p:cNvPr id="132" name="文本框 131"/>
              <p:cNvSpPr txBox="1"/>
              <p:nvPr/>
            </p:nvSpPr>
            <p:spPr>
              <a:xfrm>
                <a:off x="1191034" y="828380"/>
                <a:ext cx="36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create</a:t>
                </a:r>
                <a:endParaRPr lang="zh-CN" altLang="en-US" sz="900" dirty="0">
                  <a:latin typeface="Times New Roman" panose="02020603050405020304" pitchFamily="18" charset="0"/>
                  <a:cs typeface="Times New Roman" panose="02020603050405020304" pitchFamily="18" charset="0"/>
                </a:endParaRPr>
              </a:p>
            </p:txBody>
          </p:sp>
          <p:sp>
            <p:nvSpPr>
              <p:cNvPr id="138" name="文本框 137"/>
              <p:cNvSpPr txBox="1"/>
              <p:nvPr/>
            </p:nvSpPr>
            <p:spPr>
              <a:xfrm>
                <a:off x="1191034" y="1908380"/>
                <a:ext cx="36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create</a:t>
                </a:r>
                <a:endParaRPr lang="zh-CN" altLang="en-US" sz="900" dirty="0">
                  <a:latin typeface="Times New Roman" panose="02020603050405020304" pitchFamily="18" charset="0"/>
                  <a:cs typeface="Times New Roman" panose="02020603050405020304" pitchFamily="18" charset="0"/>
                </a:endParaRPr>
              </a:p>
            </p:txBody>
          </p:sp>
          <p:sp>
            <p:nvSpPr>
              <p:cNvPr id="144" name="文本框 143"/>
              <p:cNvSpPr txBox="1"/>
              <p:nvPr/>
            </p:nvSpPr>
            <p:spPr>
              <a:xfrm>
                <a:off x="1191034" y="2628380"/>
                <a:ext cx="36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create</a:t>
                </a:r>
                <a:endParaRPr lang="zh-CN" altLang="en-US" sz="900" dirty="0">
                  <a:latin typeface="Times New Roman" panose="02020603050405020304" pitchFamily="18" charset="0"/>
                  <a:cs typeface="Times New Roman" panose="02020603050405020304" pitchFamily="18" charset="0"/>
                </a:endParaRPr>
              </a:p>
            </p:txBody>
          </p:sp>
        </p:grpSp>
        <p:sp>
          <p:nvSpPr>
            <p:cNvPr id="564" name="矩形 563"/>
            <p:cNvSpPr/>
            <p:nvPr/>
          </p:nvSpPr>
          <p:spPr>
            <a:xfrm>
              <a:off x="1551034" y="337717"/>
              <a:ext cx="540000" cy="3060000"/>
            </a:xfrm>
            <a:prstGeom prst="rect">
              <a:avLst/>
            </a:prstGeom>
            <a:solidFill>
              <a:schemeClr val="accent1">
                <a:lumMod val="20000"/>
                <a:lumOff val="8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0" name="矩形 549"/>
            <p:cNvSpPr/>
            <p:nvPr/>
          </p:nvSpPr>
          <p:spPr>
            <a:xfrm>
              <a:off x="2631034" y="337717"/>
              <a:ext cx="720000" cy="3060000"/>
            </a:xfrm>
            <a:prstGeom prst="rect">
              <a:avLst/>
            </a:prstGeom>
            <a:solidFill>
              <a:schemeClr val="accent6">
                <a:lumMod val="20000"/>
                <a:lumOff val="8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3" name="矩形 362"/>
            <p:cNvSpPr/>
            <p:nvPr/>
          </p:nvSpPr>
          <p:spPr>
            <a:xfrm>
              <a:off x="830273" y="332488"/>
              <a:ext cx="360000" cy="2880000"/>
            </a:xfrm>
            <a:prstGeom prst="rect">
              <a:avLst/>
            </a:prstGeom>
            <a:solidFill>
              <a:schemeClr val="bg1"/>
            </a:solidFill>
            <a:ln w="6350">
              <a:solidFill>
                <a:schemeClr val="tx1"/>
              </a:solidFill>
              <a:prstDash val="dash"/>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640"/>
            </a:p>
          </p:txBody>
        </p:sp>
        <p:sp>
          <p:nvSpPr>
            <p:cNvPr id="491" name="文本框 490"/>
            <p:cNvSpPr txBox="1"/>
            <p:nvPr/>
          </p:nvSpPr>
          <p:spPr>
            <a:xfrm>
              <a:off x="741034" y="3212488"/>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Creators</a:t>
              </a:r>
              <a:endParaRPr lang="zh-CN" altLang="en-US" sz="900" dirty="0">
                <a:latin typeface="Times New Roman" panose="02020603050405020304" pitchFamily="18" charset="0"/>
                <a:cs typeface="Times New Roman" panose="02020603050405020304" pitchFamily="18" charset="0"/>
              </a:endParaRPr>
            </a:p>
          </p:txBody>
        </p:sp>
        <p:grpSp>
          <p:nvGrpSpPr>
            <p:cNvPr id="663" name="组合 662"/>
            <p:cNvGrpSpPr/>
            <p:nvPr/>
          </p:nvGrpSpPr>
          <p:grpSpPr>
            <a:xfrm>
              <a:off x="830273" y="427717"/>
              <a:ext cx="360761" cy="2700000"/>
              <a:chOff x="830273" y="288380"/>
              <a:chExt cx="360761" cy="2700000"/>
            </a:xfrm>
          </p:grpSpPr>
          <p:pic>
            <p:nvPicPr>
              <p:cNvPr id="83" name="图形 82" descr="用户 纯色填充"/>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0273" y="288380"/>
                <a:ext cx="360000" cy="360000"/>
              </a:xfrm>
              <a:prstGeom prst="rect">
                <a:avLst/>
              </a:prstGeom>
            </p:spPr>
          </p:pic>
          <p:pic>
            <p:nvPicPr>
              <p:cNvPr id="123" name="图形 122" descr="用户 纯色填充"/>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0273" y="828380"/>
                <a:ext cx="360000" cy="360000"/>
              </a:xfrm>
              <a:prstGeom prst="rect">
                <a:avLst/>
              </a:prstGeom>
            </p:spPr>
          </p:pic>
          <p:pic>
            <p:nvPicPr>
              <p:cNvPr id="129" name="图形 128" descr="用户 纯色填充"/>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0273" y="1368380"/>
                <a:ext cx="360000" cy="360000"/>
              </a:xfrm>
              <a:prstGeom prst="rect">
                <a:avLst/>
              </a:prstGeom>
            </p:spPr>
          </p:pic>
          <p:pic>
            <p:nvPicPr>
              <p:cNvPr id="135" name="图形 134" descr="用户 纯色填充"/>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0273" y="1908380"/>
                <a:ext cx="360000" cy="360000"/>
              </a:xfrm>
              <a:prstGeom prst="rect">
                <a:avLst/>
              </a:prstGeom>
            </p:spPr>
          </p:pic>
          <p:pic>
            <p:nvPicPr>
              <p:cNvPr id="141" name="图形 140" descr="用户 纯色填充"/>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0273" y="2628380"/>
                <a:ext cx="360000" cy="360000"/>
              </a:xfrm>
              <a:prstGeom prst="rect">
                <a:avLst/>
              </a:prstGeom>
            </p:spPr>
          </p:pic>
          <p:sp>
            <p:nvSpPr>
              <p:cNvPr id="556" name="文本框 555"/>
              <p:cNvSpPr txBox="1"/>
              <p:nvPr/>
            </p:nvSpPr>
            <p:spPr>
              <a:xfrm>
                <a:off x="831034" y="2448380"/>
                <a:ext cx="36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a:t>
                </a:r>
                <a:endParaRPr lang="zh-CN" altLang="en-US" sz="900" dirty="0">
                  <a:latin typeface="Times New Roman" panose="02020603050405020304" pitchFamily="18" charset="0"/>
                  <a:cs typeface="Times New Roman" panose="02020603050405020304" pitchFamily="18" charset="0"/>
                </a:endParaRPr>
              </a:p>
            </p:txBody>
          </p:sp>
        </p:grpSp>
        <p:pic>
          <p:nvPicPr>
            <p:cNvPr id="14" name="图形 13" descr="用户 纯色填充"/>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6591034" y="1940158"/>
              <a:ext cx="360000" cy="360000"/>
            </a:xfrm>
            <a:prstGeom prst="rect">
              <a:avLst/>
            </a:prstGeom>
          </p:spPr>
        </p:pic>
        <p:sp>
          <p:nvSpPr>
            <p:cNvPr id="490" name="文本框 489"/>
            <p:cNvSpPr txBox="1"/>
            <p:nvPr/>
          </p:nvSpPr>
          <p:spPr>
            <a:xfrm>
              <a:off x="6591034" y="2300158"/>
              <a:ext cx="36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User</a:t>
              </a:r>
              <a:endParaRPr lang="zh-CN" altLang="en-US" sz="900" dirty="0">
                <a:latin typeface="Times New Roman" panose="02020603050405020304" pitchFamily="18" charset="0"/>
                <a:cs typeface="Times New Roman" panose="02020603050405020304" pitchFamily="18" charset="0"/>
              </a:endParaRPr>
            </a:p>
          </p:txBody>
        </p:sp>
        <p:cxnSp>
          <p:nvCxnSpPr>
            <p:cNvPr id="595" name="连接符: 肘形 594"/>
            <p:cNvCxnSpPr>
              <a:stCxn id="363" idx="0"/>
            </p:cNvCxnSpPr>
            <p:nvPr/>
          </p:nvCxnSpPr>
          <p:spPr>
            <a:xfrm rot="5400000" flipH="1" flipV="1">
              <a:off x="3261641" y="-2057363"/>
              <a:ext cx="144000" cy="4646736"/>
            </a:xfrm>
            <a:prstGeom prst="bentConnector2">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3" name="矩形 602"/>
            <p:cNvSpPr/>
            <p:nvPr/>
          </p:nvSpPr>
          <p:spPr>
            <a:xfrm>
              <a:off x="3498372" y="547553"/>
              <a:ext cx="3092662" cy="3060000"/>
            </a:xfrm>
            <a:prstGeom prst="rect">
              <a:avLst/>
            </a:prstGeom>
            <a:noFill/>
            <a:ln>
              <a:solidFill>
                <a:schemeClr val="accent1">
                  <a:shade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5" name="文本框 604"/>
            <p:cNvSpPr txBox="1"/>
            <p:nvPr/>
          </p:nvSpPr>
          <p:spPr>
            <a:xfrm>
              <a:off x="4398662" y="3427553"/>
              <a:ext cx="126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Generative Search Engine</a:t>
              </a:r>
              <a:endParaRPr lang="zh-CN" altLang="en-US" sz="900" dirty="0">
                <a:latin typeface="Times New Roman" panose="02020603050405020304" pitchFamily="18" charset="0"/>
                <a:cs typeface="Times New Roman" panose="02020603050405020304" pitchFamily="18" charset="0"/>
              </a:endParaRPr>
            </a:p>
          </p:txBody>
        </p:sp>
        <p:sp>
          <p:nvSpPr>
            <p:cNvPr id="16" name="矩形 15"/>
            <p:cNvSpPr/>
            <p:nvPr/>
          </p:nvSpPr>
          <p:spPr>
            <a:xfrm>
              <a:off x="4758823" y="636595"/>
              <a:ext cx="1800000" cy="2700000"/>
            </a:xfrm>
            <a:prstGeom prst="rect">
              <a:avLst/>
            </a:prstGeom>
            <a:solidFill>
              <a:schemeClr val="bg1">
                <a:lumMod val="95000"/>
              </a:schemeClr>
            </a:solidFill>
            <a:ln w="12700"/>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640"/>
            </a:p>
          </p:txBody>
        </p:sp>
        <p:sp>
          <p:nvSpPr>
            <p:cNvPr id="17" name="矩形: 圆角 16"/>
            <p:cNvSpPr/>
            <p:nvPr/>
          </p:nvSpPr>
          <p:spPr>
            <a:xfrm>
              <a:off x="4848823" y="996595"/>
              <a:ext cx="1620000" cy="1080000"/>
            </a:xfrm>
            <a:prstGeom prst="roundRect">
              <a:avLst>
                <a:gd name="adj" fmla="val 7962"/>
              </a:avLst>
            </a:prstGeom>
            <a:solidFill>
              <a:schemeClr val="accent1">
                <a:lumMod val="20000"/>
                <a:lumOff val="8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640"/>
            </a:p>
          </p:txBody>
        </p:sp>
        <p:grpSp>
          <p:nvGrpSpPr>
            <p:cNvPr id="570" name="组合 569"/>
            <p:cNvGrpSpPr/>
            <p:nvPr/>
          </p:nvGrpSpPr>
          <p:grpSpPr>
            <a:xfrm>
              <a:off x="3499862" y="636808"/>
              <a:ext cx="792645" cy="540000"/>
              <a:chOff x="3595850" y="940584"/>
              <a:chExt cx="792645" cy="540000"/>
            </a:xfrm>
          </p:grpSpPr>
          <p:pic>
            <p:nvPicPr>
              <p:cNvPr id="349" name="图形 348" descr="放大镜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028495" y="940584"/>
                <a:ext cx="360000" cy="360000"/>
              </a:xfrm>
              <a:prstGeom prst="rect">
                <a:avLst/>
              </a:prstGeom>
              <a:effectLst/>
            </p:spPr>
          </p:pic>
          <p:pic>
            <p:nvPicPr>
              <p:cNvPr id="350" name="图形 349" descr="Internet 纯色填充"/>
              <p:cNvPicPr>
                <a:picLocks noChangeAspect="1"/>
              </p:cNvPicPr>
              <p:nvPr/>
            </p:nvPicPr>
            <p:blipFill rotWithShape="1">
              <a:blip r:embed="rId9">
                <a:extLst>
                  <a:ext uri="{96DAC541-7B7A-43D3-8B79-37D633B846F1}">
                    <asvg:svgBlip xmlns:asvg="http://schemas.microsoft.com/office/drawing/2016/SVG/main" r:embed="rId10"/>
                  </a:ext>
                </a:extLst>
              </a:blip>
              <a:srcRect l="33026" t="27518" r="33194" b="38703"/>
              <a:stretch>
                <a:fillRect/>
              </a:stretch>
            </p:blipFill>
            <p:spPr>
              <a:xfrm>
                <a:off x="3595850" y="940584"/>
                <a:ext cx="540000" cy="540000"/>
              </a:xfrm>
              <a:prstGeom prst="rect">
                <a:avLst/>
              </a:prstGeom>
            </p:spPr>
          </p:pic>
        </p:grpSp>
        <p:sp>
          <p:nvSpPr>
            <p:cNvPr id="351" name="文本框 350"/>
            <p:cNvSpPr txBox="1"/>
            <p:nvPr/>
          </p:nvSpPr>
          <p:spPr>
            <a:xfrm>
              <a:off x="3534823" y="1176808"/>
              <a:ext cx="72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Search System</a:t>
              </a:r>
              <a:endParaRPr lang="zh-CN" altLang="en-US" sz="900" dirty="0">
                <a:latin typeface="Times New Roman" panose="02020603050405020304" pitchFamily="18" charset="0"/>
                <a:cs typeface="Times New Roman" panose="02020603050405020304" pitchFamily="18" charset="0"/>
              </a:endParaRPr>
            </a:p>
          </p:txBody>
        </p:sp>
        <p:cxnSp>
          <p:nvCxnSpPr>
            <p:cNvPr id="612" name="连接符: 肘形 611"/>
            <p:cNvCxnSpPr>
              <a:stCxn id="14" idx="0"/>
              <a:endCxn id="8" idx="3"/>
            </p:cNvCxnSpPr>
            <p:nvPr/>
          </p:nvCxnSpPr>
          <p:spPr>
            <a:xfrm rot="16200000" flipV="1">
              <a:off x="6058148" y="1227271"/>
              <a:ext cx="1123563" cy="302211"/>
            </a:xfrm>
            <a:prstGeom prst="bentConnector2">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59" name="直接箭头连接符 558"/>
            <p:cNvCxnSpPr>
              <a:endCxn id="8" idx="0"/>
            </p:cNvCxnSpPr>
            <p:nvPr/>
          </p:nvCxnSpPr>
          <p:spPr>
            <a:xfrm>
              <a:off x="5658823" y="459443"/>
              <a:ext cx="0" cy="267152"/>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576" name="组合 575"/>
            <p:cNvGrpSpPr/>
            <p:nvPr/>
          </p:nvGrpSpPr>
          <p:grpSpPr>
            <a:xfrm>
              <a:off x="4848823" y="726595"/>
              <a:ext cx="1620000" cy="180000"/>
              <a:chOff x="4758904" y="648380"/>
              <a:chExt cx="1620000" cy="180000"/>
            </a:xfrm>
          </p:grpSpPr>
          <p:sp>
            <p:nvSpPr>
              <p:cNvPr id="8" name="矩形: 圆角 7"/>
              <p:cNvSpPr/>
              <p:nvPr/>
            </p:nvSpPr>
            <p:spPr>
              <a:xfrm>
                <a:off x="4758904" y="648380"/>
                <a:ext cx="1620000" cy="180000"/>
              </a:xfrm>
              <a:prstGeom prst="roundRect">
                <a:avLst/>
              </a:prstGeom>
              <a:solidFill>
                <a:schemeClr val="accent4">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640" dirty="0"/>
              </a:p>
            </p:txBody>
          </p:sp>
          <p:pic>
            <p:nvPicPr>
              <p:cNvPr id="5" name="图形 4" descr="放大镜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58904" y="648380"/>
                <a:ext cx="180000" cy="180000"/>
              </a:xfrm>
              <a:prstGeom prst="rect">
                <a:avLst/>
              </a:prstGeom>
            </p:spPr>
          </p:pic>
          <p:sp>
            <p:nvSpPr>
              <p:cNvPr id="401" name="文本框 400"/>
              <p:cNvSpPr txBox="1"/>
              <p:nvPr/>
            </p:nvSpPr>
            <p:spPr>
              <a:xfrm>
                <a:off x="4938904" y="648380"/>
                <a:ext cx="1440000" cy="180000"/>
              </a:xfrm>
              <a:prstGeom prst="rect">
                <a:avLst/>
              </a:prstGeom>
              <a:noFill/>
            </p:spPr>
            <p:txBody>
              <a:bodyPr wrap="none" rtlCol="0" anchor="ctr">
                <a:spAutoFit/>
              </a:bodyPr>
              <a:lstStyle/>
              <a:p>
                <a:r>
                  <a:rPr lang="en-US" altLang="zh-CN" sz="900" i="1" dirty="0">
                    <a:latin typeface="Times New Roman" panose="02020603050405020304" pitchFamily="18" charset="0"/>
                    <a:cs typeface="Times New Roman" panose="02020603050405020304" pitchFamily="18" charset="0"/>
                  </a:rPr>
                  <a:t>{Here is the user’s query}</a:t>
                </a:r>
                <a:endParaRPr lang="zh-CN" altLang="en-US" sz="900" i="1" dirty="0">
                  <a:latin typeface="Times New Roman" panose="02020603050405020304" pitchFamily="18" charset="0"/>
                  <a:cs typeface="Times New Roman" panose="02020603050405020304" pitchFamily="18" charset="0"/>
                </a:endParaRPr>
              </a:p>
            </p:txBody>
          </p:sp>
        </p:grpSp>
        <p:grpSp>
          <p:nvGrpSpPr>
            <p:cNvPr id="773" name="组合 772"/>
            <p:cNvGrpSpPr/>
            <p:nvPr/>
          </p:nvGrpSpPr>
          <p:grpSpPr>
            <a:xfrm>
              <a:off x="3570823" y="1851595"/>
              <a:ext cx="648000" cy="720000"/>
              <a:chOff x="3570823" y="1712258"/>
              <a:chExt cx="648000" cy="720000"/>
            </a:xfrm>
          </p:grpSpPr>
          <p:sp>
            <p:nvSpPr>
              <p:cNvPr id="334" name="文本框 333"/>
              <p:cNvSpPr txBox="1"/>
              <p:nvPr/>
            </p:nvSpPr>
            <p:spPr>
              <a:xfrm>
                <a:off x="3714823" y="2252258"/>
                <a:ext cx="36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LLM</a:t>
                </a:r>
                <a:endParaRPr lang="zh-CN" altLang="en-US" sz="900" dirty="0">
                  <a:latin typeface="Times New Roman" panose="02020603050405020304" pitchFamily="18" charset="0"/>
                  <a:cs typeface="Times New Roman" panose="02020603050405020304" pitchFamily="18" charset="0"/>
                </a:endParaRPr>
              </a:p>
            </p:txBody>
          </p:sp>
          <p:pic>
            <p:nvPicPr>
              <p:cNvPr id="333" name="图片 332"/>
              <p:cNvPicPr preferRelativeResize="0"/>
              <p:nvPr/>
            </p:nvPicPr>
            <p:blipFill>
              <a:blip r:embed="rId11">
                <a:clrChange>
                  <a:clrFrom>
                    <a:srgbClr val="FFFFFF"/>
                  </a:clrFrom>
                  <a:clrTo>
                    <a:srgbClr val="FFFFFF">
                      <a:alpha val="0"/>
                    </a:srgbClr>
                  </a:clrTo>
                </a:clrChange>
              </a:blip>
              <a:srcRect l="17429" t="13778" r="17936" b="16952"/>
              <a:stretch>
                <a:fillRect/>
              </a:stretch>
            </p:blipFill>
            <p:spPr>
              <a:xfrm>
                <a:off x="3570823" y="1712258"/>
                <a:ext cx="648000" cy="540000"/>
              </a:xfrm>
              <a:prstGeom prst="rect">
                <a:avLst/>
              </a:prstGeom>
            </p:spPr>
          </p:pic>
        </p:grpSp>
        <p:sp>
          <p:nvSpPr>
            <p:cNvPr id="572" name="文本框 571"/>
            <p:cNvSpPr txBox="1"/>
            <p:nvPr/>
          </p:nvSpPr>
          <p:spPr>
            <a:xfrm>
              <a:off x="4218823" y="2031595"/>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integrate</a:t>
              </a:r>
              <a:endParaRPr lang="zh-CN" altLang="en-US" sz="900" dirty="0">
                <a:latin typeface="Times New Roman" panose="02020603050405020304" pitchFamily="18" charset="0"/>
                <a:cs typeface="Times New Roman" panose="02020603050405020304" pitchFamily="18" charset="0"/>
              </a:endParaRPr>
            </a:p>
          </p:txBody>
        </p:sp>
        <p:sp>
          <p:nvSpPr>
            <p:cNvPr id="573" name="文本框 572"/>
            <p:cNvSpPr txBox="1"/>
            <p:nvPr/>
          </p:nvSpPr>
          <p:spPr>
            <a:xfrm>
              <a:off x="4401415" y="635637"/>
              <a:ext cx="36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search</a:t>
              </a:r>
              <a:endParaRPr lang="zh-CN" altLang="en-US" sz="900" dirty="0">
                <a:latin typeface="Times New Roman" panose="02020603050405020304" pitchFamily="18" charset="0"/>
                <a:cs typeface="Times New Roman" panose="02020603050405020304" pitchFamily="18" charset="0"/>
              </a:endParaRPr>
            </a:p>
          </p:txBody>
        </p:sp>
        <p:sp>
          <p:nvSpPr>
            <p:cNvPr id="577" name="矩形: 圆角 576"/>
            <p:cNvSpPr/>
            <p:nvPr/>
          </p:nvSpPr>
          <p:spPr>
            <a:xfrm>
              <a:off x="4848823" y="2166595"/>
              <a:ext cx="1620000" cy="1080000"/>
            </a:xfrm>
            <a:prstGeom prst="roundRect">
              <a:avLst>
                <a:gd name="adj" fmla="val 7962"/>
              </a:avLst>
            </a:prstGeom>
            <a:solidFill>
              <a:schemeClr val="accent6">
                <a:lumMod val="20000"/>
                <a:lumOff val="8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640"/>
            </a:p>
          </p:txBody>
        </p:sp>
        <p:pic>
          <p:nvPicPr>
            <p:cNvPr id="592" name="图形 591" descr="关闭 纯色填充"/>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297009" y="187553"/>
              <a:ext cx="360000" cy="360000"/>
            </a:xfrm>
            <a:prstGeom prst="rect">
              <a:avLst/>
            </a:prstGeom>
          </p:spPr>
        </p:pic>
        <p:sp>
          <p:nvSpPr>
            <p:cNvPr id="410" name="文本框 409"/>
            <p:cNvSpPr txBox="1"/>
            <p:nvPr/>
          </p:nvSpPr>
          <p:spPr>
            <a:xfrm>
              <a:off x="4848823" y="995637"/>
              <a:ext cx="1620000" cy="1080000"/>
            </a:xfrm>
            <a:prstGeom prst="rect">
              <a:avLst/>
            </a:prstGeom>
            <a:noFill/>
          </p:spPr>
          <p:txBody>
            <a:bodyPr wrap="square" rtlCol="0" anchor="ctr">
              <a:spAutoFit/>
            </a:bodyPr>
            <a:lstStyle/>
            <a:p>
              <a:pPr eaLnBrk="0" latinLnBrk="1">
                <a:lnSpc>
                  <a:spcPct val="90000"/>
                </a:lnSpc>
              </a:pPr>
              <a:r>
                <a:rPr lang="en-US" altLang="zh-CN" sz="900" i="1" dirty="0">
                  <a:latin typeface="Times New Roman" panose="02020603050405020304" pitchFamily="18" charset="0"/>
                  <a:cs typeface="Times New Roman" panose="02020603050405020304" pitchFamily="18" charset="0"/>
                </a:rPr>
                <a:t>{Fragment_1 of the query response from Content 1.}</a:t>
              </a:r>
              <a:r>
                <a:rPr lang="en-US" altLang="zh-CN" sz="900" b="1" dirty="0">
                  <a:latin typeface="Times New Roman" panose="02020603050405020304" pitchFamily="18" charset="0"/>
                  <a:cs typeface="Times New Roman" panose="02020603050405020304" pitchFamily="18" charset="0"/>
                </a:rPr>
                <a:t>[1] </a:t>
              </a:r>
              <a:r>
                <a:rPr lang="en-US" altLang="zh-CN" sz="900" i="1" dirty="0">
                  <a:latin typeface="Times New Roman" panose="02020603050405020304" pitchFamily="18" charset="0"/>
                  <a:cs typeface="Times New Roman" panose="02020603050405020304" pitchFamily="18" charset="0"/>
                </a:rPr>
                <a:t>{Fragment_2 of the query response from Content 1.}</a:t>
              </a:r>
              <a:r>
                <a:rPr lang="en-US" altLang="zh-CN" sz="900" b="1" dirty="0">
                  <a:latin typeface="Times New Roman" panose="02020603050405020304" pitchFamily="18" charset="0"/>
                  <a:cs typeface="Times New Roman" panose="02020603050405020304" pitchFamily="18" charset="0"/>
                </a:rPr>
                <a:t>[1] </a:t>
              </a:r>
              <a:r>
                <a:rPr lang="en-US" altLang="zh-CN" sz="900" i="1" dirty="0">
                  <a:latin typeface="Times New Roman" panose="02020603050405020304" pitchFamily="18" charset="0"/>
                  <a:cs typeface="Times New Roman" panose="02020603050405020304" pitchFamily="18" charset="0"/>
                </a:rPr>
                <a:t>{Fragment_3 of the query response from Content 2.}</a:t>
              </a:r>
              <a:r>
                <a:rPr lang="en-US" altLang="zh-CN" sz="900" b="1" dirty="0">
                  <a:latin typeface="Times New Roman" panose="02020603050405020304" pitchFamily="18" charset="0"/>
                  <a:cs typeface="Times New Roman" panose="02020603050405020304" pitchFamily="18" charset="0"/>
                </a:rPr>
                <a:t>[2]</a:t>
              </a:r>
              <a:r>
                <a:rPr lang="en-US" altLang="zh-CN" sz="900" i="1" dirty="0">
                  <a:latin typeface="Times New Roman" panose="02020603050405020304" pitchFamily="18" charset="0"/>
                  <a:cs typeface="Times New Roman" panose="02020603050405020304" pitchFamily="18" charset="0"/>
                </a:rPr>
                <a:t>……{</a:t>
              </a:r>
              <a:r>
                <a:rPr lang="en-US" altLang="zh-CN" sz="900" i="1" dirty="0" err="1">
                  <a:latin typeface="Times New Roman" panose="02020603050405020304" pitchFamily="18" charset="0"/>
                  <a:cs typeface="Times New Roman" panose="02020603050405020304" pitchFamily="18" charset="0"/>
                </a:rPr>
                <a:t>Fragment_m</a:t>
              </a:r>
              <a:r>
                <a:rPr lang="en-US" altLang="zh-CN" sz="900" i="1" dirty="0">
                  <a:latin typeface="Times New Roman" panose="02020603050405020304" pitchFamily="18" charset="0"/>
                  <a:cs typeface="Times New Roman" panose="02020603050405020304" pitchFamily="18" charset="0"/>
                </a:rPr>
                <a:t> of the query response from Content 1 and Content 3.}</a:t>
              </a:r>
              <a:r>
                <a:rPr lang="en-US" altLang="zh-CN" sz="900" b="1" dirty="0">
                  <a:latin typeface="Times New Roman" panose="02020603050405020304" pitchFamily="18" charset="0"/>
                  <a:cs typeface="Times New Roman" panose="02020603050405020304" pitchFamily="18" charset="0"/>
                </a:rPr>
                <a:t>[1,</a:t>
              </a:r>
              <a:r>
                <a:rPr lang="zh-CN" altLang="en-US" sz="900" b="1" dirty="0">
                  <a:latin typeface="Times New Roman" panose="02020603050405020304" pitchFamily="18" charset="0"/>
                  <a:cs typeface="Times New Roman" panose="02020603050405020304" pitchFamily="18" charset="0"/>
                </a:rPr>
                <a:t> </a:t>
              </a:r>
              <a:r>
                <a:rPr lang="en-US" altLang="zh-CN" sz="900" b="1" dirty="0">
                  <a:latin typeface="Times New Roman" panose="02020603050405020304" pitchFamily="18" charset="0"/>
                  <a:cs typeface="Times New Roman" panose="02020603050405020304" pitchFamily="18" charset="0"/>
                </a:rPr>
                <a:t>3]</a:t>
              </a:r>
              <a:endParaRPr lang="zh-CN" altLang="en-US" sz="900" b="1" dirty="0">
                <a:latin typeface="Times New Roman" panose="02020603050405020304" pitchFamily="18" charset="0"/>
                <a:cs typeface="Times New Roman" panose="02020603050405020304" pitchFamily="18" charset="0"/>
              </a:endParaRPr>
            </a:p>
          </p:txBody>
        </p:sp>
        <p:sp>
          <p:nvSpPr>
            <p:cNvPr id="611" name="文本框 610"/>
            <p:cNvSpPr txBox="1"/>
            <p:nvPr/>
          </p:nvSpPr>
          <p:spPr>
            <a:xfrm>
              <a:off x="4848823" y="2164679"/>
              <a:ext cx="1620000" cy="1080000"/>
            </a:xfrm>
            <a:prstGeom prst="rect">
              <a:avLst/>
            </a:prstGeom>
            <a:noFill/>
          </p:spPr>
          <p:txBody>
            <a:bodyPr wrap="square" rtlCol="0" anchor="ctr">
              <a:spAutoFit/>
            </a:bodyPr>
            <a:lstStyle/>
            <a:p>
              <a:pPr eaLnBrk="0" latinLnBrk="1">
                <a:lnSpc>
                  <a:spcPct val="90000"/>
                </a:lnSpc>
              </a:pPr>
              <a:r>
                <a:rPr lang="en-US" altLang="zh-CN" sz="900" i="1" dirty="0">
                  <a:latin typeface="Times New Roman" panose="02020603050405020304" pitchFamily="18" charset="0"/>
                  <a:cs typeface="Times New Roman" panose="02020603050405020304" pitchFamily="18" charset="0"/>
                </a:rPr>
                <a:t>{Fragment_1 of the query response from Content 4.}</a:t>
              </a:r>
              <a:r>
                <a:rPr lang="en-US" altLang="zh-CN" sz="900" b="1" dirty="0">
                  <a:latin typeface="Times New Roman" panose="02020603050405020304" pitchFamily="18" charset="0"/>
                  <a:cs typeface="Times New Roman" panose="02020603050405020304" pitchFamily="18" charset="0"/>
                </a:rPr>
                <a:t>[4] </a:t>
              </a:r>
              <a:r>
                <a:rPr lang="en-US" altLang="zh-CN" sz="900" i="1" dirty="0">
                  <a:latin typeface="Times New Roman" panose="02020603050405020304" pitchFamily="18" charset="0"/>
                  <a:cs typeface="Times New Roman" panose="02020603050405020304" pitchFamily="18" charset="0"/>
                </a:rPr>
                <a:t>{Fragment_2 of the query response from Content 4 and Content 1.}</a:t>
              </a:r>
              <a:r>
                <a:rPr lang="en-US" altLang="zh-CN" sz="900" b="1" dirty="0">
                  <a:latin typeface="Times New Roman" panose="02020603050405020304" pitchFamily="18" charset="0"/>
                  <a:cs typeface="Times New Roman" panose="02020603050405020304" pitchFamily="18" charset="0"/>
                </a:rPr>
                <a:t>[1, 4] </a:t>
              </a:r>
              <a:r>
                <a:rPr lang="en-US" altLang="zh-CN" sz="900" i="1" dirty="0">
                  <a:latin typeface="Times New Roman" panose="02020603050405020304" pitchFamily="18" charset="0"/>
                  <a:cs typeface="Times New Roman" panose="02020603050405020304" pitchFamily="18" charset="0"/>
                </a:rPr>
                <a:t>{Fragment_3 of the query response from Content 2.}</a:t>
              </a:r>
              <a:r>
                <a:rPr lang="en-US" altLang="zh-CN" sz="900" b="1" dirty="0">
                  <a:latin typeface="Times New Roman" panose="02020603050405020304" pitchFamily="18" charset="0"/>
                  <a:cs typeface="Times New Roman" panose="02020603050405020304" pitchFamily="18" charset="0"/>
                </a:rPr>
                <a:t>[2]</a:t>
              </a:r>
              <a:r>
                <a:rPr lang="en-US" altLang="zh-CN" sz="900" i="1" dirty="0">
                  <a:latin typeface="Times New Roman" panose="02020603050405020304" pitchFamily="18" charset="0"/>
                  <a:cs typeface="Times New Roman" panose="02020603050405020304" pitchFamily="18" charset="0"/>
                </a:rPr>
                <a:t>……{</a:t>
              </a:r>
              <a:r>
                <a:rPr lang="en-US" altLang="zh-CN" sz="900" i="1" dirty="0" err="1">
                  <a:latin typeface="Times New Roman" panose="02020603050405020304" pitchFamily="18" charset="0"/>
                  <a:cs typeface="Times New Roman" panose="02020603050405020304" pitchFamily="18" charset="0"/>
                </a:rPr>
                <a:t>Fragment_m</a:t>
              </a:r>
              <a:r>
                <a:rPr lang="en-US" altLang="zh-CN" sz="900" i="1" dirty="0">
                  <a:latin typeface="Times New Roman" panose="02020603050405020304" pitchFamily="18" charset="0"/>
                  <a:cs typeface="Times New Roman" panose="02020603050405020304" pitchFamily="18" charset="0"/>
                </a:rPr>
                <a:t> of the query response from Content 3.}</a:t>
              </a:r>
              <a:r>
                <a:rPr lang="en-US" altLang="zh-CN" sz="900" b="1" dirty="0">
                  <a:latin typeface="Times New Roman" panose="02020603050405020304" pitchFamily="18" charset="0"/>
                  <a:cs typeface="Times New Roman" panose="02020603050405020304" pitchFamily="18" charset="0"/>
                </a:rPr>
                <a:t>[3]</a:t>
              </a:r>
              <a:endParaRPr lang="zh-CN" altLang="en-US" sz="900" b="1" dirty="0">
                <a:latin typeface="Times New Roman" panose="02020603050405020304" pitchFamily="18" charset="0"/>
                <a:cs typeface="Times New Roman" panose="02020603050405020304" pitchFamily="18" charset="0"/>
              </a:endParaRPr>
            </a:p>
          </p:txBody>
        </p:sp>
        <p:grpSp>
          <p:nvGrpSpPr>
            <p:cNvPr id="621" name="组合 620"/>
            <p:cNvGrpSpPr/>
            <p:nvPr/>
          </p:nvGrpSpPr>
          <p:grpSpPr>
            <a:xfrm>
              <a:off x="6020356" y="1355637"/>
              <a:ext cx="720000" cy="360000"/>
              <a:chOff x="5928743" y="3718255"/>
              <a:chExt cx="720000" cy="360000"/>
            </a:xfrm>
          </p:grpSpPr>
          <p:sp>
            <p:nvSpPr>
              <p:cNvPr id="617" name="思想气泡: 云 616"/>
              <p:cNvSpPr/>
              <p:nvPr/>
            </p:nvSpPr>
            <p:spPr>
              <a:xfrm>
                <a:off x="5928743" y="3718255"/>
                <a:ext cx="720000" cy="360000"/>
              </a:xfrm>
              <a:prstGeom prst="cloudCallout">
                <a:avLst>
                  <a:gd name="adj1" fmla="val 33998"/>
                  <a:gd name="adj2" fmla="val 122566"/>
                </a:avLst>
              </a:prstGeom>
              <a:solidFill>
                <a:schemeClr val="accent1">
                  <a:lumMod val="20000"/>
                  <a:lumOff val="80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0" name="文本框 619"/>
              <p:cNvSpPr txBox="1"/>
              <p:nvPr/>
            </p:nvSpPr>
            <p:spPr>
              <a:xfrm>
                <a:off x="6018743" y="3808255"/>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Note </a:t>
                </a:r>
                <a:r>
                  <a:rPr lang="en-US" altLang="zh-CN" sz="900" b="1" dirty="0">
                    <a:latin typeface="Times New Roman" panose="02020603050405020304" pitchFamily="18" charset="0"/>
                    <a:cs typeface="Times New Roman" panose="02020603050405020304" pitchFamily="18" charset="0"/>
                  </a:rPr>
                  <a:t>[1]</a:t>
                </a:r>
                <a:endParaRPr lang="zh-CN" altLang="en-US" sz="900" b="1" dirty="0">
                  <a:latin typeface="Times New Roman" panose="02020603050405020304" pitchFamily="18" charset="0"/>
                  <a:cs typeface="Times New Roman" panose="02020603050405020304" pitchFamily="18" charset="0"/>
                </a:endParaRPr>
              </a:p>
            </p:txBody>
          </p:sp>
        </p:grpSp>
        <p:grpSp>
          <p:nvGrpSpPr>
            <p:cNvPr id="622" name="组合 621"/>
            <p:cNvGrpSpPr/>
            <p:nvPr/>
          </p:nvGrpSpPr>
          <p:grpSpPr>
            <a:xfrm>
              <a:off x="6020356" y="2524679"/>
              <a:ext cx="720000" cy="360000"/>
              <a:chOff x="5928743" y="3718255"/>
              <a:chExt cx="720000" cy="360000"/>
            </a:xfrm>
          </p:grpSpPr>
          <p:sp>
            <p:nvSpPr>
              <p:cNvPr id="623" name="思想气泡: 云 622"/>
              <p:cNvSpPr/>
              <p:nvPr/>
            </p:nvSpPr>
            <p:spPr>
              <a:xfrm>
                <a:off x="5928743" y="3718255"/>
                <a:ext cx="720000" cy="360000"/>
              </a:xfrm>
              <a:prstGeom prst="cloudCallout">
                <a:avLst>
                  <a:gd name="adj1" fmla="val 28202"/>
                  <a:gd name="adj2" fmla="val -121103"/>
                </a:avLst>
              </a:prstGeom>
              <a:solidFill>
                <a:schemeClr val="accent6">
                  <a:lumMod val="20000"/>
                  <a:lumOff val="80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4" name="文本框 623"/>
              <p:cNvSpPr txBox="1"/>
              <p:nvPr/>
            </p:nvSpPr>
            <p:spPr>
              <a:xfrm>
                <a:off x="6018743" y="3808255"/>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Note </a:t>
                </a:r>
                <a:r>
                  <a:rPr lang="en-US" altLang="zh-CN" sz="900" b="1" dirty="0">
                    <a:latin typeface="Times New Roman" panose="02020603050405020304" pitchFamily="18" charset="0"/>
                    <a:cs typeface="Times New Roman" panose="02020603050405020304" pitchFamily="18" charset="0"/>
                  </a:rPr>
                  <a:t>[4]</a:t>
                </a:r>
                <a:endParaRPr lang="zh-CN" altLang="en-US" sz="900" b="1" dirty="0">
                  <a:latin typeface="Times New Roman" panose="02020603050405020304" pitchFamily="18" charset="0"/>
                  <a:cs typeface="Times New Roman" panose="02020603050405020304" pitchFamily="18" charset="0"/>
                </a:endParaRPr>
              </a:p>
            </p:txBody>
          </p:sp>
        </p:grpSp>
        <p:pic>
          <p:nvPicPr>
            <p:cNvPr id="656" name="图形 655" descr="眼镜 纯色填充"/>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657009" y="276595"/>
              <a:ext cx="180000" cy="180000"/>
            </a:xfrm>
            <a:prstGeom prst="rect">
              <a:avLst/>
            </a:prstGeom>
          </p:spPr>
        </p:pic>
        <p:cxnSp>
          <p:nvCxnSpPr>
            <p:cNvPr id="692" name="连接符: 肘形 691"/>
            <p:cNvCxnSpPr>
              <a:stCxn id="564" idx="0"/>
            </p:cNvCxnSpPr>
            <p:nvPr/>
          </p:nvCxnSpPr>
          <p:spPr>
            <a:xfrm rot="16200000" flipH="1">
              <a:off x="2720153" y="-561402"/>
              <a:ext cx="361418" cy="2159656"/>
            </a:xfrm>
            <a:prstGeom prst="bentConnector3">
              <a:avLst>
                <a:gd name="adj1" fmla="val -3112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5" name="连接符: 肘形 694"/>
            <p:cNvCxnSpPr>
              <a:stCxn id="550" idx="0"/>
            </p:cNvCxnSpPr>
            <p:nvPr/>
          </p:nvCxnSpPr>
          <p:spPr>
            <a:xfrm rot="16200000" flipH="1">
              <a:off x="3170518" y="158233"/>
              <a:ext cx="361418" cy="720387"/>
            </a:xfrm>
            <a:prstGeom prst="bentConnector3">
              <a:avLst>
                <a:gd name="adj1" fmla="val -2058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714" name="直接箭头连接符 713"/>
            <p:cNvCxnSpPr>
              <a:stCxn id="83" idx="3"/>
              <a:endCxn id="84" idx="1"/>
            </p:cNvCxnSpPr>
            <p:nvPr/>
          </p:nvCxnSpPr>
          <p:spPr>
            <a:xfrm>
              <a:off x="1190273" y="607717"/>
              <a:ext cx="45076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7" name="直接箭头连接符 716"/>
            <p:cNvCxnSpPr>
              <a:stCxn id="123" idx="3"/>
              <a:endCxn id="124" idx="1"/>
            </p:cNvCxnSpPr>
            <p:nvPr/>
          </p:nvCxnSpPr>
          <p:spPr>
            <a:xfrm>
              <a:off x="1190273" y="1147717"/>
              <a:ext cx="45076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0" name="直接箭头连接符 719"/>
            <p:cNvCxnSpPr>
              <a:stCxn id="129" idx="3"/>
              <a:endCxn id="130" idx="1"/>
            </p:cNvCxnSpPr>
            <p:nvPr/>
          </p:nvCxnSpPr>
          <p:spPr>
            <a:xfrm>
              <a:off x="1190273" y="1687717"/>
              <a:ext cx="45076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2" name="直接箭头连接符 721"/>
            <p:cNvCxnSpPr>
              <a:stCxn id="141" idx="3"/>
              <a:endCxn id="142" idx="1"/>
            </p:cNvCxnSpPr>
            <p:nvPr/>
          </p:nvCxnSpPr>
          <p:spPr>
            <a:xfrm>
              <a:off x="1190273" y="2947717"/>
              <a:ext cx="45076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4" name="直接箭头连接符 723"/>
            <p:cNvCxnSpPr>
              <a:stCxn id="124" idx="3"/>
              <a:endCxn id="538" idx="1"/>
            </p:cNvCxnSpPr>
            <p:nvPr/>
          </p:nvCxnSpPr>
          <p:spPr>
            <a:xfrm>
              <a:off x="2001034" y="1147717"/>
              <a:ext cx="8115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5" name="直接箭头连接符 724"/>
            <p:cNvCxnSpPr>
              <a:stCxn id="130" idx="3"/>
              <a:endCxn id="536" idx="1"/>
            </p:cNvCxnSpPr>
            <p:nvPr/>
          </p:nvCxnSpPr>
          <p:spPr>
            <a:xfrm>
              <a:off x="2001034" y="1687717"/>
              <a:ext cx="8115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8" name="直接箭头连接符 727"/>
            <p:cNvCxnSpPr>
              <a:stCxn id="142" idx="3"/>
              <a:endCxn id="532" idx="1"/>
            </p:cNvCxnSpPr>
            <p:nvPr/>
          </p:nvCxnSpPr>
          <p:spPr>
            <a:xfrm>
              <a:off x="2001034" y="2947717"/>
              <a:ext cx="8115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3" name="直接箭头连接符 722"/>
            <p:cNvCxnSpPr>
              <a:stCxn id="84" idx="3"/>
              <a:endCxn id="540" idx="1"/>
            </p:cNvCxnSpPr>
            <p:nvPr/>
          </p:nvCxnSpPr>
          <p:spPr>
            <a:xfrm>
              <a:off x="2001034" y="607717"/>
              <a:ext cx="8115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5" name="直接箭头连接符 744"/>
            <p:cNvCxnSpPr>
              <a:stCxn id="8" idx="1"/>
              <a:endCxn id="349" idx="3"/>
            </p:cNvCxnSpPr>
            <p:nvPr/>
          </p:nvCxnSpPr>
          <p:spPr>
            <a:xfrm flipH="1">
              <a:off x="4292507" y="816595"/>
              <a:ext cx="556316" cy="2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4" name="连接符: 肘形 753"/>
            <p:cNvCxnSpPr>
              <a:stCxn id="564" idx="2"/>
            </p:cNvCxnSpPr>
            <p:nvPr/>
          </p:nvCxnSpPr>
          <p:spPr>
            <a:xfrm rot="5400000" flipH="1" flipV="1">
              <a:off x="2541003" y="1957769"/>
              <a:ext cx="719979" cy="2159918"/>
            </a:xfrm>
            <a:prstGeom prst="bentConnector3">
              <a:avLst>
                <a:gd name="adj1" fmla="val -1763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5" name="连接符: 肘形 754"/>
            <p:cNvCxnSpPr>
              <a:stCxn id="550" idx="2"/>
            </p:cNvCxnSpPr>
            <p:nvPr/>
          </p:nvCxnSpPr>
          <p:spPr>
            <a:xfrm rot="5400000" flipH="1" flipV="1">
              <a:off x="2990546" y="2678226"/>
              <a:ext cx="719979" cy="719004"/>
            </a:xfrm>
            <a:prstGeom prst="bentConnector3">
              <a:avLst>
                <a:gd name="adj1" fmla="val -9072"/>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772" name="矩形 771"/>
            <p:cNvSpPr/>
            <p:nvPr/>
          </p:nvSpPr>
          <p:spPr>
            <a:xfrm>
              <a:off x="1551032" y="2047717"/>
              <a:ext cx="1800002" cy="540000"/>
            </a:xfrm>
            <a:prstGeom prst="rect">
              <a:avLst/>
            </a:prstGeom>
            <a:solidFill>
              <a:srgbClr val="FADBDF"/>
            </a:solidFill>
            <a:ln w="12700">
              <a:solidFill>
                <a:schemeClr val="tx1"/>
              </a:solidFill>
              <a:prstDash val="dash"/>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640"/>
            </a:p>
          </p:txBody>
        </p:sp>
        <p:pic>
          <p:nvPicPr>
            <p:cNvPr id="84" name="图形 83" descr="文档 纯色填充"/>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641034" y="427717"/>
              <a:ext cx="360000" cy="360000"/>
            </a:xfrm>
            <a:prstGeom prst="rect">
              <a:avLst/>
            </a:prstGeom>
          </p:spPr>
        </p:pic>
        <p:sp>
          <p:nvSpPr>
            <p:cNvPr id="120" name="文本框 119"/>
            <p:cNvSpPr txBox="1"/>
            <p:nvPr/>
          </p:nvSpPr>
          <p:spPr>
            <a:xfrm>
              <a:off x="1551034" y="787717"/>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Content 1</a:t>
              </a:r>
              <a:endParaRPr lang="zh-CN" altLang="en-US" sz="900" dirty="0">
                <a:latin typeface="Times New Roman" panose="02020603050405020304" pitchFamily="18" charset="0"/>
                <a:cs typeface="Times New Roman" panose="02020603050405020304" pitchFamily="18" charset="0"/>
              </a:endParaRPr>
            </a:p>
          </p:txBody>
        </p:sp>
        <p:pic>
          <p:nvPicPr>
            <p:cNvPr id="124" name="图形 123" descr="文档 纯色填充"/>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641034" y="967717"/>
              <a:ext cx="360000" cy="360000"/>
            </a:xfrm>
            <a:prstGeom prst="rect">
              <a:avLst/>
            </a:prstGeom>
          </p:spPr>
        </p:pic>
        <p:cxnSp>
          <p:nvCxnSpPr>
            <p:cNvPr id="721" name="直接箭头连接符 720"/>
            <p:cNvCxnSpPr>
              <a:stCxn id="135" idx="3"/>
              <a:endCxn id="136" idx="1"/>
            </p:cNvCxnSpPr>
            <p:nvPr/>
          </p:nvCxnSpPr>
          <p:spPr>
            <a:xfrm>
              <a:off x="1190273" y="2227717"/>
              <a:ext cx="45076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7" name="文本框 126"/>
            <p:cNvSpPr txBox="1"/>
            <p:nvPr/>
          </p:nvSpPr>
          <p:spPr>
            <a:xfrm>
              <a:off x="1551034" y="1327717"/>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Content 2</a:t>
              </a:r>
              <a:endParaRPr lang="zh-CN" altLang="en-US" sz="900" dirty="0">
                <a:latin typeface="Times New Roman" panose="02020603050405020304" pitchFamily="18" charset="0"/>
                <a:cs typeface="Times New Roman" panose="02020603050405020304" pitchFamily="18" charset="0"/>
              </a:endParaRPr>
            </a:p>
          </p:txBody>
        </p:sp>
        <p:pic>
          <p:nvPicPr>
            <p:cNvPr id="130" name="图形 129" descr="文档 纯色填充"/>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641034" y="1507717"/>
              <a:ext cx="360000" cy="360000"/>
            </a:xfrm>
            <a:prstGeom prst="rect">
              <a:avLst/>
            </a:prstGeom>
          </p:spPr>
        </p:pic>
        <p:sp>
          <p:nvSpPr>
            <p:cNvPr id="133" name="文本框 132"/>
            <p:cNvSpPr txBox="1"/>
            <p:nvPr/>
          </p:nvSpPr>
          <p:spPr>
            <a:xfrm>
              <a:off x="1551034" y="1867717"/>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Content 3</a:t>
              </a:r>
              <a:endParaRPr lang="zh-CN" altLang="en-US" sz="900" dirty="0">
                <a:latin typeface="Times New Roman" panose="02020603050405020304" pitchFamily="18" charset="0"/>
                <a:cs typeface="Times New Roman" panose="02020603050405020304" pitchFamily="18" charset="0"/>
              </a:endParaRPr>
            </a:p>
          </p:txBody>
        </p:sp>
        <p:pic>
          <p:nvPicPr>
            <p:cNvPr id="136" name="图形 135" descr="文档 纯色填充"/>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641034" y="2047717"/>
              <a:ext cx="360000" cy="360000"/>
            </a:xfrm>
            <a:prstGeom prst="rect">
              <a:avLst/>
            </a:prstGeom>
          </p:spPr>
        </p:pic>
        <p:sp>
          <p:nvSpPr>
            <p:cNvPr id="139" name="文本框 138"/>
            <p:cNvSpPr txBox="1"/>
            <p:nvPr/>
          </p:nvSpPr>
          <p:spPr>
            <a:xfrm>
              <a:off x="1551034" y="2407717"/>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Content 4</a:t>
              </a:r>
              <a:endParaRPr lang="zh-CN" altLang="en-US" sz="900" dirty="0">
                <a:latin typeface="Times New Roman" panose="02020603050405020304" pitchFamily="18" charset="0"/>
                <a:cs typeface="Times New Roman" panose="02020603050405020304" pitchFamily="18" charset="0"/>
              </a:endParaRPr>
            </a:p>
          </p:txBody>
        </p:sp>
        <p:pic>
          <p:nvPicPr>
            <p:cNvPr id="142" name="图形 141" descr="文档 纯色填充"/>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641034" y="2767717"/>
              <a:ext cx="360000" cy="360000"/>
            </a:xfrm>
            <a:prstGeom prst="rect">
              <a:avLst/>
            </a:prstGeom>
          </p:spPr>
        </p:pic>
        <p:sp>
          <p:nvSpPr>
            <p:cNvPr id="145" name="文本框 144"/>
            <p:cNvSpPr txBox="1"/>
            <p:nvPr/>
          </p:nvSpPr>
          <p:spPr>
            <a:xfrm>
              <a:off x="1551034" y="3127717"/>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Content N</a:t>
              </a:r>
              <a:endParaRPr lang="zh-CN" altLang="en-US" sz="900" dirty="0">
                <a:latin typeface="Times New Roman" panose="02020603050405020304" pitchFamily="18" charset="0"/>
                <a:cs typeface="Times New Roman" panose="02020603050405020304" pitchFamily="18" charset="0"/>
              </a:endParaRPr>
            </a:p>
          </p:txBody>
        </p:sp>
        <p:sp>
          <p:nvSpPr>
            <p:cNvPr id="245" name="文本框 244"/>
            <p:cNvSpPr txBox="1"/>
            <p:nvPr/>
          </p:nvSpPr>
          <p:spPr>
            <a:xfrm>
              <a:off x="1621748" y="2587717"/>
              <a:ext cx="36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a:t>
              </a:r>
              <a:endParaRPr lang="zh-CN" altLang="en-US" sz="900" dirty="0">
                <a:latin typeface="Times New Roman" panose="02020603050405020304" pitchFamily="18" charset="0"/>
                <a:cs typeface="Times New Roman" panose="02020603050405020304" pitchFamily="18" charset="0"/>
              </a:endParaRPr>
            </a:p>
          </p:txBody>
        </p:sp>
        <p:pic>
          <p:nvPicPr>
            <p:cNvPr id="540" name="图形 539" descr="文档 纯色填充"/>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812567" y="427717"/>
              <a:ext cx="360000" cy="360000"/>
            </a:xfrm>
            <a:prstGeom prst="rect">
              <a:avLst/>
            </a:prstGeom>
          </p:spPr>
        </p:pic>
        <p:sp>
          <p:nvSpPr>
            <p:cNvPr id="541" name="文本框 540"/>
            <p:cNvSpPr txBox="1"/>
            <p:nvPr/>
          </p:nvSpPr>
          <p:spPr>
            <a:xfrm>
              <a:off x="2722567" y="787717"/>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Content 1</a:t>
              </a:r>
              <a:endParaRPr lang="zh-CN" altLang="en-US" sz="900" dirty="0">
                <a:latin typeface="Times New Roman" panose="02020603050405020304" pitchFamily="18" charset="0"/>
                <a:cs typeface="Times New Roman" panose="02020603050405020304" pitchFamily="18" charset="0"/>
              </a:endParaRPr>
            </a:p>
          </p:txBody>
        </p:sp>
        <p:pic>
          <p:nvPicPr>
            <p:cNvPr id="538" name="图形 537" descr="文档 纯色填充"/>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812567" y="967717"/>
              <a:ext cx="360000" cy="360000"/>
            </a:xfrm>
            <a:prstGeom prst="rect">
              <a:avLst/>
            </a:prstGeom>
          </p:spPr>
        </p:pic>
        <p:sp>
          <p:nvSpPr>
            <p:cNvPr id="539" name="文本框 538"/>
            <p:cNvSpPr txBox="1"/>
            <p:nvPr/>
          </p:nvSpPr>
          <p:spPr>
            <a:xfrm>
              <a:off x="2722567" y="1327717"/>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Content 2</a:t>
              </a:r>
              <a:endParaRPr lang="zh-CN" altLang="en-US" sz="900" dirty="0">
                <a:latin typeface="Times New Roman" panose="02020603050405020304" pitchFamily="18" charset="0"/>
                <a:cs typeface="Times New Roman" panose="02020603050405020304" pitchFamily="18" charset="0"/>
              </a:endParaRPr>
            </a:p>
          </p:txBody>
        </p:sp>
        <p:pic>
          <p:nvPicPr>
            <p:cNvPr id="536" name="图形 535" descr="文档 纯色填充"/>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812567" y="1507717"/>
              <a:ext cx="360000" cy="360000"/>
            </a:xfrm>
            <a:prstGeom prst="rect">
              <a:avLst/>
            </a:prstGeom>
          </p:spPr>
        </p:pic>
        <p:sp>
          <p:nvSpPr>
            <p:cNvPr id="537" name="文本框 536"/>
            <p:cNvSpPr txBox="1"/>
            <p:nvPr/>
          </p:nvSpPr>
          <p:spPr>
            <a:xfrm>
              <a:off x="2722567" y="1867717"/>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Content 3</a:t>
              </a:r>
              <a:endParaRPr lang="zh-CN" altLang="en-US" sz="900" dirty="0">
                <a:latin typeface="Times New Roman" panose="02020603050405020304" pitchFamily="18" charset="0"/>
                <a:cs typeface="Times New Roman" panose="02020603050405020304" pitchFamily="18" charset="0"/>
              </a:endParaRPr>
            </a:p>
          </p:txBody>
        </p:sp>
        <p:pic>
          <p:nvPicPr>
            <p:cNvPr id="534" name="图形 533" descr="文档 纯色填充"/>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812567" y="2047717"/>
              <a:ext cx="360000" cy="360000"/>
            </a:xfrm>
            <a:prstGeom prst="rect">
              <a:avLst/>
            </a:prstGeom>
          </p:spPr>
        </p:pic>
        <p:sp>
          <p:nvSpPr>
            <p:cNvPr id="535" name="文本框 534"/>
            <p:cNvSpPr txBox="1"/>
            <p:nvPr/>
          </p:nvSpPr>
          <p:spPr>
            <a:xfrm>
              <a:off x="2632567" y="2407717"/>
              <a:ext cx="72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New Content 4</a:t>
              </a:r>
              <a:endParaRPr lang="zh-CN" altLang="en-US" sz="900" dirty="0">
                <a:latin typeface="Times New Roman" panose="02020603050405020304" pitchFamily="18" charset="0"/>
                <a:cs typeface="Times New Roman" panose="02020603050405020304" pitchFamily="18" charset="0"/>
              </a:endParaRPr>
            </a:p>
          </p:txBody>
        </p:sp>
        <p:pic>
          <p:nvPicPr>
            <p:cNvPr id="532" name="图形 531" descr="文档 纯色填充"/>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812567" y="2767717"/>
              <a:ext cx="360000" cy="360000"/>
            </a:xfrm>
            <a:prstGeom prst="rect">
              <a:avLst/>
            </a:prstGeom>
          </p:spPr>
        </p:pic>
        <p:sp>
          <p:nvSpPr>
            <p:cNvPr id="533" name="文本框 532"/>
            <p:cNvSpPr txBox="1"/>
            <p:nvPr/>
          </p:nvSpPr>
          <p:spPr>
            <a:xfrm>
              <a:off x="2722567" y="3127717"/>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Content N</a:t>
              </a:r>
              <a:endParaRPr lang="zh-CN" altLang="en-US" sz="900" dirty="0">
                <a:latin typeface="Times New Roman" panose="02020603050405020304" pitchFamily="18" charset="0"/>
                <a:cs typeface="Times New Roman" panose="02020603050405020304" pitchFamily="18" charset="0"/>
              </a:endParaRPr>
            </a:p>
          </p:txBody>
        </p:sp>
        <p:sp>
          <p:nvSpPr>
            <p:cNvPr id="531" name="文本框 530"/>
            <p:cNvSpPr txBox="1"/>
            <p:nvPr/>
          </p:nvSpPr>
          <p:spPr>
            <a:xfrm>
              <a:off x="2812567" y="2587717"/>
              <a:ext cx="36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a:t>
              </a:r>
              <a:endParaRPr lang="zh-CN" altLang="en-US" sz="900" dirty="0">
                <a:latin typeface="Times New Roman" panose="02020603050405020304" pitchFamily="18" charset="0"/>
                <a:cs typeface="Times New Roman" panose="02020603050405020304" pitchFamily="18" charset="0"/>
              </a:endParaRPr>
            </a:p>
          </p:txBody>
        </p:sp>
        <p:grpSp>
          <p:nvGrpSpPr>
            <p:cNvPr id="630" name="组合 629"/>
            <p:cNvGrpSpPr/>
            <p:nvPr/>
          </p:nvGrpSpPr>
          <p:grpSpPr>
            <a:xfrm>
              <a:off x="2091034" y="427717"/>
              <a:ext cx="540000" cy="2520000"/>
              <a:chOff x="2097892" y="288380"/>
              <a:chExt cx="540000" cy="2520000"/>
            </a:xfrm>
          </p:grpSpPr>
          <p:sp>
            <p:nvSpPr>
              <p:cNvPr id="212" name="文本框 211"/>
              <p:cNvSpPr txBox="1"/>
              <p:nvPr/>
            </p:nvSpPr>
            <p:spPr>
              <a:xfrm>
                <a:off x="2097892" y="1908380"/>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optimize</a:t>
                </a:r>
                <a:endParaRPr lang="zh-CN" altLang="en-US" sz="900" dirty="0">
                  <a:latin typeface="Times New Roman" panose="02020603050405020304" pitchFamily="18" charset="0"/>
                  <a:cs typeface="Times New Roman" panose="02020603050405020304" pitchFamily="18" charset="0"/>
                </a:endParaRPr>
              </a:p>
            </p:txBody>
          </p:sp>
          <p:sp>
            <p:nvSpPr>
              <p:cNvPr id="241" name="文本框 240"/>
              <p:cNvSpPr txBox="1"/>
              <p:nvPr/>
            </p:nvSpPr>
            <p:spPr>
              <a:xfrm>
                <a:off x="2097892" y="288380"/>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maintain</a:t>
                </a:r>
                <a:endParaRPr lang="zh-CN" altLang="en-US" sz="900" dirty="0">
                  <a:latin typeface="Times New Roman" panose="02020603050405020304" pitchFamily="18" charset="0"/>
                  <a:cs typeface="Times New Roman" panose="02020603050405020304" pitchFamily="18" charset="0"/>
                </a:endParaRPr>
              </a:p>
            </p:txBody>
          </p:sp>
          <p:sp>
            <p:nvSpPr>
              <p:cNvPr id="242" name="文本框 241"/>
              <p:cNvSpPr txBox="1"/>
              <p:nvPr/>
            </p:nvSpPr>
            <p:spPr>
              <a:xfrm>
                <a:off x="2097892" y="828380"/>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maintain</a:t>
                </a:r>
                <a:endParaRPr lang="zh-CN" altLang="en-US" sz="900" dirty="0">
                  <a:latin typeface="Times New Roman" panose="02020603050405020304" pitchFamily="18" charset="0"/>
                  <a:cs typeface="Times New Roman" panose="02020603050405020304" pitchFamily="18" charset="0"/>
                </a:endParaRPr>
              </a:p>
            </p:txBody>
          </p:sp>
          <p:sp>
            <p:nvSpPr>
              <p:cNvPr id="243" name="文本框 242"/>
              <p:cNvSpPr txBox="1"/>
              <p:nvPr/>
            </p:nvSpPr>
            <p:spPr>
              <a:xfrm>
                <a:off x="2097892" y="1368380"/>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maintain</a:t>
                </a:r>
                <a:endParaRPr lang="zh-CN" altLang="en-US" sz="900" dirty="0">
                  <a:latin typeface="Times New Roman" panose="02020603050405020304" pitchFamily="18" charset="0"/>
                  <a:cs typeface="Times New Roman" panose="02020603050405020304" pitchFamily="18" charset="0"/>
                </a:endParaRPr>
              </a:p>
            </p:txBody>
          </p:sp>
          <p:sp>
            <p:nvSpPr>
              <p:cNvPr id="244" name="文本框 243"/>
              <p:cNvSpPr txBox="1"/>
              <p:nvPr/>
            </p:nvSpPr>
            <p:spPr>
              <a:xfrm>
                <a:off x="2097892" y="2628380"/>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maintain</a:t>
                </a:r>
                <a:endParaRPr lang="zh-CN" altLang="en-US" sz="900" dirty="0">
                  <a:latin typeface="Times New Roman" panose="02020603050405020304" pitchFamily="18" charset="0"/>
                  <a:cs typeface="Times New Roman" panose="02020603050405020304" pitchFamily="18" charset="0"/>
                </a:endParaRPr>
              </a:p>
            </p:txBody>
          </p:sp>
        </p:grpSp>
        <p:cxnSp>
          <p:nvCxnSpPr>
            <p:cNvPr id="727" name="直接箭头连接符 726"/>
            <p:cNvCxnSpPr>
              <a:stCxn id="136" idx="3"/>
              <a:endCxn id="534" idx="1"/>
            </p:cNvCxnSpPr>
            <p:nvPr/>
          </p:nvCxnSpPr>
          <p:spPr>
            <a:xfrm>
              <a:off x="2001034" y="2227717"/>
              <a:ext cx="8115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9" name="连接符: 肘形 808"/>
            <p:cNvCxnSpPr>
              <a:endCxn id="611" idx="1"/>
            </p:cNvCxnSpPr>
            <p:nvPr/>
          </p:nvCxnSpPr>
          <p:spPr>
            <a:xfrm>
              <a:off x="4218823" y="2212666"/>
              <a:ext cx="630000" cy="492013"/>
            </a:xfrm>
            <a:prstGeom prst="bentConnector3">
              <a:avLst>
                <a:gd name="adj1" fmla="val 42873"/>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818" name="连接符: 肘形 817"/>
            <p:cNvCxnSpPr>
              <a:endCxn id="410" idx="1"/>
            </p:cNvCxnSpPr>
            <p:nvPr/>
          </p:nvCxnSpPr>
          <p:spPr>
            <a:xfrm flipV="1">
              <a:off x="4218823" y="1535637"/>
              <a:ext cx="630000" cy="493846"/>
            </a:xfrm>
            <a:prstGeom prst="bentConnector3">
              <a:avLst>
                <a:gd name="adj1" fmla="val 42656"/>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 name="矩形 508"/>
          <p:cNvSpPr/>
          <p:nvPr/>
        </p:nvSpPr>
        <p:spPr>
          <a:xfrm>
            <a:off x="106200" y="-534472"/>
            <a:ext cx="7560000" cy="52564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48" name="图片 547"/>
          <p:cNvPicPr>
            <a:picLocks noChangeAspect="1"/>
          </p:cNvPicPr>
          <p:nvPr/>
        </p:nvPicPr>
        <p:blipFill>
          <a:blip r:embed="rId3"/>
          <a:stretch>
            <a:fillRect/>
          </a:stretch>
        </p:blipFill>
        <p:spPr>
          <a:xfrm>
            <a:off x="0" y="-3151675"/>
            <a:ext cx="7772400" cy="3123221"/>
          </a:xfrm>
          <a:prstGeom prst="rect">
            <a:avLst/>
          </a:prstGeom>
        </p:spPr>
      </p:pic>
      <p:pic>
        <p:nvPicPr>
          <p:cNvPr id="75" name="图片 74"/>
          <p:cNvPicPr>
            <a:picLocks noChangeAspect="1"/>
          </p:cNvPicPr>
          <p:nvPr/>
        </p:nvPicPr>
        <p:blipFill>
          <a:blip r:embed="rId4"/>
          <a:stretch>
            <a:fillRect/>
          </a:stretch>
        </p:blipFill>
        <p:spPr>
          <a:xfrm>
            <a:off x="0" y="-3359217"/>
            <a:ext cx="7772400" cy="3345427"/>
          </a:xfrm>
          <a:prstGeom prst="rect">
            <a:avLst/>
          </a:prstGeom>
        </p:spPr>
      </p:pic>
      <p:sp>
        <p:nvSpPr>
          <p:cNvPr id="753" name="文本框 752"/>
          <p:cNvSpPr txBox="1"/>
          <p:nvPr/>
        </p:nvSpPr>
        <p:spPr>
          <a:xfrm>
            <a:off x="438214" y="2960668"/>
            <a:ext cx="6120000" cy="1477328"/>
          </a:xfrm>
          <a:prstGeom prst="rect">
            <a:avLst/>
          </a:prstGeom>
          <a:noFill/>
        </p:spPr>
        <p:txBody>
          <a:bodyPr wrap="square" rtlCol="0">
            <a:spAutoFit/>
          </a:bodyPr>
          <a:lstStyle/>
          <a:p>
            <a:r>
              <a:rPr lang="zh-CN" altLang="en-US" dirty="0"/>
              <a:t>图</a:t>
            </a:r>
            <a:r>
              <a:rPr lang="en-US" altLang="zh-CN" dirty="0"/>
              <a:t>2</a:t>
            </a:r>
            <a:r>
              <a:rPr lang="zh-CN" altLang="en-US" dirty="0"/>
              <a:t>：</a:t>
            </a:r>
            <a:r>
              <a:rPr lang="en-US" altLang="zh-CN" dirty="0"/>
              <a:t>Role-Augmented Intent-Driven G-SEO </a:t>
            </a:r>
            <a:r>
              <a:rPr lang="zh-CN" altLang="en-US" dirty="0"/>
              <a:t>方法</a:t>
            </a:r>
            <a:r>
              <a:rPr lang="en-US" altLang="zh-CN" dirty="0"/>
              <a:t>Overview</a:t>
            </a:r>
            <a:r>
              <a:rPr lang="zh-CN" altLang="en-US" dirty="0"/>
              <a:t>。（详见方法</a:t>
            </a:r>
            <a:r>
              <a:rPr lang="en-US" altLang="zh-CN" dirty="0"/>
              <a:t>section</a:t>
            </a:r>
            <a:r>
              <a:rPr lang="zh-CN" altLang="en-US" dirty="0"/>
              <a:t>）。该方法以检索意图引导优化流程，并引入多角色视角的反思建模机制，从而提升意图对多样化用户需求的泛化能力，更好应对复杂检索场景下的内容优化挑战。</a:t>
            </a:r>
            <a:endParaRPr lang="en-US" altLang="zh-CN" dirty="0"/>
          </a:p>
        </p:txBody>
      </p:sp>
      <p:grpSp>
        <p:nvGrpSpPr>
          <p:cNvPr id="18" name="组合 17">
            <a:extLst>
              <a:ext uri="{FF2B5EF4-FFF2-40B4-BE49-F238E27FC236}">
                <a16:creationId xmlns:a16="http://schemas.microsoft.com/office/drawing/2014/main" id="{6161CA36-D59D-AEA4-F35F-E4EDE10491E7}"/>
              </a:ext>
            </a:extLst>
          </p:cNvPr>
          <p:cNvGrpSpPr/>
          <p:nvPr/>
        </p:nvGrpSpPr>
        <p:grpSpPr>
          <a:xfrm>
            <a:off x="743471" y="312057"/>
            <a:ext cx="3066350" cy="2524378"/>
            <a:chOff x="743471" y="312057"/>
            <a:chExt cx="3066350" cy="2524378"/>
          </a:xfrm>
        </p:grpSpPr>
        <p:grpSp>
          <p:nvGrpSpPr>
            <p:cNvPr id="480" name="组合 479">
              <a:extLst>
                <a:ext uri="{FF2B5EF4-FFF2-40B4-BE49-F238E27FC236}">
                  <a16:creationId xmlns:a16="http://schemas.microsoft.com/office/drawing/2014/main" id="{4EB3B204-33E7-ECA0-4B84-D814B50E43B3}"/>
                </a:ext>
              </a:extLst>
            </p:cNvPr>
            <p:cNvGrpSpPr/>
            <p:nvPr/>
          </p:nvGrpSpPr>
          <p:grpSpPr>
            <a:xfrm>
              <a:off x="743471" y="316435"/>
              <a:ext cx="720000" cy="2520000"/>
              <a:chOff x="707471" y="316435"/>
              <a:chExt cx="720000" cy="2520000"/>
            </a:xfrm>
          </p:grpSpPr>
          <p:sp>
            <p:nvSpPr>
              <p:cNvPr id="3" name="矩形 2"/>
              <p:cNvSpPr/>
              <p:nvPr/>
            </p:nvSpPr>
            <p:spPr>
              <a:xfrm>
                <a:off x="707471" y="316435"/>
                <a:ext cx="720000" cy="2520000"/>
              </a:xfrm>
              <a:prstGeom prst="rect">
                <a:avLst/>
              </a:prstGeom>
              <a:solidFill>
                <a:srgbClr val="FADBDF"/>
              </a:solidFill>
              <a:ln w="12700">
                <a:noFill/>
                <a:prstDash val="dash"/>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640" dirty="0"/>
              </a:p>
            </p:txBody>
          </p:sp>
          <p:cxnSp>
            <p:nvCxnSpPr>
              <p:cNvPr id="9" name="直接箭头连接符 8"/>
              <p:cNvCxnSpPr>
                <a:stCxn id="5" idx="2"/>
                <a:endCxn id="67" idx="0"/>
              </p:cNvCxnSpPr>
              <p:nvPr/>
            </p:nvCxnSpPr>
            <p:spPr>
              <a:xfrm>
                <a:off x="1067471" y="1036435"/>
                <a:ext cx="0" cy="18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4" name="组合 13">
                <a:extLst>
                  <a:ext uri="{FF2B5EF4-FFF2-40B4-BE49-F238E27FC236}">
                    <a16:creationId xmlns:a16="http://schemas.microsoft.com/office/drawing/2014/main" id="{FA41914D-9822-A996-1A7E-BB896F96BF3A}"/>
                  </a:ext>
                </a:extLst>
              </p:cNvPr>
              <p:cNvGrpSpPr/>
              <p:nvPr/>
            </p:nvGrpSpPr>
            <p:grpSpPr>
              <a:xfrm>
                <a:off x="797471" y="316435"/>
                <a:ext cx="540000" cy="720000"/>
                <a:chOff x="958407" y="-75000"/>
                <a:chExt cx="540000" cy="720000"/>
              </a:xfrm>
            </p:grpSpPr>
            <p:pic>
              <p:nvPicPr>
                <p:cNvPr id="4" name="图形 3" descr="文档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8407" y="-75000"/>
                  <a:ext cx="360000" cy="360000"/>
                </a:xfrm>
                <a:prstGeom prst="rect">
                  <a:avLst/>
                </a:prstGeom>
              </p:spPr>
            </p:pic>
            <p:sp>
              <p:nvSpPr>
                <p:cNvPr id="5" name="文本框 4"/>
                <p:cNvSpPr txBox="1"/>
                <p:nvPr/>
              </p:nvSpPr>
              <p:spPr>
                <a:xfrm>
                  <a:off x="958407" y="285000"/>
                  <a:ext cx="540000" cy="36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Original</a:t>
                  </a:r>
                </a:p>
                <a:p>
                  <a:pPr algn="ctr"/>
                  <a:r>
                    <a:rPr lang="en-US" altLang="zh-CN" sz="900" dirty="0">
                      <a:latin typeface="Times New Roman" panose="02020603050405020304" pitchFamily="18" charset="0"/>
                      <a:cs typeface="Times New Roman" panose="02020603050405020304" pitchFamily="18" charset="0"/>
                    </a:rPr>
                    <a:t>Content</a:t>
                  </a:r>
                  <a:endParaRPr lang="zh-CN" altLang="en-US" sz="900" dirty="0">
                    <a:latin typeface="Times New Roman" panose="02020603050405020304" pitchFamily="18" charset="0"/>
                    <a:cs typeface="Times New Roman" panose="02020603050405020304" pitchFamily="18" charset="0"/>
                  </a:endParaRPr>
                </a:p>
              </p:txBody>
            </p:sp>
          </p:grpSp>
          <p:grpSp>
            <p:nvGrpSpPr>
              <p:cNvPr id="13" name="组合 12">
                <a:extLst>
                  <a:ext uri="{FF2B5EF4-FFF2-40B4-BE49-F238E27FC236}">
                    <a16:creationId xmlns:a16="http://schemas.microsoft.com/office/drawing/2014/main" id="{045A51AF-DF84-D279-FBD1-5564DC165D9A}"/>
                  </a:ext>
                </a:extLst>
              </p:cNvPr>
              <p:cNvGrpSpPr/>
              <p:nvPr/>
            </p:nvGrpSpPr>
            <p:grpSpPr>
              <a:xfrm>
                <a:off x="797471" y="2116435"/>
                <a:ext cx="540000" cy="720000"/>
                <a:chOff x="1021121" y="2051624"/>
                <a:chExt cx="540000" cy="720000"/>
              </a:xfrm>
            </p:grpSpPr>
            <p:pic>
              <p:nvPicPr>
                <p:cNvPr id="46" name="图形 45" descr="文档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11121" y="2051624"/>
                  <a:ext cx="360000" cy="360000"/>
                </a:xfrm>
                <a:prstGeom prst="rect">
                  <a:avLst/>
                </a:prstGeom>
              </p:spPr>
            </p:pic>
            <p:sp>
              <p:nvSpPr>
                <p:cNvPr id="47" name="文本框 46"/>
                <p:cNvSpPr txBox="1"/>
                <p:nvPr/>
              </p:nvSpPr>
              <p:spPr>
                <a:xfrm>
                  <a:off x="1021121" y="2411624"/>
                  <a:ext cx="540000" cy="36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Optimized</a:t>
                  </a:r>
                </a:p>
                <a:p>
                  <a:pPr algn="ctr"/>
                  <a:r>
                    <a:rPr lang="en-US" altLang="zh-CN" sz="900" dirty="0">
                      <a:latin typeface="Times New Roman" panose="02020603050405020304" pitchFamily="18" charset="0"/>
                      <a:cs typeface="Times New Roman" panose="02020603050405020304" pitchFamily="18" charset="0"/>
                    </a:rPr>
                    <a:t>Content</a:t>
                  </a:r>
                  <a:endParaRPr lang="zh-CN" altLang="en-US" sz="900" dirty="0">
                    <a:latin typeface="Times New Roman" panose="02020603050405020304" pitchFamily="18" charset="0"/>
                    <a:cs typeface="Times New Roman" panose="02020603050405020304" pitchFamily="18" charset="0"/>
                  </a:endParaRPr>
                </a:p>
              </p:txBody>
            </p:sp>
          </p:grpSp>
          <p:grpSp>
            <p:nvGrpSpPr>
              <p:cNvPr id="73" name="组合 72"/>
              <p:cNvGrpSpPr/>
              <p:nvPr/>
            </p:nvGrpSpPr>
            <p:grpSpPr>
              <a:xfrm>
                <a:off x="743471" y="1216435"/>
                <a:ext cx="648000" cy="720000"/>
                <a:chOff x="4818541" y="832130"/>
                <a:chExt cx="648000" cy="720000"/>
              </a:xfrm>
            </p:grpSpPr>
            <p:sp>
              <p:nvSpPr>
                <p:cNvPr id="66" name="文本框 65"/>
                <p:cNvSpPr txBox="1"/>
                <p:nvPr/>
              </p:nvSpPr>
              <p:spPr>
                <a:xfrm>
                  <a:off x="4962541" y="1372130"/>
                  <a:ext cx="36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LLM</a:t>
                  </a:r>
                  <a:endParaRPr lang="zh-CN" altLang="en-US" sz="900" dirty="0">
                    <a:latin typeface="Times New Roman" panose="02020603050405020304" pitchFamily="18" charset="0"/>
                    <a:cs typeface="Times New Roman" panose="02020603050405020304" pitchFamily="18" charset="0"/>
                  </a:endParaRPr>
                </a:p>
              </p:txBody>
            </p:sp>
            <p:pic>
              <p:nvPicPr>
                <p:cNvPr id="67" name="图片 66"/>
                <p:cNvPicPr preferRelativeResize="0"/>
                <p:nvPr/>
              </p:nvPicPr>
              <p:blipFill>
                <a:blip r:embed="rId7">
                  <a:clrChange>
                    <a:clrFrom>
                      <a:srgbClr val="FFFFFF"/>
                    </a:clrFrom>
                    <a:clrTo>
                      <a:srgbClr val="FFFFFF">
                        <a:alpha val="0"/>
                      </a:srgbClr>
                    </a:clrTo>
                  </a:clrChange>
                </a:blip>
                <a:srcRect l="17429" t="13778" r="17936" b="16952"/>
                <a:stretch>
                  <a:fillRect/>
                </a:stretch>
              </p:blipFill>
              <p:spPr>
                <a:xfrm>
                  <a:off x="4818541" y="832130"/>
                  <a:ext cx="648000" cy="540000"/>
                </a:xfrm>
                <a:prstGeom prst="rect">
                  <a:avLst/>
                </a:prstGeom>
              </p:spPr>
            </p:pic>
          </p:grpSp>
          <p:cxnSp>
            <p:nvCxnSpPr>
              <p:cNvPr id="97" name="直接箭头连接符 96"/>
              <p:cNvCxnSpPr>
                <a:stCxn id="66" idx="2"/>
                <a:endCxn id="46" idx="0"/>
              </p:cNvCxnSpPr>
              <p:nvPr/>
            </p:nvCxnSpPr>
            <p:spPr>
              <a:xfrm>
                <a:off x="1067471" y="1936435"/>
                <a:ext cx="0" cy="18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2" name="对话气泡: 矩形 81"/>
            <p:cNvSpPr/>
            <p:nvPr/>
          </p:nvSpPr>
          <p:spPr>
            <a:xfrm>
              <a:off x="1463471" y="312057"/>
              <a:ext cx="1080000" cy="2520000"/>
            </a:xfrm>
            <a:prstGeom prst="wedgeRectCallout">
              <a:avLst>
                <a:gd name="adj1" fmla="val -59800"/>
                <a:gd name="adj2" fmla="val 2646"/>
              </a:avLst>
            </a:prstGeom>
            <a:solidFill>
              <a:schemeClr val="accent6">
                <a:lumMod val="20000"/>
                <a:lumOff val="80000"/>
              </a:schemeClr>
            </a:solidFill>
            <a:ln>
              <a:noFill/>
              <a:prstDash val="dash"/>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 name="组合 14">
              <a:extLst>
                <a:ext uri="{FF2B5EF4-FFF2-40B4-BE49-F238E27FC236}">
                  <a16:creationId xmlns:a16="http://schemas.microsoft.com/office/drawing/2014/main" id="{5857C6F7-BF4B-506C-B65B-D13C7F113757}"/>
                </a:ext>
              </a:extLst>
            </p:cNvPr>
            <p:cNvGrpSpPr/>
            <p:nvPr/>
          </p:nvGrpSpPr>
          <p:grpSpPr>
            <a:xfrm>
              <a:off x="1463471" y="402057"/>
              <a:ext cx="1080000" cy="2430000"/>
              <a:chOff x="1739250" y="90000"/>
              <a:chExt cx="1080000" cy="2430000"/>
            </a:xfrm>
          </p:grpSpPr>
          <p:grpSp>
            <p:nvGrpSpPr>
              <p:cNvPr id="76" name="组合 75"/>
              <p:cNvGrpSpPr/>
              <p:nvPr/>
            </p:nvGrpSpPr>
            <p:grpSpPr>
              <a:xfrm>
                <a:off x="1919250" y="90000"/>
                <a:ext cx="720000" cy="360000"/>
                <a:chOff x="2011910" y="832130"/>
                <a:chExt cx="720000" cy="360000"/>
              </a:xfrm>
            </p:grpSpPr>
            <p:sp>
              <p:nvSpPr>
                <p:cNvPr id="7" name="文本框 6"/>
                <p:cNvSpPr txBox="1"/>
                <p:nvPr/>
              </p:nvSpPr>
              <p:spPr>
                <a:xfrm>
                  <a:off x="2011910" y="1012130"/>
                  <a:ext cx="72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Summarization</a:t>
                  </a:r>
                  <a:endParaRPr lang="zh-CN" altLang="en-US" sz="900" dirty="0">
                    <a:latin typeface="Times New Roman" panose="02020603050405020304" pitchFamily="18" charset="0"/>
                    <a:cs typeface="Times New Roman" panose="02020603050405020304" pitchFamily="18" charset="0"/>
                  </a:endParaRPr>
                </a:p>
              </p:txBody>
            </p:sp>
            <p:grpSp>
              <p:nvGrpSpPr>
                <p:cNvPr id="30" name="组合 29"/>
                <p:cNvGrpSpPr/>
                <p:nvPr/>
              </p:nvGrpSpPr>
              <p:grpSpPr>
                <a:xfrm>
                  <a:off x="2191910" y="832130"/>
                  <a:ext cx="360000" cy="180000"/>
                  <a:chOff x="2228657" y="940678"/>
                  <a:chExt cx="360000" cy="180000"/>
                </a:xfrm>
              </p:grpSpPr>
              <p:sp>
                <p:nvSpPr>
                  <p:cNvPr id="19" name="矩形 18"/>
                  <p:cNvSpPr/>
                  <p:nvPr/>
                </p:nvSpPr>
                <p:spPr>
                  <a:xfrm>
                    <a:off x="2228657" y="940678"/>
                    <a:ext cx="360000" cy="180000"/>
                  </a:xfrm>
                  <a:prstGeom prst="rect">
                    <a:avLst/>
                  </a:prstGeom>
                  <a:noFill/>
                  <a:ln w="22225">
                    <a:solidFill>
                      <a:schemeClr val="tx1"/>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640" dirty="0"/>
                  </a:p>
                </p:txBody>
              </p:sp>
              <p:cxnSp>
                <p:nvCxnSpPr>
                  <p:cNvPr id="21" name="直接连接符 20"/>
                  <p:cNvCxnSpPr/>
                  <p:nvPr/>
                </p:nvCxnSpPr>
                <p:spPr>
                  <a:xfrm>
                    <a:off x="2264657" y="999285"/>
                    <a:ext cx="28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2264657" y="1053285"/>
                    <a:ext cx="28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79" name="组合 78"/>
              <p:cNvGrpSpPr/>
              <p:nvPr/>
            </p:nvGrpSpPr>
            <p:grpSpPr>
              <a:xfrm>
                <a:off x="1919250" y="600000"/>
                <a:ext cx="720000" cy="540000"/>
                <a:chOff x="1733120" y="832130"/>
                <a:chExt cx="720000" cy="540000"/>
              </a:xfrm>
            </p:grpSpPr>
            <p:sp>
              <p:nvSpPr>
                <p:cNvPr id="35" name="思想气泡: 云 34"/>
                <p:cNvSpPr/>
                <p:nvPr/>
              </p:nvSpPr>
              <p:spPr>
                <a:xfrm>
                  <a:off x="1823120" y="832130"/>
                  <a:ext cx="540000" cy="360000"/>
                </a:xfrm>
                <a:prstGeom prst="cloudCallout">
                  <a:avLst>
                    <a:gd name="adj1" fmla="val -65646"/>
                    <a:gd name="adj2" fmla="val 60076"/>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1733120" y="1192130"/>
                  <a:ext cx="72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Initial Intent</a:t>
                  </a:r>
                  <a:endParaRPr lang="zh-CN" altLang="en-US" sz="900" dirty="0">
                    <a:latin typeface="Times New Roman" panose="02020603050405020304" pitchFamily="18" charset="0"/>
                    <a:cs typeface="Times New Roman" panose="02020603050405020304" pitchFamily="18" charset="0"/>
                  </a:endParaRPr>
                </a:p>
              </p:txBody>
            </p:sp>
          </p:grpSp>
          <p:grpSp>
            <p:nvGrpSpPr>
              <p:cNvPr id="77" name="组合 76"/>
              <p:cNvGrpSpPr/>
              <p:nvPr/>
            </p:nvGrpSpPr>
            <p:grpSpPr>
              <a:xfrm>
                <a:off x="1739250" y="1980000"/>
                <a:ext cx="1080000" cy="540000"/>
                <a:chOff x="1944877" y="832130"/>
                <a:chExt cx="1080000" cy="540000"/>
              </a:xfrm>
            </p:grpSpPr>
            <p:sp>
              <p:nvSpPr>
                <p:cNvPr id="45" name="文本框 44"/>
                <p:cNvSpPr txBox="1"/>
                <p:nvPr/>
              </p:nvSpPr>
              <p:spPr>
                <a:xfrm>
                  <a:off x="1944877" y="1192130"/>
                  <a:ext cx="108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Optimization Steps</a:t>
                  </a:r>
                  <a:endParaRPr lang="zh-CN" altLang="en-US" sz="900" dirty="0">
                    <a:latin typeface="Times New Roman" panose="02020603050405020304" pitchFamily="18" charset="0"/>
                    <a:cs typeface="Times New Roman" panose="02020603050405020304" pitchFamily="18" charset="0"/>
                  </a:endParaRPr>
                </a:p>
              </p:txBody>
            </p:sp>
            <p:pic>
              <p:nvPicPr>
                <p:cNvPr id="54" name="图形 53" descr="清单 纯色填充"/>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304877" y="832130"/>
                  <a:ext cx="360000" cy="360000"/>
                </a:xfrm>
                <a:prstGeom prst="rect">
                  <a:avLst/>
                </a:prstGeom>
              </p:spPr>
            </p:pic>
          </p:grpSp>
          <p:grpSp>
            <p:nvGrpSpPr>
              <p:cNvPr id="81" name="组合 80"/>
              <p:cNvGrpSpPr/>
              <p:nvPr/>
            </p:nvGrpSpPr>
            <p:grpSpPr>
              <a:xfrm>
                <a:off x="1919250" y="1290000"/>
                <a:ext cx="720000" cy="540000"/>
                <a:chOff x="2341298" y="1822016"/>
                <a:chExt cx="720000" cy="540000"/>
              </a:xfrm>
            </p:grpSpPr>
            <p:pic>
              <p:nvPicPr>
                <p:cNvPr id="52" name="图形 51" descr="灯泡 纯色填充"/>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611298" y="1912016"/>
                  <a:ext cx="180000" cy="180000"/>
                </a:xfrm>
                <a:prstGeom prst="rect">
                  <a:avLst/>
                </a:prstGeom>
              </p:spPr>
            </p:pic>
            <p:sp>
              <p:nvSpPr>
                <p:cNvPr id="50" name="文本框 49"/>
                <p:cNvSpPr txBox="1"/>
                <p:nvPr/>
              </p:nvSpPr>
              <p:spPr>
                <a:xfrm>
                  <a:off x="2341298" y="2182016"/>
                  <a:ext cx="72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Refined Intent</a:t>
                  </a:r>
                  <a:endParaRPr lang="zh-CN" altLang="en-US" sz="900" dirty="0">
                    <a:latin typeface="Times New Roman" panose="02020603050405020304" pitchFamily="18" charset="0"/>
                    <a:cs typeface="Times New Roman" panose="02020603050405020304" pitchFamily="18" charset="0"/>
                  </a:endParaRPr>
                </a:p>
              </p:txBody>
            </p:sp>
            <p:sp>
              <p:nvSpPr>
                <p:cNvPr id="78" name="思想气泡: 云 77"/>
                <p:cNvSpPr/>
                <p:nvPr/>
              </p:nvSpPr>
              <p:spPr>
                <a:xfrm>
                  <a:off x="2431298" y="1822016"/>
                  <a:ext cx="540000" cy="360000"/>
                </a:xfrm>
                <a:prstGeom prst="cloudCallout">
                  <a:avLst>
                    <a:gd name="adj1" fmla="val -65646"/>
                    <a:gd name="adj2" fmla="val 60076"/>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cxnSp>
          <p:nvCxnSpPr>
            <p:cNvPr id="100" name="直接箭头连接符 99"/>
            <p:cNvCxnSpPr>
              <a:stCxn id="7" idx="2"/>
              <a:endCxn id="35" idx="3"/>
            </p:cNvCxnSpPr>
            <p:nvPr/>
          </p:nvCxnSpPr>
          <p:spPr>
            <a:xfrm>
              <a:off x="2003471" y="762057"/>
              <a:ext cx="0" cy="1705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a:stCxn id="38" idx="2"/>
              <a:endCxn id="78" idx="3"/>
            </p:cNvCxnSpPr>
            <p:nvPr/>
          </p:nvCxnSpPr>
          <p:spPr>
            <a:xfrm>
              <a:off x="2003471" y="1452057"/>
              <a:ext cx="0" cy="170583"/>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a:stCxn id="50" idx="2"/>
              <a:endCxn id="54" idx="0"/>
            </p:cNvCxnSpPr>
            <p:nvPr/>
          </p:nvCxnSpPr>
          <p:spPr>
            <a:xfrm>
              <a:off x="2003471" y="2142057"/>
              <a:ext cx="0" cy="150000"/>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14" name="矩形 613"/>
            <p:cNvSpPr/>
            <p:nvPr/>
          </p:nvSpPr>
          <p:spPr>
            <a:xfrm>
              <a:off x="2543471" y="312057"/>
              <a:ext cx="1260000" cy="2520000"/>
            </a:xfrm>
            <a:prstGeom prst="rect">
              <a:avLst/>
            </a:prstGeom>
            <a:solidFill>
              <a:schemeClr val="accent4">
                <a:lumMod val="20000"/>
                <a:lumOff val="80000"/>
              </a:schemeClr>
            </a:solidFill>
            <a:ln w="12700">
              <a:noFill/>
              <a:prstDash val="dash"/>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640"/>
            </a:p>
          </p:txBody>
        </p:sp>
        <p:sp>
          <p:nvSpPr>
            <p:cNvPr id="39" name="文本框 38"/>
            <p:cNvSpPr txBox="1"/>
            <p:nvPr/>
          </p:nvSpPr>
          <p:spPr>
            <a:xfrm>
              <a:off x="2633471" y="2656435"/>
              <a:ext cx="108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Reflective refinement</a:t>
              </a:r>
              <a:endParaRPr lang="zh-CN" altLang="en-US" sz="900" dirty="0">
                <a:latin typeface="Times New Roman" panose="02020603050405020304" pitchFamily="18" charset="0"/>
                <a:cs typeface="Times New Roman" panose="02020603050405020304" pitchFamily="18" charset="0"/>
              </a:endParaRPr>
            </a:p>
          </p:txBody>
        </p:sp>
        <p:cxnSp>
          <p:nvCxnSpPr>
            <p:cNvPr id="17" name="连接符: 肘形 16">
              <a:extLst>
                <a:ext uri="{FF2B5EF4-FFF2-40B4-BE49-F238E27FC236}">
                  <a16:creationId xmlns:a16="http://schemas.microsoft.com/office/drawing/2014/main" id="{78DAA286-F820-78FD-BA5F-27387F5F77EE}"/>
                </a:ext>
              </a:extLst>
            </p:cNvPr>
            <p:cNvCxnSpPr>
              <a:cxnSpLocks/>
              <a:stCxn id="5" idx="2"/>
              <a:endCxn id="19" idx="1"/>
            </p:cNvCxnSpPr>
            <p:nvPr/>
          </p:nvCxnSpPr>
          <p:spPr>
            <a:xfrm rot="5400000" flipH="1" flipV="1">
              <a:off x="1191282" y="404246"/>
              <a:ext cx="544378" cy="720000"/>
            </a:xfrm>
            <a:prstGeom prst="bentConnector4">
              <a:avLst>
                <a:gd name="adj1" fmla="val -9499"/>
                <a:gd name="adj2" fmla="val 50859"/>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F82B13E9-C32F-7FB3-C859-D2027A589120}"/>
                </a:ext>
              </a:extLst>
            </p:cNvPr>
            <p:cNvCxnSpPr>
              <a:cxnSpLocks/>
              <a:stCxn id="54" idx="1"/>
              <a:endCxn id="46" idx="0"/>
            </p:cNvCxnSpPr>
            <p:nvPr/>
          </p:nvCxnSpPr>
          <p:spPr>
            <a:xfrm rot="10800000">
              <a:off x="1103471" y="2116435"/>
              <a:ext cx="720000" cy="355622"/>
            </a:xfrm>
            <a:prstGeom prst="bentConnector4">
              <a:avLst>
                <a:gd name="adj1" fmla="val 48839"/>
                <a:gd name="adj2" fmla="val 13061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连接符: 肘形 31">
              <a:extLst>
                <a:ext uri="{FF2B5EF4-FFF2-40B4-BE49-F238E27FC236}">
                  <a16:creationId xmlns:a16="http://schemas.microsoft.com/office/drawing/2014/main" id="{9C574234-9CDE-8D8B-DFB0-5825013A5F93}"/>
                </a:ext>
              </a:extLst>
            </p:cNvPr>
            <p:cNvCxnSpPr>
              <a:cxnSpLocks/>
              <a:stCxn id="5" idx="2"/>
              <a:endCxn id="35" idx="3"/>
            </p:cNvCxnSpPr>
            <p:nvPr/>
          </p:nvCxnSpPr>
          <p:spPr>
            <a:xfrm rot="5400000" flipH="1" flipV="1">
              <a:off x="1501573" y="534538"/>
              <a:ext cx="103795" cy="900000"/>
            </a:xfrm>
            <a:prstGeom prst="bentConnector5">
              <a:avLst>
                <a:gd name="adj1" fmla="val -49818"/>
                <a:gd name="adj2" fmla="val 40828"/>
                <a:gd name="adj3" fmla="val 212740"/>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448" name="组合 447">
              <a:extLst>
                <a:ext uri="{FF2B5EF4-FFF2-40B4-BE49-F238E27FC236}">
                  <a16:creationId xmlns:a16="http://schemas.microsoft.com/office/drawing/2014/main" id="{34795A59-2C0E-3E49-DA53-8CC4C630BF32}"/>
                </a:ext>
              </a:extLst>
            </p:cNvPr>
            <p:cNvGrpSpPr/>
            <p:nvPr/>
          </p:nvGrpSpPr>
          <p:grpSpPr>
            <a:xfrm>
              <a:off x="2633471" y="912057"/>
              <a:ext cx="1080000" cy="540000"/>
              <a:chOff x="2633471" y="942057"/>
              <a:chExt cx="1080000" cy="540000"/>
            </a:xfrm>
          </p:grpSpPr>
          <p:sp>
            <p:nvSpPr>
              <p:cNvPr id="62" name="文本框 61"/>
              <p:cNvSpPr txBox="1"/>
              <p:nvPr/>
            </p:nvSpPr>
            <p:spPr>
              <a:xfrm>
                <a:off x="2633471" y="1302057"/>
                <a:ext cx="1080000" cy="180000"/>
              </a:xfrm>
              <a:prstGeom prst="rect">
                <a:avLst/>
              </a:prstGeom>
              <a:noFill/>
            </p:spPr>
            <p:txBody>
              <a:bodyPr wrap="none" rtlCol="0" anchor="ctr">
                <a:spAutoFit/>
              </a:bodyPr>
              <a:lstStyle/>
              <a:p>
                <a:pPr algn="ctr"/>
                <a:r>
                  <a:rPr lang="en-US" altLang="zh-CN" sz="900" b="1" dirty="0">
                    <a:latin typeface="Times New Roman" panose="02020603050405020304" pitchFamily="18" charset="0"/>
                    <a:cs typeface="Times New Roman" panose="02020603050405020304" pitchFamily="18" charset="0"/>
                  </a:rPr>
                  <a:t>WHAT</a:t>
                </a:r>
                <a:r>
                  <a:rPr lang="en-US" altLang="zh-CN" sz="900" dirty="0">
                    <a:latin typeface="Times New Roman" panose="02020603050405020304" pitchFamily="18" charset="0"/>
                    <a:cs typeface="Times New Roman" panose="02020603050405020304" pitchFamily="18" charset="0"/>
                  </a:rPr>
                  <a:t> do they need?</a:t>
                </a:r>
                <a:endParaRPr lang="zh-CN" altLang="en-US" sz="900" dirty="0">
                  <a:latin typeface="Times New Roman" panose="02020603050405020304" pitchFamily="18" charset="0"/>
                  <a:cs typeface="Times New Roman" panose="02020603050405020304" pitchFamily="18" charset="0"/>
                </a:endParaRPr>
              </a:p>
            </p:txBody>
          </p:sp>
          <p:grpSp>
            <p:nvGrpSpPr>
              <p:cNvPr id="421" name="组合 420"/>
              <p:cNvGrpSpPr/>
              <p:nvPr/>
            </p:nvGrpSpPr>
            <p:grpSpPr>
              <a:xfrm>
                <a:off x="2993471" y="942057"/>
                <a:ext cx="360000" cy="360000"/>
                <a:chOff x="2273414" y="3540000"/>
                <a:chExt cx="360000" cy="360000"/>
              </a:xfrm>
            </p:grpSpPr>
            <p:pic>
              <p:nvPicPr>
                <p:cNvPr id="428" name="图形 427" descr="目标 纯色填充"/>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327414" y="3594355"/>
                  <a:ext cx="180000" cy="180000"/>
                </a:xfrm>
                <a:prstGeom prst="rect">
                  <a:avLst/>
                </a:prstGeom>
              </p:spPr>
            </p:pic>
            <p:pic>
              <p:nvPicPr>
                <p:cNvPr id="429" name="图形 428" descr="放大镜 纯色填充"/>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273414" y="3540000"/>
                  <a:ext cx="360000" cy="360000"/>
                </a:xfrm>
                <a:prstGeom prst="rect">
                  <a:avLst/>
                </a:prstGeom>
              </p:spPr>
            </p:pic>
          </p:grpSp>
        </p:grpSp>
        <p:grpSp>
          <p:nvGrpSpPr>
            <p:cNvPr id="449" name="组合 448">
              <a:extLst>
                <a:ext uri="{FF2B5EF4-FFF2-40B4-BE49-F238E27FC236}">
                  <a16:creationId xmlns:a16="http://schemas.microsoft.com/office/drawing/2014/main" id="{C4C2E63C-4E33-F5B9-2DB0-56C6ACF5C385}"/>
                </a:ext>
              </a:extLst>
            </p:cNvPr>
            <p:cNvGrpSpPr/>
            <p:nvPr/>
          </p:nvGrpSpPr>
          <p:grpSpPr>
            <a:xfrm>
              <a:off x="2633471" y="1512057"/>
              <a:ext cx="1080000" cy="540000"/>
              <a:chOff x="2633471" y="1482057"/>
              <a:chExt cx="1080000" cy="540000"/>
            </a:xfrm>
          </p:grpSpPr>
          <p:sp>
            <p:nvSpPr>
              <p:cNvPr id="63" name="文本框 62"/>
              <p:cNvSpPr txBox="1"/>
              <p:nvPr/>
            </p:nvSpPr>
            <p:spPr>
              <a:xfrm>
                <a:off x="2633471" y="1842057"/>
                <a:ext cx="1080000" cy="180000"/>
              </a:xfrm>
              <a:prstGeom prst="rect">
                <a:avLst/>
              </a:prstGeom>
              <a:noFill/>
            </p:spPr>
            <p:txBody>
              <a:bodyPr wrap="none" rtlCol="0" anchor="ctr">
                <a:spAutoFit/>
              </a:bodyPr>
              <a:lstStyle/>
              <a:p>
                <a:pPr algn="ctr"/>
                <a:r>
                  <a:rPr lang="en-US" altLang="zh-CN" sz="900" b="1" dirty="0">
                    <a:latin typeface="Times New Roman" panose="02020603050405020304" pitchFamily="18" charset="0"/>
                    <a:cs typeface="Times New Roman" panose="02020603050405020304" pitchFamily="18" charset="0"/>
                  </a:rPr>
                  <a:t>WHY</a:t>
                </a:r>
                <a:r>
                  <a:rPr lang="en-US" altLang="zh-CN" sz="900" dirty="0">
                    <a:latin typeface="Times New Roman" panose="02020603050405020304" pitchFamily="18" charset="0"/>
                    <a:cs typeface="Times New Roman" panose="02020603050405020304" pitchFamily="18" charset="0"/>
                  </a:rPr>
                  <a:t> the mismatches?</a:t>
                </a:r>
                <a:endParaRPr lang="zh-CN" altLang="en-US" sz="900" dirty="0">
                  <a:latin typeface="Times New Roman" panose="02020603050405020304" pitchFamily="18" charset="0"/>
                  <a:cs typeface="Times New Roman" panose="02020603050405020304" pitchFamily="18" charset="0"/>
                </a:endParaRPr>
              </a:p>
            </p:txBody>
          </p:sp>
          <p:grpSp>
            <p:nvGrpSpPr>
              <p:cNvPr id="574" name="组合 573"/>
              <p:cNvGrpSpPr/>
              <p:nvPr/>
            </p:nvGrpSpPr>
            <p:grpSpPr>
              <a:xfrm>
                <a:off x="2903471" y="1482057"/>
                <a:ext cx="540000" cy="360000"/>
                <a:chOff x="3763128" y="2862505"/>
                <a:chExt cx="540000" cy="360000"/>
              </a:xfrm>
            </p:grpSpPr>
            <p:grpSp>
              <p:nvGrpSpPr>
                <p:cNvPr id="575" name="组合 574"/>
                <p:cNvGrpSpPr/>
                <p:nvPr/>
              </p:nvGrpSpPr>
              <p:grpSpPr>
                <a:xfrm>
                  <a:off x="4033128" y="2862505"/>
                  <a:ext cx="180000" cy="180000"/>
                  <a:chOff x="2273414" y="3540000"/>
                  <a:chExt cx="360000" cy="360000"/>
                </a:xfrm>
              </p:grpSpPr>
              <p:pic>
                <p:nvPicPr>
                  <p:cNvPr id="580" name="图形 579" descr="目标 纯色填充"/>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327414" y="3594355"/>
                    <a:ext cx="180000" cy="180000"/>
                  </a:xfrm>
                  <a:prstGeom prst="rect">
                    <a:avLst/>
                  </a:prstGeom>
                </p:spPr>
              </p:pic>
              <p:pic>
                <p:nvPicPr>
                  <p:cNvPr id="581" name="图形 580" descr="放大镜 纯色填充"/>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273414" y="3540000"/>
                    <a:ext cx="360000" cy="360000"/>
                  </a:xfrm>
                  <a:prstGeom prst="rect">
                    <a:avLst/>
                  </a:prstGeom>
                </p:spPr>
              </p:pic>
            </p:grpSp>
            <p:sp>
              <p:nvSpPr>
                <p:cNvPr id="576" name="思想气泡: 云 575"/>
                <p:cNvSpPr/>
                <p:nvPr/>
              </p:nvSpPr>
              <p:spPr>
                <a:xfrm>
                  <a:off x="3943128" y="3042505"/>
                  <a:ext cx="360000" cy="180000"/>
                </a:xfrm>
                <a:prstGeom prst="cloudCallout">
                  <a:avLst>
                    <a:gd name="adj1" fmla="val -65646"/>
                    <a:gd name="adj2" fmla="val 60076"/>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7" name="图形 576" descr="问号 纯色填充"/>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763128" y="2862505"/>
                  <a:ext cx="180000" cy="180000"/>
                </a:xfrm>
                <a:prstGeom prst="rect">
                  <a:avLst/>
                </a:prstGeom>
              </p:spPr>
            </p:pic>
            <p:pic>
              <p:nvPicPr>
                <p:cNvPr id="578" name="图形 577" descr="关闭 纯色填充"/>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763128" y="2982505"/>
                  <a:ext cx="180000" cy="180000"/>
                </a:xfrm>
                <a:prstGeom prst="rect">
                  <a:avLst/>
                </a:prstGeom>
              </p:spPr>
            </p:pic>
            <p:cxnSp>
              <p:nvCxnSpPr>
                <p:cNvPr id="579" name="连接符: 曲线 578"/>
                <p:cNvCxnSpPr>
                  <a:stCxn id="581" idx="1"/>
                  <a:endCxn id="576" idx="0"/>
                </p:cNvCxnSpPr>
                <p:nvPr/>
              </p:nvCxnSpPr>
              <p:spPr>
                <a:xfrm rot="10800000" flipV="1">
                  <a:off x="3944246" y="2952505"/>
                  <a:ext cx="88883" cy="180000"/>
                </a:xfrm>
                <a:prstGeom prst="curvedConnector3">
                  <a:avLst>
                    <a:gd name="adj1" fmla="val 21148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grpSp>
        </p:grpSp>
        <p:grpSp>
          <p:nvGrpSpPr>
            <p:cNvPr id="450" name="组合 449">
              <a:extLst>
                <a:ext uri="{FF2B5EF4-FFF2-40B4-BE49-F238E27FC236}">
                  <a16:creationId xmlns:a16="http://schemas.microsoft.com/office/drawing/2014/main" id="{1F450CCD-550C-D017-28E0-38FCCDD235FE}"/>
                </a:ext>
              </a:extLst>
            </p:cNvPr>
            <p:cNvGrpSpPr/>
            <p:nvPr/>
          </p:nvGrpSpPr>
          <p:grpSpPr>
            <a:xfrm>
              <a:off x="2633471" y="2112057"/>
              <a:ext cx="1080000" cy="540000"/>
              <a:chOff x="2633471" y="2022057"/>
              <a:chExt cx="1080000" cy="540000"/>
            </a:xfrm>
          </p:grpSpPr>
          <p:sp>
            <p:nvSpPr>
              <p:cNvPr id="65" name="文本框 64"/>
              <p:cNvSpPr txBox="1"/>
              <p:nvPr/>
            </p:nvSpPr>
            <p:spPr>
              <a:xfrm>
                <a:off x="2633471" y="2382057"/>
                <a:ext cx="1080000" cy="180000"/>
              </a:xfrm>
              <a:prstGeom prst="rect">
                <a:avLst/>
              </a:prstGeom>
              <a:noFill/>
            </p:spPr>
            <p:txBody>
              <a:bodyPr wrap="none" rtlCol="0" anchor="ctr">
                <a:spAutoFit/>
              </a:bodyPr>
              <a:lstStyle/>
              <a:p>
                <a:pPr algn="ctr"/>
                <a:r>
                  <a:rPr lang="en-US" altLang="zh-CN" sz="900" b="1" dirty="0">
                    <a:latin typeface="Times New Roman" panose="02020603050405020304" pitchFamily="18" charset="0"/>
                    <a:cs typeface="Times New Roman" panose="02020603050405020304" pitchFamily="18" charset="0"/>
                  </a:rPr>
                  <a:t>HOW</a:t>
                </a:r>
                <a:r>
                  <a:rPr lang="en-US" altLang="zh-CN" sz="900" dirty="0">
                    <a:latin typeface="Times New Roman" panose="02020603050405020304" pitchFamily="18" charset="0"/>
                    <a:cs typeface="Times New Roman" panose="02020603050405020304" pitchFamily="18" charset="0"/>
                  </a:rPr>
                  <a:t> to generalize?</a:t>
                </a:r>
                <a:endParaRPr lang="zh-CN" altLang="en-US" sz="900" dirty="0">
                  <a:latin typeface="Times New Roman" panose="02020603050405020304" pitchFamily="18" charset="0"/>
                  <a:cs typeface="Times New Roman" panose="02020603050405020304" pitchFamily="18" charset="0"/>
                </a:endParaRPr>
              </a:p>
            </p:txBody>
          </p:sp>
          <p:pic>
            <p:nvPicPr>
              <p:cNvPr id="44" name="图形 43" descr="聊天 纯色填充">
                <a:extLst>
                  <a:ext uri="{FF2B5EF4-FFF2-40B4-BE49-F238E27FC236}">
                    <a16:creationId xmlns:a16="http://schemas.microsoft.com/office/drawing/2014/main" id="{577A13C8-8A76-DA1F-06A9-3FFB048CE6B6}"/>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2993471" y="2022057"/>
                <a:ext cx="360000" cy="360000"/>
              </a:xfrm>
              <a:prstGeom prst="rect">
                <a:avLst/>
              </a:prstGeom>
            </p:spPr>
          </p:pic>
        </p:grpSp>
        <p:grpSp>
          <p:nvGrpSpPr>
            <p:cNvPr id="59" name="组合 58">
              <a:extLst>
                <a:ext uri="{FF2B5EF4-FFF2-40B4-BE49-F238E27FC236}">
                  <a16:creationId xmlns:a16="http://schemas.microsoft.com/office/drawing/2014/main" id="{0776645A-A11F-22B0-4266-3994638AB26D}"/>
                </a:ext>
              </a:extLst>
            </p:cNvPr>
            <p:cNvGrpSpPr/>
            <p:nvPr/>
          </p:nvGrpSpPr>
          <p:grpSpPr>
            <a:xfrm>
              <a:off x="2633471" y="312057"/>
              <a:ext cx="1080000" cy="540000"/>
              <a:chOff x="2633471" y="312057"/>
              <a:chExt cx="1080000" cy="540000"/>
            </a:xfrm>
          </p:grpSpPr>
          <p:sp>
            <p:nvSpPr>
              <p:cNvPr id="61" name="文本框 60"/>
              <p:cNvSpPr txBox="1"/>
              <p:nvPr/>
            </p:nvSpPr>
            <p:spPr>
              <a:xfrm>
                <a:off x="2633471" y="672057"/>
                <a:ext cx="1080000" cy="180000"/>
              </a:xfrm>
              <a:prstGeom prst="rect">
                <a:avLst/>
              </a:prstGeom>
              <a:noFill/>
            </p:spPr>
            <p:txBody>
              <a:bodyPr wrap="none" rtlCol="0" anchor="ctr">
                <a:spAutoFit/>
              </a:bodyPr>
              <a:lstStyle/>
              <a:p>
                <a:pPr algn="ctr"/>
                <a:r>
                  <a:rPr lang="en-US" altLang="zh-CN" sz="900" b="1" dirty="0">
                    <a:latin typeface="Times New Roman" panose="02020603050405020304" pitchFamily="18" charset="0"/>
                    <a:cs typeface="Times New Roman" panose="02020603050405020304" pitchFamily="18" charset="0"/>
                  </a:rPr>
                  <a:t>WHO</a:t>
                </a:r>
                <a:r>
                  <a:rPr lang="en-US" altLang="zh-CN" sz="900" dirty="0">
                    <a:latin typeface="Times New Roman" panose="02020603050405020304" pitchFamily="18" charset="0"/>
                    <a:cs typeface="Times New Roman" panose="02020603050405020304" pitchFamily="18" charset="0"/>
                  </a:rPr>
                  <a:t> will search?</a:t>
                </a:r>
                <a:endParaRPr lang="zh-CN" altLang="en-US" sz="900" dirty="0">
                  <a:latin typeface="Times New Roman" panose="02020603050405020304" pitchFamily="18" charset="0"/>
                  <a:cs typeface="Times New Roman" panose="02020603050405020304" pitchFamily="18" charset="0"/>
                </a:endParaRPr>
              </a:p>
            </p:txBody>
          </p:sp>
          <p:pic>
            <p:nvPicPr>
              <p:cNvPr id="42" name="图形 41" descr="用户 纯色填充"/>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2993471" y="312057"/>
                <a:ext cx="360000" cy="360000"/>
              </a:xfrm>
              <a:prstGeom prst="rect">
                <a:avLst/>
              </a:prstGeom>
            </p:spPr>
          </p:pic>
        </p:grpSp>
        <p:cxnSp>
          <p:nvCxnSpPr>
            <p:cNvPr id="457" name="连接符: 肘形 456">
              <a:extLst>
                <a:ext uri="{FF2B5EF4-FFF2-40B4-BE49-F238E27FC236}">
                  <a16:creationId xmlns:a16="http://schemas.microsoft.com/office/drawing/2014/main" id="{6B26618A-40F8-9E1B-9C0D-6716D896095F}"/>
                </a:ext>
              </a:extLst>
            </p:cNvPr>
            <p:cNvCxnSpPr>
              <a:cxnSpLocks/>
              <a:endCxn id="42" idx="1"/>
            </p:cNvCxnSpPr>
            <p:nvPr/>
          </p:nvCxnSpPr>
          <p:spPr>
            <a:xfrm flipV="1">
              <a:off x="2273471" y="492057"/>
              <a:ext cx="720000" cy="600000"/>
            </a:xfrm>
            <a:prstGeom prst="bentConnector3">
              <a:avLst>
                <a:gd name="adj1" fmla="val 37148"/>
              </a:avLst>
            </a:prstGeom>
            <a:ln>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9" name="连接符: 肘形 458">
              <a:extLst>
                <a:ext uri="{FF2B5EF4-FFF2-40B4-BE49-F238E27FC236}">
                  <a16:creationId xmlns:a16="http://schemas.microsoft.com/office/drawing/2014/main" id="{E01E672E-C8C8-04E5-04EE-E951E1DA5AD3}"/>
                </a:ext>
              </a:extLst>
            </p:cNvPr>
            <p:cNvCxnSpPr>
              <a:cxnSpLocks/>
              <a:stCxn id="42" idx="3"/>
              <a:endCxn id="429" idx="3"/>
            </p:cNvCxnSpPr>
            <p:nvPr/>
          </p:nvCxnSpPr>
          <p:spPr>
            <a:xfrm>
              <a:off x="3353471" y="492057"/>
              <a:ext cx="12700" cy="600000"/>
            </a:xfrm>
            <a:prstGeom prst="bentConnector3">
              <a:avLst>
                <a:gd name="adj1" fmla="val 3042858"/>
              </a:avLst>
            </a:prstGeom>
            <a:ln>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3" name="连接符: 肘形 462">
              <a:extLst>
                <a:ext uri="{FF2B5EF4-FFF2-40B4-BE49-F238E27FC236}">
                  <a16:creationId xmlns:a16="http://schemas.microsoft.com/office/drawing/2014/main" id="{978E34C4-40E2-A983-C3F8-520B714B9CCD}"/>
                </a:ext>
              </a:extLst>
            </p:cNvPr>
            <p:cNvCxnSpPr>
              <a:cxnSpLocks/>
              <a:stCxn id="429" idx="1"/>
              <a:endCxn id="578" idx="1"/>
            </p:cNvCxnSpPr>
            <p:nvPr/>
          </p:nvCxnSpPr>
          <p:spPr>
            <a:xfrm rot="10800000" flipV="1">
              <a:off x="2903471" y="1092057"/>
              <a:ext cx="90000" cy="630000"/>
            </a:xfrm>
            <a:prstGeom prst="bentConnector3">
              <a:avLst>
                <a:gd name="adj1" fmla="val 411451"/>
              </a:avLst>
            </a:prstGeom>
            <a:ln>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2" name="连接符: 肘形 471">
              <a:extLst>
                <a:ext uri="{FF2B5EF4-FFF2-40B4-BE49-F238E27FC236}">
                  <a16:creationId xmlns:a16="http://schemas.microsoft.com/office/drawing/2014/main" id="{877ADC69-1A55-D0A8-1E13-35EB4BAC02E1}"/>
                </a:ext>
              </a:extLst>
            </p:cNvPr>
            <p:cNvCxnSpPr>
              <a:cxnSpLocks/>
              <a:stCxn id="576" idx="2"/>
              <a:endCxn id="44" idx="3"/>
            </p:cNvCxnSpPr>
            <p:nvPr/>
          </p:nvCxnSpPr>
          <p:spPr>
            <a:xfrm flipH="1">
              <a:off x="3353471" y="1782057"/>
              <a:ext cx="89700" cy="510000"/>
            </a:xfrm>
            <a:prstGeom prst="bentConnector3">
              <a:avLst>
                <a:gd name="adj1" fmla="val -340134"/>
              </a:avLst>
            </a:prstGeom>
            <a:ln>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7" name="连接符: 肘形 476">
              <a:extLst>
                <a:ext uri="{FF2B5EF4-FFF2-40B4-BE49-F238E27FC236}">
                  <a16:creationId xmlns:a16="http://schemas.microsoft.com/office/drawing/2014/main" id="{57E096F8-59D4-D9A6-3B52-CA50AD582017}"/>
                </a:ext>
              </a:extLst>
            </p:cNvPr>
            <p:cNvCxnSpPr>
              <a:cxnSpLocks/>
              <a:stCxn id="44" idx="1"/>
              <a:endCxn id="54" idx="3"/>
            </p:cNvCxnSpPr>
            <p:nvPr/>
          </p:nvCxnSpPr>
          <p:spPr>
            <a:xfrm rot="10800000" flipV="1">
              <a:off x="2183471" y="2292057"/>
              <a:ext cx="810000" cy="180000"/>
            </a:xfrm>
            <a:prstGeom prst="bentConnector3">
              <a:avLst>
                <a:gd name="adj1" fmla="val 55376"/>
              </a:avLst>
            </a:prstGeom>
            <a:ln>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02" name="对话气泡: 矩形 501">
              <a:extLst>
                <a:ext uri="{FF2B5EF4-FFF2-40B4-BE49-F238E27FC236}">
                  <a16:creationId xmlns:a16="http://schemas.microsoft.com/office/drawing/2014/main" id="{C3297F3E-B01F-2892-E626-73E635CAF96C}"/>
                </a:ext>
              </a:extLst>
            </p:cNvPr>
            <p:cNvSpPr/>
            <p:nvPr/>
          </p:nvSpPr>
          <p:spPr>
            <a:xfrm>
              <a:off x="1469821" y="312057"/>
              <a:ext cx="2340000" cy="2520000"/>
            </a:xfrm>
            <a:prstGeom prst="wedgeRectCallout">
              <a:avLst>
                <a:gd name="adj1" fmla="val -54605"/>
                <a:gd name="adj2" fmla="val 3294"/>
              </a:avLst>
            </a:prstGeom>
            <a:noFill/>
            <a:ln>
              <a:solidFill>
                <a:schemeClr val="tx1"/>
              </a:solidFill>
              <a:prstDash val="dash"/>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 name="连接符: 肘形 1">
              <a:extLst>
                <a:ext uri="{FF2B5EF4-FFF2-40B4-BE49-F238E27FC236}">
                  <a16:creationId xmlns:a16="http://schemas.microsoft.com/office/drawing/2014/main" id="{468CA778-E94C-B321-6922-1614B54DB1EB}"/>
                </a:ext>
              </a:extLst>
            </p:cNvPr>
            <p:cNvCxnSpPr>
              <a:cxnSpLocks/>
              <a:stCxn id="35" idx="0"/>
            </p:cNvCxnSpPr>
            <p:nvPr/>
          </p:nvCxnSpPr>
          <p:spPr>
            <a:xfrm rot="10800000" flipH="1" flipV="1">
              <a:off x="1735145" y="1092057"/>
              <a:ext cx="268325" cy="1200000"/>
            </a:xfrm>
            <a:prstGeom prst="bentConnector4">
              <a:avLst>
                <a:gd name="adj1" fmla="val -85195"/>
                <a:gd name="adj2" fmla="val 90838"/>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 name="矩形 508"/>
          <p:cNvSpPr/>
          <p:nvPr/>
        </p:nvSpPr>
        <p:spPr>
          <a:xfrm>
            <a:off x="106200" y="-534472"/>
            <a:ext cx="7560000" cy="52564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48" name="图片 547"/>
          <p:cNvPicPr>
            <a:picLocks noChangeAspect="1"/>
          </p:cNvPicPr>
          <p:nvPr/>
        </p:nvPicPr>
        <p:blipFill>
          <a:blip r:embed="rId3"/>
          <a:stretch>
            <a:fillRect/>
          </a:stretch>
        </p:blipFill>
        <p:spPr>
          <a:xfrm>
            <a:off x="0" y="-3151675"/>
            <a:ext cx="7772400" cy="3123221"/>
          </a:xfrm>
          <a:prstGeom prst="rect">
            <a:avLst/>
          </a:prstGeom>
        </p:spPr>
      </p:pic>
      <p:grpSp>
        <p:nvGrpSpPr>
          <p:cNvPr id="2" name="组合 1">
            <a:extLst>
              <a:ext uri="{FF2B5EF4-FFF2-40B4-BE49-F238E27FC236}">
                <a16:creationId xmlns:a16="http://schemas.microsoft.com/office/drawing/2014/main" id="{299D4693-9BA5-E6ED-EB28-F9162857C816}"/>
              </a:ext>
            </a:extLst>
          </p:cNvPr>
          <p:cNvGrpSpPr/>
          <p:nvPr/>
        </p:nvGrpSpPr>
        <p:grpSpPr>
          <a:xfrm>
            <a:off x="730866" y="0"/>
            <a:ext cx="5940000" cy="3240000"/>
            <a:chOff x="730866" y="0"/>
            <a:chExt cx="5940000" cy="3240000"/>
          </a:xfrm>
        </p:grpSpPr>
        <p:sp>
          <p:nvSpPr>
            <p:cNvPr id="27" name="文本框 26"/>
            <p:cNvSpPr txBox="1"/>
            <p:nvPr/>
          </p:nvSpPr>
          <p:spPr>
            <a:xfrm>
              <a:off x="2801634" y="810000"/>
              <a:ext cx="36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LLM</a:t>
              </a:r>
              <a:endParaRPr lang="zh-CN" altLang="en-US" sz="900" dirty="0">
                <a:latin typeface="Times New Roman" panose="02020603050405020304" pitchFamily="18" charset="0"/>
                <a:cs typeface="Times New Roman" panose="02020603050405020304" pitchFamily="18" charset="0"/>
              </a:endParaRPr>
            </a:p>
          </p:txBody>
        </p:sp>
        <p:pic>
          <p:nvPicPr>
            <p:cNvPr id="28" name="图片 27"/>
            <p:cNvPicPr preferRelativeResize="0"/>
            <p:nvPr/>
          </p:nvPicPr>
          <p:blipFill>
            <a:blip r:embed="rId4">
              <a:clrChange>
                <a:clrFrom>
                  <a:srgbClr val="FFFFFF"/>
                </a:clrFrom>
                <a:clrTo>
                  <a:srgbClr val="FFFFFF">
                    <a:alpha val="0"/>
                  </a:srgbClr>
                </a:clrTo>
              </a:clrChange>
            </a:blip>
            <a:srcRect l="17429" t="13778" r="17936" b="16952"/>
            <a:stretch>
              <a:fillRect/>
            </a:stretch>
          </p:blipFill>
          <p:spPr>
            <a:xfrm>
              <a:off x="2657634" y="270000"/>
              <a:ext cx="648000" cy="540000"/>
            </a:xfrm>
            <a:prstGeom prst="rect">
              <a:avLst/>
            </a:prstGeom>
          </p:spPr>
        </p:pic>
        <p:sp>
          <p:nvSpPr>
            <p:cNvPr id="390" name="矩形 389"/>
            <p:cNvSpPr/>
            <p:nvPr/>
          </p:nvSpPr>
          <p:spPr>
            <a:xfrm>
              <a:off x="730868" y="360000"/>
              <a:ext cx="540000" cy="2880000"/>
            </a:xfrm>
            <a:prstGeom prst="rect">
              <a:avLst/>
            </a:prstGeom>
            <a:solidFill>
              <a:schemeClr val="accent1">
                <a:lumMod val="20000"/>
                <a:lumOff val="8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1" name="矩形 390"/>
            <p:cNvSpPr/>
            <p:nvPr/>
          </p:nvSpPr>
          <p:spPr>
            <a:xfrm>
              <a:off x="1810868" y="360000"/>
              <a:ext cx="720000" cy="2880000"/>
            </a:xfrm>
            <a:prstGeom prst="rect">
              <a:avLst/>
            </a:prstGeom>
            <a:solidFill>
              <a:schemeClr val="accent6">
                <a:lumMod val="20000"/>
                <a:lumOff val="8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5" name="直接箭头连接符 394"/>
            <p:cNvCxnSpPr>
              <a:stCxn id="397" idx="3"/>
              <a:endCxn id="409" idx="1"/>
            </p:cNvCxnSpPr>
            <p:nvPr/>
          </p:nvCxnSpPr>
          <p:spPr>
            <a:xfrm>
              <a:off x="1180868" y="540000"/>
              <a:ext cx="8115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97" name="图形 396" descr="文档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0868" y="360000"/>
              <a:ext cx="360000" cy="360000"/>
            </a:xfrm>
            <a:prstGeom prst="rect">
              <a:avLst/>
            </a:prstGeom>
          </p:spPr>
        </p:pic>
        <p:sp>
          <p:nvSpPr>
            <p:cNvPr id="398" name="文本框 397"/>
            <p:cNvSpPr txBox="1"/>
            <p:nvPr/>
          </p:nvSpPr>
          <p:spPr>
            <a:xfrm>
              <a:off x="730868" y="720000"/>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Content 1</a:t>
              </a:r>
              <a:endParaRPr lang="zh-CN" altLang="en-US" sz="900" dirty="0">
                <a:latin typeface="Times New Roman" panose="02020603050405020304" pitchFamily="18" charset="0"/>
                <a:cs typeface="Times New Roman" panose="02020603050405020304" pitchFamily="18" charset="0"/>
              </a:endParaRPr>
            </a:p>
          </p:txBody>
        </p:sp>
        <p:pic>
          <p:nvPicPr>
            <p:cNvPr id="409" name="图形 408" descr="文档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92401" y="360000"/>
              <a:ext cx="360000" cy="360000"/>
            </a:xfrm>
            <a:prstGeom prst="rect">
              <a:avLst/>
            </a:prstGeom>
          </p:spPr>
        </p:pic>
        <p:sp>
          <p:nvSpPr>
            <p:cNvPr id="411" name="文本框 410"/>
            <p:cNvSpPr txBox="1"/>
            <p:nvPr/>
          </p:nvSpPr>
          <p:spPr>
            <a:xfrm>
              <a:off x="1902401" y="720000"/>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Content 1</a:t>
              </a:r>
              <a:endParaRPr lang="zh-CN" altLang="en-US" sz="900" dirty="0">
                <a:latin typeface="Times New Roman" panose="02020603050405020304" pitchFamily="18" charset="0"/>
                <a:cs typeface="Times New Roman" panose="02020603050405020304" pitchFamily="18" charset="0"/>
              </a:endParaRPr>
            </a:p>
          </p:txBody>
        </p:sp>
        <p:sp>
          <p:nvSpPr>
            <p:cNvPr id="423" name="文本框 422"/>
            <p:cNvSpPr txBox="1"/>
            <p:nvPr/>
          </p:nvSpPr>
          <p:spPr>
            <a:xfrm>
              <a:off x="1270868" y="360000"/>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maintain</a:t>
              </a:r>
              <a:endParaRPr lang="zh-CN" altLang="en-US" sz="900" dirty="0">
                <a:latin typeface="Times New Roman" panose="02020603050405020304" pitchFamily="18" charset="0"/>
                <a:cs typeface="Times New Roman" panose="02020603050405020304" pitchFamily="18" charset="0"/>
              </a:endParaRPr>
            </a:p>
          </p:txBody>
        </p:sp>
        <p:cxnSp>
          <p:nvCxnSpPr>
            <p:cNvPr id="392" name="直接箭头连接符 391"/>
            <p:cNvCxnSpPr>
              <a:stCxn id="399" idx="3"/>
              <a:endCxn id="412" idx="1"/>
            </p:cNvCxnSpPr>
            <p:nvPr/>
          </p:nvCxnSpPr>
          <p:spPr>
            <a:xfrm>
              <a:off x="1180868" y="1131354"/>
              <a:ext cx="8115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99" name="图形 398" descr="文档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0868" y="951354"/>
              <a:ext cx="360000" cy="360000"/>
            </a:xfrm>
            <a:prstGeom prst="rect">
              <a:avLst/>
            </a:prstGeom>
          </p:spPr>
        </p:pic>
        <p:sp>
          <p:nvSpPr>
            <p:cNvPr id="400" name="文本框 399"/>
            <p:cNvSpPr txBox="1"/>
            <p:nvPr/>
          </p:nvSpPr>
          <p:spPr>
            <a:xfrm>
              <a:off x="730868" y="1311354"/>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Content 2</a:t>
              </a:r>
              <a:endParaRPr lang="zh-CN" altLang="en-US" sz="900" dirty="0">
                <a:latin typeface="Times New Roman" panose="02020603050405020304" pitchFamily="18" charset="0"/>
                <a:cs typeface="Times New Roman" panose="02020603050405020304" pitchFamily="18" charset="0"/>
              </a:endParaRPr>
            </a:p>
          </p:txBody>
        </p:sp>
        <p:pic>
          <p:nvPicPr>
            <p:cNvPr id="412" name="图形 411" descr="文档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92401" y="951354"/>
              <a:ext cx="360000" cy="360000"/>
            </a:xfrm>
            <a:prstGeom prst="rect">
              <a:avLst/>
            </a:prstGeom>
          </p:spPr>
        </p:pic>
        <p:sp>
          <p:nvSpPr>
            <p:cNvPr id="413" name="文本框 412"/>
            <p:cNvSpPr txBox="1"/>
            <p:nvPr/>
          </p:nvSpPr>
          <p:spPr>
            <a:xfrm>
              <a:off x="1902401" y="1311354"/>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Content 2</a:t>
              </a:r>
              <a:endParaRPr lang="zh-CN" altLang="en-US" sz="900" dirty="0">
                <a:latin typeface="Times New Roman" panose="02020603050405020304" pitchFamily="18" charset="0"/>
                <a:cs typeface="Times New Roman" panose="02020603050405020304" pitchFamily="18" charset="0"/>
              </a:endParaRPr>
            </a:p>
          </p:txBody>
        </p:sp>
        <p:sp>
          <p:nvSpPr>
            <p:cNvPr id="424" name="文本框 423"/>
            <p:cNvSpPr txBox="1"/>
            <p:nvPr/>
          </p:nvSpPr>
          <p:spPr>
            <a:xfrm>
              <a:off x="1270868" y="951354"/>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maintain</a:t>
              </a:r>
              <a:endParaRPr lang="zh-CN" altLang="en-US" sz="900" dirty="0">
                <a:latin typeface="Times New Roman" panose="02020603050405020304" pitchFamily="18" charset="0"/>
                <a:cs typeface="Times New Roman" panose="02020603050405020304" pitchFamily="18" charset="0"/>
              </a:endParaRPr>
            </a:p>
          </p:txBody>
        </p:sp>
        <p:cxnSp>
          <p:nvCxnSpPr>
            <p:cNvPr id="393" name="直接箭头连接符 392"/>
            <p:cNvCxnSpPr>
              <a:stCxn id="402" idx="3"/>
              <a:endCxn id="414" idx="1"/>
            </p:cNvCxnSpPr>
            <p:nvPr/>
          </p:nvCxnSpPr>
          <p:spPr>
            <a:xfrm>
              <a:off x="1180868" y="1722708"/>
              <a:ext cx="8115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02" name="图形 401" descr="文档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0868" y="1542708"/>
              <a:ext cx="360000" cy="360000"/>
            </a:xfrm>
            <a:prstGeom prst="rect">
              <a:avLst/>
            </a:prstGeom>
          </p:spPr>
        </p:pic>
        <p:sp>
          <p:nvSpPr>
            <p:cNvPr id="403" name="文本框 402"/>
            <p:cNvSpPr txBox="1"/>
            <p:nvPr/>
          </p:nvSpPr>
          <p:spPr>
            <a:xfrm>
              <a:off x="730868" y="1902708"/>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Content 3</a:t>
              </a:r>
              <a:endParaRPr lang="zh-CN" altLang="en-US" sz="900" dirty="0">
                <a:latin typeface="Times New Roman" panose="02020603050405020304" pitchFamily="18" charset="0"/>
                <a:cs typeface="Times New Roman" panose="02020603050405020304" pitchFamily="18" charset="0"/>
              </a:endParaRPr>
            </a:p>
          </p:txBody>
        </p:sp>
        <p:pic>
          <p:nvPicPr>
            <p:cNvPr id="414" name="图形 413" descr="文档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92401" y="1542708"/>
              <a:ext cx="360000" cy="360000"/>
            </a:xfrm>
            <a:prstGeom prst="rect">
              <a:avLst/>
            </a:prstGeom>
          </p:spPr>
        </p:pic>
        <p:sp>
          <p:nvSpPr>
            <p:cNvPr id="415" name="文本框 414"/>
            <p:cNvSpPr txBox="1"/>
            <p:nvPr/>
          </p:nvSpPr>
          <p:spPr>
            <a:xfrm>
              <a:off x="1902401" y="1902708"/>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Content 3</a:t>
              </a:r>
              <a:endParaRPr lang="zh-CN" altLang="en-US" sz="900" dirty="0">
                <a:latin typeface="Times New Roman" panose="02020603050405020304" pitchFamily="18" charset="0"/>
                <a:cs typeface="Times New Roman" panose="02020603050405020304" pitchFamily="18" charset="0"/>
              </a:endParaRPr>
            </a:p>
          </p:txBody>
        </p:sp>
        <p:sp>
          <p:nvSpPr>
            <p:cNvPr id="425" name="文本框 424"/>
            <p:cNvSpPr txBox="1"/>
            <p:nvPr/>
          </p:nvSpPr>
          <p:spPr>
            <a:xfrm>
              <a:off x="1270868" y="1542708"/>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maintain</a:t>
              </a:r>
              <a:endParaRPr lang="zh-CN" altLang="en-US" sz="900" dirty="0">
                <a:latin typeface="Times New Roman" panose="02020603050405020304" pitchFamily="18" charset="0"/>
                <a:cs typeface="Times New Roman" panose="02020603050405020304" pitchFamily="18" charset="0"/>
              </a:endParaRPr>
            </a:p>
          </p:txBody>
        </p:sp>
        <p:cxnSp>
          <p:nvCxnSpPr>
            <p:cNvPr id="394" name="直接箭头连接符 393"/>
            <p:cNvCxnSpPr>
              <a:stCxn id="406" idx="3"/>
              <a:endCxn id="418" idx="1"/>
            </p:cNvCxnSpPr>
            <p:nvPr/>
          </p:nvCxnSpPr>
          <p:spPr>
            <a:xfrm>
              <a:off x="1180868" y="2905416"/>
              <a:ext cx="8115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06" name="图形 405" descr="文档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0868" y="2725416"/>
              <a:ext cx="360000" cy="360000"/>
            </a:xfrm>
            <a:prstGeom prst="rect">
              <a:avLst/>
            </a:prstGeom>
          </p:spPr>
        </p:pic>
        <p:sp>
          <p:nvSpPr>
            <p:cNvPr id="407" name="文本框 406"/>
            <p:cNvSpPr txBox="1"/>
            <p:nvPr/>
          </p:nvSpPr>
          <p:spPr>
            <a:xfrm>
              <a:off x="731497" y="3060000"/>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Content 5</a:t>
              </a:r>
              <a:endParaRPr lang="zh-CN" altLang="en-US" sz="900" dirty="0">
                <a:latin typeface="Times New Roman" panose="02020603050405020304" pitchFamily="18" charset="0"/>
                <a:cs typeface="Times New Roman" panose="02020603050405020304" pitchFamily="18" charset="0"/>
              </a:endParaRPr>
            </a:p>
          </p:txBody>
        </p:sp>
        <p:pic>
          <p:nvPicPr>
            <p:cNvPr id="418" name="图形 417" descr="文档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92401" y="2725416"/>
              <a:ext cx="360000" cy="360000"/>
            </a:xfrm>
            <a:prstGeom prst="rect">
              <a:avLst/>
            </a:prstGeom>
          </p:spPr>
        </p:pic>
        <p:sp>
          <p:nvSpPr>
            <p:cNvPr id="419" name="文本框 418"/>
            <p:cNvSpPr txBox="1"/>
            <p:nvPr/>
          </p:nvSpPr>
          <p:spPr>
            <a:xfrm>
              <a:off x="1903031" y="3060000"/>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Content 5</a:t>
              </a:r>
              <a:endParaRPr lang="zh-CN" altLang="en-US" sz="900" dirty="0">
                <a:latin typeface="Times New Roman" panose="02020603050405020304" pitchFamily="18" charset="0"/>
                <a:cs typeface="Times New Roman" panose="02020603050405020304" pitchFamily="18" charset="0"/>
              </a:endParaRPr>
            </a:p>
          </p:txBody>
        </p:sp>
        <p:sp>
          <p:nvSpPr>
            <p:cNvPr id="426" name="文本框 425"/>
            <p:cNvSpPr txBox="1"/>
            <p:nvPr/>
          </p:nvSpPr>
          <p:spPr>
            <a:xfrm>
              <a:off x="1270868" y="2725416"/>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maintain</a:t>
              </a:r>
              <a:endParaRPr lang="zh-CN" altLang="en-US" sz="900" dirty="0">
                <a:latin typeface="Times New Roman" panose="02020603050405020304" pitchFamily="18" charset="0"/>
                <a:cs typeface="Times New Roman" panose="02020603050405020304" pitchFamily="18" charset="0"/>
              </a:endParaRPr>
            </a:p>
          </p:txBody>
        </p:sp>
        <p:sp>
          <p:nvSpPr>
            <p:cNvPr id="396" name="矩形 395"/>
            <p:cNvSpPr/>
            <p:nvPr/>
          </p:nvSpPr>
          <p:spPr>
            <a:xfrm>
              <a:off x="730866" y="2134062"/>
              <a:ext cx="1800002" cy="540000"/>
            </a:xfrm>
            <a:prstGeom prst="rect">
              <a:avLst/>
            </a:prstGeom>
            <a:solidFill>
              <a:srgbClr val="FADBDF"/>
            </a:solidFill>
            <a:ln w="12700">
              <a:solidFill>
                <a:schemeClr val="tx1"/>
              </a:solidFill>
              <a:prstDash val="dash"/>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640"/>
            </a:p>
          </p:txBody>
        </p:sp>
        <p:pic>
          <p:nvPicPr>
            <p:cNvPr id="404" name="图形 403" descr="文档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0868" y="2134062"/>
              <a:ext cx="360000" cy="360000"/>
            </a:xfrm>
            <a:prstGeom prst="rect">
              <a:avLst/>
            </a:prstGeom>
          </p:spPr>
        </p:pic>
        <p:sp>
          <p:nvSpPr>
            <p:cNvPr id="405" name="文本框 404"/>
            <p:cNvSpPr txBox="1"/>
            <p:nvPr/>
          </p:nvSpPr>
          <p:spPr>
            <a:xfrm>
              <a:off x="730868" y="2494062"/>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Content 4</a:t>
              </a:r>
              <a:endParaRPr lang="zh-CN" altLang="en-US" sz="900" dirty="0">
                <a:latin typeface="Times New Roman" panose="02020603050405020304" pitchFamily="18" charset="0"/>
                <a:cs typeface="Times New Roman" panose="02020603050405020304" pitchFamily="18" charset="0"/>
              </a:endParaRPr>
            </a:p>
          </p:txBody>
        </p:sp>
        <p:pic>
          <p:nvPicPr>
            <p:cNvPr id="416" name="图形 415" descr="文档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92401" y="2134062"/>
              <a:ext cx="360000" cy="360000"/>
            </a:xfrm>
            <a:prstGeom prst="rect">
              <a:avLst/>
            </a:prstGeom>
          </p:spPr>
        </p:pic>
        <p:sp>
          <p:nvSpPr>
            <p:cNvPr id="417" name="文本框 416"/>
            <p:cNvSpPr txBox="1"/>
            <p:nvPr/>
          </p:nvSpPr>
          <p:spPr>
            <a:xfrm>
              <a:off x="1812401" y="2494062"/>
              <a:ext cx="72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New Content 4</a:t>
              </a:r>
              <a:endParaRPr lang="zh-CN" altLang="en-US" sz="900" dirty="0">
                <a:latin typeface="Times New Roman" panose="02020603050405020304" pitchFamily="18" charset="0"/>
                <a:cs typeface="Times New Roman" panose="02020603050405020304" pitchFamily="18" charset="0"/>
              </a:endParaRPr>
            </a:p>
          </p:txBody>
        </p:sp>
        <p:sp>
          <p:nvSpPr>
            <p:cNvPr id="422" name="文本框 421"/>
            <p:cNvSpPr txBox="1"/>
            <p:nvPr/>
          </p:nvSpPr>
          <p:spPr>
            <a:xfrm>
              <a:off x="1270868" y="2134062"/>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optimize</a:t>
              </a:r>
              <a:endParaRPr lang="zh-CN" altLang="en-US" sz="900" dirty="0">
                <a:latin typeface="Times New Roman" panose="02020603050405020304" pitchFamily="18" charset="0"/>
                <a:cs typeface="Times New Roman" panose="02020603050405020304" pitchFamily="18" charset="0"/>
              </a:endParaRPr>
            </a:p>
          </p:txBody>
        </p:sp>
        <p:cxnSp>
          <p:nvCxnSpPr>
            <p:cNvPr id="427" name="直接箭头连接符 426"/>
            <p:cNvCxnSpPr>
              <a:stCxn id="404" idx="3"/>
              <a:endCxn id="416" idx="1"/>
            </p:cNvCxnSpPr>
            <p:nvPr/>
          </p:nvCxnSpPr>
          <p:spPr>
            <a:xfrm>
              <a:off x="1180868" y="2314062"/>
              <a:ext cx="8115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4" name="连接符: 肘形 1153"/>
            <p:cNvCxnSpPr>
              <a:stCxn id="390" idx="0"/>
            </p:cNvCxnSpPr>
            <p:nvPr/>
          </p:nvCxnSpPr>
          <p:spPr>
            <a:xfrm rot="5400000" flipH="1" flipV="1">
              <a:off x="2035153" y="-764285"/>
              <a:ext cx="90000" cy="2158570"/>
            </a:xfrm>
            <a:prstGeom prst="bentConnector3">
              <a:avLst>
                <a:gd name="adj1" fmla="val 354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5" name="连接符: 肘形 1154"/>
            <p:cNvCxnSpPr>
              <a:stCxn id="391" idx="0"/>
            </p:cNvCxnSpPr>
            <p:nvPr/>
          </p:nvCxnSpPr>
          <p:spPr>
            <a:xfrm rot="5400000" flipH="1" flipV="1">
              <a:off x="2485890" y="-45022"/>
              <a:ext cx="90000" cy="720045"/>
            </a:xfrm>
            <a:prstGeom prst="bentConnector3">
              <a:avLst>
                <a:gd name="adj1" fmla="val 22901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476" name="文本框 475"/>
            <p:cNvSpPr txBox="1"/>
            <p:nvPr/>
          </p:nvSpPr>
          <p:spPr>
            <a:xfrm>
              <a:off x="4064803" y="0"/>
              <a:ext cx="1116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GEO-BENCH expand</a:t>
              </a:r>
              <a:endParaRPr lang="zh-CN" altLang="en-US" sz="900" dirty="0">
                <a:latin typeface="Times New Roman" panose="02020603050405020304" pitchFamily="18" charset="0"/>
                <a:cs typeface="Times New Roman" panose="02020603050405020304" pitchFamily="18" charset="0"/>
              </a:endParaRPr>
            </a:p>
          </p:txBody>
        </p:sp>
        <p:sp>
          <p:nvSpPr>
            <p:cNvPr id="1172" name="矩形 1171"/>
            <p:cNvSpPr/>
            <p:nvPr/>
          </p:nvSpPr>
          <p:spPr>
            <a:xfrm>
              <a:off x="3430866" y="180000"/>
              <a:ext cx="3240000" cy="3060000"/>
            </a:xfrm>
            <a:prstGeom prst="rect">
              <a:avLst/>
            </a:prstGeom>
            <a:solidFill>
              <a:schemeClr val="bg1">
                <a:lumMod val="95000"/>
              </a:schemeClr>
            </a:solidFill>
            <a:ln w="12700">
              <a:solidFill>
                <a:schemeClr val="tx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71" name="连接符: 曲线 70"/>
            <p:cNvCxnSpPr>
              <a:stCxn id="476" idx="3"/>
              <a:endCxn id="806" idx="0"/>
            </p:cNvCxnSpPr>
            <p:nvPr/>
          </p:nvCxnSpPr>
          <p:spPr>
            <a:xfrm>
              <a:off x="5180803" y="90000"/>
              <a:ext cx="151372" cy="180000"/>
            </a:xfrm>
            <a:prstGeom prst="curved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446" name="组合 1445"/>
            <p:cNvGrpSpPr/>
            <p:nvPr/>
          </p:nvGrpSpPr>
          <p:grpSpPr>
            <a:xfrm>
              <a:off x="3520866" y="270000"/>
              <a:ext cx="3060000" cy="540000"/>
              <a:chOff x="3529137" y="180000"/>
              <a:chExt cx="3060000" cy="540000"/>
            </a:xfrm>
          </p:grpSpPr>
          <p:sp>
            <p:nvSpPr>
              <p:cNvPr id="10" name="矩形 9"/>
              <p:cNvSpPr/>
              <p:nvPr/>
            </p:nvSpPr>
            <p:spPr>
              <a:xfrm>
                <a:off x="3529137" y="180000"/>
                <a:ext cx="3060000" cy="540000"/>
              </a:xfrm>
              <a:prstGeom prst="rect">
                <a:avLst/>
              </a:prstGeom>
              <a:solidFill>
                <a:schemeClr val="accent4">
                  <a:lumMod val="20000"/>
                  <a:lumOff val="8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443" name="组合 1442"/>
              <p:cNvGrpSpPr/>
              <p:nvPr/>
            </p:nvGrpSpPr>
            <p:grpSpPr>
              <a:xfrm>
                <a:off x="3607828" y="180000"/>
                <a:ext cx="2902618" cy="540000"/>
                <a:chOff x="3748702" y="180000"/>
                <a:chExt cx="2902618" cy="540000"/>
              </a:xfrm>
            </p:grpSpPr>
            <p:grpSp>
              <p:nvGrpSpPr>
                <p:cNvPr id="1429" name="组合 1428"/>
                <p:cNvGrpSpPr/>
                <p:nvPr/>
              </p:nvGrpSpPr>
              <p:grpSpPr>
                <a:xfrm>
                  <a:off x="3748702" y="225000"/>
                  <a:ext cx="540000" cy="450000"/>
                  <a:chOff x="3568702" y="225000"/>
                  <a:chExt cx="540000" cy="450000"/>
                </a:xfrm>
              </p:grpSpPr>
              <p:pic>
                <p:nvPicPr>
                  <p:cNvPr id="461" name="图形 460" descr="问号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658702" y="225000"/>
                    <a:ext cx="360000" cy="360000"/>
                  </a:xfrm>
                  <a:prstGeom prst="rect">
                    <a:avLst/>
                  </a:prstGeom>
                </p:spPr>
              </p:pic>
              <p:sp>
                <p:nvSpPr>
                  <p:cNvPr id="462" name="文本框 461"/>
                  <p:cNvSpPr txBox="1"/>
                  <p:nvPr/>
                </p:nvSpPr>
                <p:spPr>
                  <a:xfrm>
                    <a:off x="3568702" y="495000"/>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Query 1</a:t>
                    </a:r>
                    <a:endParaRPr lang="zh-CN" altLang="en-US" sz="900" dirty="0">
                      <a:latin typeface="Times New Roman" panose="02020603050405020304" pitchFamily="18" charset="0"/>
                      <a:cs typeface="Times New Roman" panose="02020603050405020304" pitchFamily="18" charset="0"/>
                    </a:endParaRPr>
                  </a:p>
                </p:txBody>
              </p:sp>
            </p:grpSp>
            <p:grpSp>
              <p:nvGrpSpPr>
                <p:cNvPr id="1439" name="组合 1438"/>
                <p:cNvGrpSpPr/>
                <p:nvPr/>
              </p:nvGrpSpPr>
              <p:grpSpPr>
                <a:xfrm>
                  <a:off x="4333702" y="225000"/>
                  <a:ext cx="2295000" cy="450000"/>
                  <a:chOff x="4333702" y="225000"/>
                  <a:chExt cx="2295000" cy="450000"/>
                </a:xfrm>
              </p:grpSpPr>
              <p:grpSp>
                <p:nvGrpSpPr>
                  <p:cNvPr id="1432" name="组合 1431"/>
                  <p:cNvGrpSpPr/>
                  <p:nvPr/>
                </p:nvGrpSpPr>
                <p:grpSpPr>
                  <a:xfrm>
                    <a:off x="4918702" y="225000"/>
                    <a:ext cx="540000" cy="450000"/>
                    <a:chOff x="4918702" y="225000"/>
                    <a:chExt cx="540000" cy="450000"/>
                  </a:xfrm>
                </p:grpSpPr>
                <p:pic>
                  <p:nvPicPr>
                    <p:cNvPr id="465" name="图形 464" descr="问号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08702" y="225000"/>
                      <a:ext cx="360000" cy="360000"/>
                    </a:xfrm>
                    <a:prstGeom prst="rect">
                      <a:avLst/>
                    </a:prstGeom>
                  </p:spPr>
                </p:pic>
                <p:sp>
                  <p:nvSpPr>
                    <p:cNvPr id="466" name="文本框 465"/>
                    <p:cNvSpPr txBox="1"/>
                    <p:nvPr/>
                  </p:nvSpPr>
                  <p:spPr>
                    <a:xfrm>
                      <a:off x="4918702" y="495000"/>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Query 3</a:t>
                      </a:r>
                      <a:endParaRPr lang="zh-CN" altLang="en-US" sz="900" dirty="0">
                        <a:latin typeface="Times New Roman" panose="02020603050405020304" pitchFamily="18" charset="0"/>
                        <a:cs typeface="Times New Roman" panose="02020603050405020304" pitchFamily="18" charset="0"/>
                      </a:endParaRPr>
                    </a:p>
                  </p:txBody>
                </p:sp>
              </p:grpSp>
              <p:grpSp>
                <p:nvGrpSpPr>
                  <p:cNvPr id="1431" name="组合 1430"/>
                  <p:cNvGrpSpPr/>
                  <p:nvPr/>
                </p:nvGrpSpPr>
                <p:grpSpPr>
                  <a:xfrm>
                    <a:off x="5503702" y="225000"/>
                    <a:ext cx="540000" cy="450000"/>
                    <a:chOff x="5593702" y="225000"/>
                    <a:chExt cx="540000" cy="450000"/>
                  </a:xfrm>
                </p:grpSpPr>
                <p:pic>
                  <p:nvPicPr>
                    <p:cNvPr id="467" name="图形 466" descr="问号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83702" y="225000"/>
                      <a:ext cx="360000" cy="360000"/>
                    </a:xfrm>
                    <a:prstGeom prst="rect">
                      <a:avLst/>
                    </a:prstGeom>
                  </p:spPr>
                </p:pic>
                <p:sp>
                  <p:nvSpPr>
                    <p:cNvPr id="468" name="文本框 467"/>
                    <p:cNvSpPr txBox="1"/>
                    <p:nvPr/>
                  </p:nvSpPr>
                  <p:spPr>
                    <a:xfrm>
                      <a:off x="5593702" y="495000"/>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Query 4</a:t>
                      </a:r>
                      <a:endParaRPr lang="zh-CN" altLang="en-US" sz="900" dirty="0">
                        <a:latin typeface="Times New Roman" panose="02020603050405020304" pitchFamily="18" charset="0"/>
                        <a:cs typeface="Times New Roman" panose="02020603050405020304" pitchFamily="18" charset="0"/>
                      </a:endParaRPr>
                    </a:p>
                  </p:txBody>
                </p:sp>
              </p:grpSp>
              <p:grpSp>
                <p:nvGrpSpPr>
                  <p:cNvPr id="1430" name="组合 1429"/>
                  <p:cNvGrpSpPr/>
                  <p:nvPr/>
                </p:nvGrpSpPr>
                <p:grpSpPr>
                  <a:xfrm>
                    <a:off x="6088702" y="225000"/>
                    <a:ext cx="540000" cy="450000"/>
                    <a:chOff x="6268702" y="225000"/>
                    <a:chExt cx="540000" cy="450000"/>
                  </a:xfrm>
                </p:grpSpPr>
                <p:pic>
                  <p:nvPicPr>
                    <p:cNvPr id="469" name="图形 468" descr="问号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58702" y="225000"/>
                      <a:ext cx="360000" cy="360000"/>
                    </a:xfrm>
                    <a:prstGeom prst="rect">
                      <a:avLst/>
                    </a:prstGeom>
                  </p:spPr>
                </p:pic>
                <p:sp>
                  <p:nvSpPr>
                    <p:cNvPr id="470" name="文本框 469"/>
                    <p:cNvSpPr txBox="1"/>
                    <p:nvPr/>
                  </p:nvSpPr>
                  <p:spPr>
                    <a:xfrm>
                      <a:off x="6268702" y="495000"/>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Query 5</a:t>
                      </a:r>
                      <a:endParaRPr lang="zh-CN" altLang="en-US" sz="900" dirty="0">
                        <a:latin typeface="Times New Roman" panose="02020603050405020304" pitchFamily="18" charset="0"/>
                        <a:cs typeface="Times New Roman" panose="02020603050405020304" pitchFamily="18" charset="0"/>
                      </a:endParaRPr>
                    </a:p>
                  </p:txBody>
                </p:sp>
              </p:grpSp>
              <p:grpSp>
                <p:nvGrpSpPr>
                  <p:cNvPr id="1433" name="组合 1432"/>
                  <p:cNvGrpSpPr/>
                  <p:nvPr/>
                </p:nvGrpSpPr>
                <p:grpSpPr>
                  <a:xfrm>
                    <a:off x="4333702" y="225000"/>
                    <a:ext cx="540000" cy="450000"/>
                    <a:chOff x="4243702" y="225000"/>
                    <a:chExt cx="540000" cy="450000"/>
                  </a:xfrm>
                </p:grpSpPr>
                <p:pic>
                  <p:nvPicPr>
                    <p:cNvPr id="463" name="图形 462" descr="问号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33702" y="225000"/>
                      <a:ext cx="360000" cy="360000"/>
                    </a:xfrm>
                    <a:prstGeom prst="rect">
                      <a:avLst/>
                    </a:prstGeom>
                  </p:spPr>
                </p:pic>
                <p:sp>
                  <p:nvSpPr>
                    <p:cNvPr id="464" name="文本框 463"/>
                    <p:cNvSpPr txBox="1"/>
                    <p:nvPr/>
                  </p:nvSpPr>
                  <p:spPr>
                    <a:xfrm>
                      <a:off x="4243702" y="495000"/>
                      <a:ext cx="54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Query 2</a:t>
                      </a:r>
                      <a:endParaRPr lang="zh-CN" altLang="en-US" sz="900" dirty="0">
                        <a:latin typeface="Times New Roman" panose="02020603050405020304" pitchFamily="18" charset="0"/>
                        <a:cs typeface="Times New Roman" panose="02020603050405020304" pitchFamily="18" charset="0"/>
                      </a:endParaRPr>
                    </a:p>
                  </p:txBody>
                </p:sp>
              </p:grpSp>
            </p:grpSp>
            <p:sp>
              <p:nvSpPr>
                <p:cNvPr id="806" name="矩形: 圆角 805"/>
                <p:cNvSpPr/>
                <p:nvPr/>
              </p:nvSpPr>
              <p:spPr>
                <a:xfrm>
                  <a:off x="4311320" y="180000"/>
                  <a:ext cx="2340000" cy="540000"/>
                </a:xfrm>
                <a:prstGeom prst="round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cxnSp>
          <p:nvCxnSpPr>
            <p:cNvPr id="64" name="连接符: 曲线 63"/>
            <p:cNvCxnSpPr>
              <a:stCxn id="461" idx="0"/>
              <a:endCxn id="476" idx="1"/>
            </p:cNvCxnSpPr>
            <p:nvPr/>
          </p:nvCxnSpPr>
          <p:spPr>
            <a:xfrm rot="5400000" flipH="1" flipV="1">
              <a:off x="3854680" y="104877"/>
              <a:ext cx="225000" cy="195246"/>
            </a:xfrm>
            <a:prstGeom prst="curvedConnector2">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nvGrpSpPr>
            <p:cNvPr id="1447" name="组合 1446"/>
            <p:cNvGrpSpPr/>
            <p:nvPr/>
          </p:nvGrpSpPr>
          <p:grpSpPr>
            <a:xfrm>
              <a:off x="3520866" y="900000"/>
              <a:ext cx="3060000" cy="1080000"/>
              <a:chOff x="3529137" y="879154"/>
              <a:chExt cx="3060000" cy="1080000"/>
            </a:xfrm>
          </p:grpSpPr>
          <p:sp>
            <p:nvSpPr>
              <p:cNvPr id="483" name="矩形: 圆角 482"/>
              <p:cNvSpPr/>
              <p:nvPr/>
            </p:nvSpPr>
            <p:spPr>
              <a:xfrm>
                <a:off x="3529137" y="879154"/>
                <a:ext cx="3060000" cy="1080000"/>
              </a:xfrm>
              <a:prstGeom prst="roundRect">
                <a:avLst/>
              </a:prstGeom>
              <a:solidFill>
                <a:schemeClr val="accent1">
                  <a:lumMod val="20000"/>
                  <a:lumOff val="80000"/>
                </a:schemeClr>
              </a:solidFill>
              <a:ln w="12700">
                <a:noFill/>
                <a:prstDash val="dash"/>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440" name="组合 1439"/>
              <p:cNvGrpSpPr/>
              <p:nvPr/>
            </p:nvGrpSpPr>
            <p:grpSpPr>
              <a:xfrm>
                <a:off x="3619137" y="879154"/>
                <a:ext cx="2880000" cy="1080000"/>
                <a:chOff x="3849571" y="879154"/>
                <a:chExt cx="2880000" cy="1080000"/>
              </a:xfrm>
            </p:grpSpPr>
            <p:grpSp>
              <p:nvGrpSpPr>
                <p:cNvPr id="1342" name="组合 1341"/>
                <p:cNvGrpSpPr/>
                <p:nvPr/>
              </p:nvGrpSpPr>
              <p:grpSpPr>
                <a:xfrm>
                  <a:off x="3849571" y="879154"/>
                  <a:ext cx="900000" cy="540000"/>
                  <a:chOff x="3481322" y="1221624"/>
                  <a:chExt cx="900000" cy="540000"/>
                </a:xfrm>
              </p:grpSpPr>
              <p:sp>
                <p:nvSpPr>
                  <p:cNvPr id="731" name="文本框 730"/>
                  <p:cNvSpPr txBox="1"/>
                  <p:nvPr/>
                </p:nvSpPr>
                <p:spPr>
                  <a:xfrm>
                    <a:off x="3481322" y="1581624"/>
                    <a:ext cx="90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Average Score 1</a:t>
                    </a:r>
                    <a:endParaRPr lang="zh-CN" altLang="en-US" sz="900" dirty="0">
                      <a:latin typeface="Times New Roman" panose="02020603050405020304" pitchFamily="18" charset="0"/>
                      <a:cs typeface="Times New Roman" panose="02020603050405020304" pitchFamily="18" charset="0"/>
                    </a:endParaRPr>
                  </a:p>
                </p:txBody>
              </p:sp>
              <p:grpSp>
                <p:nvGrpSpPr>
                  <p:cNvPr id="1294" name="组合 1293"/>
                  <p:cNvGrpSpPr/>
                  <p:nvPr/>
                </p:nvGrpSpPr>
                <p:grpSpPr>
                  <a:xfrm>
                    <a:off x="3481322" y="1221624"/>
                    <a:ext cx="900000" cy="360000"/>
                    <a:chOff x="3526322" y="1246555"/>
                    <a:chExt cx="900000" cy="360000"/>
                  </a:xfrm>
                </p:grpSpPr>
                <p:pic>
                  <p:nvPicPr>
                    <p:cNvPr id="636" name="图片 635"/>
                    <p:cNvPicPr preferRelativeResize="0"/>
                    <p:nvPr/>
                  </p:nvPicPr>
                  <p:blipFill>
                    <a:blip r:embed="rId9"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4120322" y="1246555"/>
                      <a:ext cx="306000" cy="360000"/>
                    </a:xfrm>
                    <a:prstGeom prst="rect">
                      <a:avLst/>
                    </a:prstGeom>
                  </p:spPr>
                </p:pic>
                <p:grpSp>
                  <p:nvGrpSpPr>
                    <p:cNvPr id="1286" name="组合 1285"/>
                    <p:cNvGrpSpPr/>
                    <p:nvPr/>
                  </p:nvGrpSpPr>
                  <p:grpSpPr>
                    <a:xfrm>
                      <a:off x="3526322" y="1246555"/>
                      <a:ext cx="360000" cy="360000"/>
                      <a:chOff x="3526322" y="1246555"/>
                      <a:chExt cx="360000" cy="360000"/>
                    </a:xfrm>
                  </p:grpSpPr>
                  <p:grpSp>
                    <p:nvGrpSpPr>
                      <p:cNvPr id="444" name="组合 443"/>
                      <p:cNvGrpSpPr/>
                      <p:nvPr/>
                    </p:nvGrpSpPr>
                    <p:grpSpPr>
                      <a:xfrm>
                        <a:off x="3526322" y="1424965"/>
                        <a:ext cx="360000" cy="181590"/>
                        <a:chOff x="3233230" y="1438991"/>
                        <a:chExt cx="360000" cy="181590"/>
                      </a:xfrm>
                    </p:grpSpPr>
                    <p:sp>
                      <p:nvSpPr>
                        <p:cNvPr id="92" name="矩形: 圆角 91"/>
                        <p:cNvSpPr/>
                        <p:nvPr/>
                      </p:nvSpPr>
                      <p:spPr>
                        <a:xfrm>
                          <a:off x="3233230" y="1438991"/>
                          <a:ext cx="360000" cy="18159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43" name="图片 442"/>
                        <p:cNvPicPr preferRelativeResize="0"/>
                        <p:nvPr/>
                      </p:nvPicPr>
                      <p:blipFill>
                        <a:blip r:embed="rId10"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3449230" y="1439786"/>
                          <a:ext cx="144000" cy="180000"/>
                        </a:xfrm>
                        <a:prstGeom prst="rect">
                          <a:avLst/>
                        </a:prstGeom>
                      </p:spPr>
                    </p:pic>
                  </p:grpSp>
                  <p:grpSp>
                    <p:nvGrpSpPr>
                      <p:cNvPr id="735" name="组合 734"/>
                      <p:cNvGrpSpPr/>
                      <p:nvPr/>
                    </p:nvGrpSpPr>
                    <p:grpSpPr>
                      <a:xfrm>
                        <a:off x="3526322" y="1246555"/>
                        <a:ext cx="360000" cy="180000"/>
                        <a:chOff x="5320860" y="1489369"/>
                        <a:chExt cx="360000" cy="180000"/>
                      </a:xfrm>
                    </p:grpSpPr>
                    <p:pic>
                      <p:nvPicPr>
                        <p:cNvPr id="732" name="图形 731" descr="返回箭头"/>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320860" y="1489369"/>
                          <a:ext cx="180000" cy="180000"/>
                        </a:xfrm>
                        <a:prstGeom prst="rect">
                          <a:avLst/>
                        </a:prstGeom>
                      </p:spPr>
                    </p:pic>
                    <p:sp>
                      <p:nvSpPr>
                        <p:cNvPr id="733" name="文本框 732"/>
                        <p:cNvSpPr txBox="1"/>
                        <p:nvPr/>
                      </p:nvSpPr>
                      <p:spPr>
                        <a:xfrm>
                          <a:off x="5500860" y="1489369"/>
                          <a:ext cx="180000" cy="180000"/>
                        </a:xfrm>
                        <a:prstGeom prst="rect">
                          <a:avLst/>
                        </a:prstGeom>
                        <a:noFill/>
                      </p:spPr>
                      <p:txBody>
                        <a:bodyPr wrap="none" rtlCol="0" anchor="ctr">
                          <a:spAutoFit/>
                        </a:bodyPr>
                        <a:lstStyle/>
                        <a:p>
                          <a:pPr algn="ctr"/>
                          <a:r>
                            <a:rPr lang="en-US" altLang="zh-CN" sz="900" b="1" dirty="0">
                              <a:latin typeface="Times New Roman" panose="02020603050405020304" pitchFamily="18" charset="0"/>
                              <a:cs typeface="Times New Roman" panose="02020603050405020304" pitchFamily="18" charset="0"/>
                            </a:rPr>
                            <a:t>× 5</a:t>
                          </a:r>
                          <a:endParaRPr lang="zh-CN" altLang="en-US" sz="900" b="1" dirty="0">
                            <a:latin typeface="Times New Roman" panose="02020603050405020304" pitchFamily="18" charset="0"/>
                            <a:cs typeface="Times New Roman" panose="02020603050405020304" pitchFamily="18" charset="0"/>
                          </a:endParaRPr>
                        </a:p>
                      </p:txBody>
                    </p:sp>
                  </p:grpSp>
                </p:grpSp>
                <p:cxnSp>
                  <p:nvCxnSpPr>
                    <p:cNvPr id="1243" name="直接箭头连接符 1242"/>
                    <p:cNvCxnSpPr>
                      <a:endCxn id="636" idx="1"/>
                    </p:cNvCxnSpPr>
                    <p:nvPr/>
                  </p:nvCxnSpPr>
                  <p:spPr>
                    <a:xfrm>
                      <a:off x="3886322" y="1426555"/>
                      <a:ext cx="23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343" name="组合 1342"/>
                <p:cNvGrpSpPr/>
                <p:nvPr/>
              </p:nvGrpSpPr>
              <p:grpSpPr>
                <a:xfrm>
                  <a:off x="4839571" y="879154"/>
                  <a:ext cx="900000" cy="540000"/>
                  <a:chOff x="4696322" y="1221624"/>
                  <a:chExt cx="900000" cy="540000"/>
                </a:xfrm>
              </p:grpSpPr>
              <p:sp>
                <p:nvSpPr>
                  <p:cNvPr id="786" name="文本框 785"/>
                  <p:cNvSpPr txBox="1"/>
                  <p:nvPr/>
                </p:nvSpPr>
                <p:spPr>
                  <a:xfrm>
                    <a:off x="4696322" y="1581624"/>
                    <a:ext cx="90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Average Score 3</a:t>
                    </a:r>
                    <a:endParaRPr lang="zh-CN" altLang="en-US" sz="900" dirty="0">
                      <a:latin typeface="Times New Roman" panose="02020603050405020304" pitchFamily="18" charset="0"/>
                      <a:cs typeface="Times New Roman" panose="02020603050405020304" pitchFamily="18" charset="0"/>
                    </a:endParaRPr>
                  </a:p>
                </p:txBody>
              </p:sp>
              <p:grpSp>
                <p:nvGrpSpPr>
                  <p:cNvPr id="1302" name="组合 1301"/>
                  <p:cNvGrpSpPr/>
                  <p:nvPr/>
                </p:nvGrpSpPr>
                <p:grpSpPr>
                  <a:xfrm>
                    <a:off x="4696322" y="1221624"/>
                    <a:ext cx="900000" cy="360000"/>
                    <a:chOff x="3526322" y="1246555"/>
                    <a:chExt cx="900000" cy="360000"/>
                  </a:xfrm>
                </p:grpSpPr>
                <p:pic>
                  <p:nvPicPr>
                    <p:cNvPr id="1303" name="图片 1302"/>
                    <p:cNvPicPr preferRelativeResize="0"/>
                    <p:nvPr/>
                  </p:nvPicPr>
                  <p:blipFill>
                    <a:blip r:embed="rId9"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4120322" y="1246555"/>
                      <a:ext cx="306000" cy="360000"/>
                    </a:xfrm>
                    <a:prstGeom prst="rect">
                      <a:avLst/>
                    </a:prstGeom>
                  </p:spPr>
                </p:pic>
                <p:grpSp>
                  <p:nvGrpSpPr>
                    <p:cNvPr id="1304" name="组合 1303"/>
                    <p:cNvGrpSpPr/>
                    <p:nvPr/>
                  </p:nvGrpSpPr>
                  <p:grpSpPr>
                    <a:xfrm>
                      <a:off x="3526322" y="1246555"/>
                      <a:ext cx="360000" cy="360000"/>
                      <a:chOff x="3526322" y="1246555"/>
                      <a:chExt cx="360000" cy="360000"/>
                    </a:xfrm>
                  </p:grpSpPr>
                  <p:grpSp>
                    <p:nvGrpSpPr>
                      <p:cNvPr id="1306" name="组合 1305"/>
                      <p:cNvGrpSpPr/>
                      <p:nvPr/>
                    </p:nvGrpSpPr>
                    <p:grpSpPr>
                      <a:xfrm>
                        <a:off x="3526322" y="1424965"/>
                        <a:ext cx="360000" cy="181590"/>
                        <a:chOff x="3233230" y="1438991"/>
                        <a:chExt cx="360000" cy="181590"/>
                      </a:xfrm>
                    </p:grpSpPr>
                    <p:sp>
                      <p:nvSpPr>
                        <p:cNvPr id="1310" name="矩形: 圆角 1309"/>
                        <p:cNvSpPr/>
                        <p:nvPr/>
                      </p:nvSpPr>
                      <p:spPr>
                        <a:xfrm>
                          <a:off x="3233230" y="1438991"/>
                          <a:ext cx="360000" cy="18159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11" name="图片 1310"/>
                        <p:cNvPicPr preferRelativeResize="0"/>
                        <p:nvPr/>
                      </p:nvPicPr>
                      <p:blipFill>
                        <a:blip r:embed="rId10"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3449230" y="1439786"/>
                          <a:ext cx="144000" cy="180000"/>
                        </a:xfrm>
                        <a:prstGeom prst="rect">
                          <a:avLst/>
                        </a:prstGeom>
                      </p:spPr>
                    </p:pic>
                  </p:grpSp>
                  <p:grpSp>
                    <p:nvGrpSpPr>
                      <p:cNvPr id="1307" name="组合 1306"/>
                      <p:cNvGrpSpPr/>
                      <p:nvPr/>
                    </p:nvGrpSpPr>
                    <p:grpSpPr>
                      <a:xfrm>
                        <a:off x="3526322" y="1246555"/>
                        <a:ext cx="360000" cy="180000"/>
                        <a:chOff x="5320860" y="1489369"/>
                        <a:chExt cx="360000" cy="180000"/>
                      </a:xfrm>
                    </p:grpSpPr>
                    <p:pic>
                      <p:nvPicPr>
                        <p:cNvPr id="1308" name="图形 1307" descr="返回箭头"/>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320860" y="1489369"/>
                          <a:ext cx="180000" cy="180000"/>
                        </a:xfrm>
                        <a:prstGeom prst="rect">
                          <a:avLst/>
                        </a:prstGeom>
                      </p:spPr>
                    </p:pic>
                    <p:sp>
                      <p:nvSpPr>
                        <p:cNvPr id="1309" name="文本框 1308"/>
                        <p:cNvSpPr txBox="1"/>
                        <p:nvPr/>
                      </p:nvSpPr>
                      <p:spPr>
                        <a:xfrm>
                          <a:off x="5500860" y="1489369"/>
                          <a:ext cx="180000" cy="180000"/>
                        </a:xfrm>
                        <a:prstGeom prst="rect">
                          <a:avLst/>
                        </a:prstGeom>
                        <a:noFill/>
                      </p:spPr>
                      <p:txBody>
                        <a:bodyPr wrap="none" rtlCol="0" anchor="ctr">
                          <a:spAutoFit/>
                        </a:bodyPr>
                        <a:lstStyle/>
                        <a:p>
                          <a:pPr algn="ctr"/>
                          <a:r>
                            <a:rPr lang="en-US" altLang="zh-CN" sz="900" b="1" dirty="0">
                              <a:latin typeface="Times New Roman" panose="02020603050405020304" pitchFamily="18" charset="0"/>
                              <a:cs typeface="Times New Roman" panose="02020603050405020304" pitchFamily="18" charset="0"/>
                            </a:rPr>
                            <a:t>× 5</a:t>
                          </a:r>
                          <a:endParaRPr lang="zh-CN" altLang="en-US" sz="900" b="1" dirty="0">
                            <a:latin typeface="Times New Roman" panose="02020603050405020304" pitchFamily="18" charset="0"/>
                            <a:cs typeface="Times New Roman" panose="02020603050405020304" pitchFamily="18" charset="0"/>
                          </a:endParaRPr>
                        </a:p>
                      </p:txBody>
                    </p:sp>
                  </p:grpSp>
                </p:grpSp>
                <p:cxnSp>
                  <p:nvCxnSpPr>
                    <p:cNvPr id="1305" name="直接箭头连接符 1304"/>
                    <p:cNvCxnSpPr>
                      <a:endCxn id="1303" idx="1"/>
                    </p:cNvCxnSpPr>
                    <p:nvPr/>
                  </p:nvCxnSpPr>
                  <p:spPr>
                    <a:xfrm>
                      <a:off x="3886322" y="1426555"/>
                      <a:ext cx="23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344" name="组合 1343"/>
                <p:cNvGrpSpPr/>
                <p:nvPr/>
              </p:nvGrpSpPr>
              <p:grpSpPr>
                <a:xfrm>
                  <a:off x="5829571" y="879154"/>
                  <a:ext cx="900000" cy="540000"/>
                  <a:chOff x="5956322" y="1221624"/>
                  <a:chExt cx="900000" cy="540000"/>
                </a:xfrm>
              </p:grpSpPr>
              <p:sp>
                <p:nvSpPr>
                  <p:cNvPr id="771" name="文本框 770"/>
                  <p:cNvSpPr txBox="1"/>
                  <p:nvPr/>
                </p:nvSpPr>
                <p:spPr>
                  <a:xfrm>
                    <a:off x="5956322" y="1581624"/>
                    <a:ext cx="90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Average Score 5</a:t>
                    </a:r>
                    <a:endParaRPr lang="zh-CN" altLang="en-US" sz="900" dirty="0">
                      <a:latin typeface="Times New Roman" panose="02020603050405020304" pitchFamily="18" charset="0"/>
                      <a:cs typeface="Times New Roman" panose="02020603050405020304" pitchFamily="18" charset="0"/>
                    </a:endParaRPr>
                  </a:p>
                </p:txBody>
              </p:sp>
              <p:grpSp>
                <p:nvGrpSpPr>
                  <p:cNvPr id="1312" name="组合 1311"/>
                  <p:cNvGrpSpPr/>
                  <p:nvPr/>
                </p:nvGrpSpPr>
                <p:grpSpPr>
                  <a:xfrm>
                    <a:off x="5956322" y="1221624"/>
                    <a:ext cx="900000" cy="360000"/>
                    <a:chOff x="3526322" y="1246555"/>
                    <a:chExt cx="900000" cy="360000"/>
                  </a:xfrm>
                </p:grpSpPr>
                <p:pic>
                  <p:nvPicPr>
                    <p:cNvPr id="1313" name="图片 1312"/>
                    <p:cNvPicPr preferRelativeResize="0"/>
                    <p:nvPr/>
                  </p:nvPicPr>
                  <p:blipFill>
                    <a:blip r:embed="rId9"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4120322" y="1246555"/>
                      <a:ext cx="306000" cy="360000"/>
                    </a:xfrm>
                    <a:prstGeom prst="rect">
                      <a:avLst/>
                    </a:prstGeom>
                  </p:spPr>
                </p:pic>
                <p:grpSp>
                  <p:nvGrpSpPr>
                    <p:cNvPr id="1314" name="组合 1313"/>
                    <p:cNvGrpSpPr/>
                    <p:nvPr/>
                  </p:nvGrpSpPr>
                  <p:grpSpPr>
                    <a:xfrm>
                      <a:off x="3526322" y="1246555"/>
                      <a:ext cx="360000" cy="360000"/>
                      <a:chOff x="3526322" y="1246555"/>
                      <a:chExt cx="360000" cy="360000"/>
                    </a:xfrm>
                  </p:grpSpPr>
                  <p:grpSp>
                    <p:nvGrpSpPr>
                      <p:cNvPr id="1316" name="组合 1315"/>
                      <p:cNvGrpSpPr/>
                      <p:nvPr/>
                    </p:nvGrpSpPr>
                    <p:grpSpPr>
                      <a:xfrm>
                        <a:off x="3526322" y="1424965"/>
                        <a:ext cx="360000" cy="181590"/>
                        <a:chOff x="3233230" y="1438991"/>
                        <a:chExt cx="360000" cy="181590"/>
                      </a:xfrm>
                    </p:grpSpPr>
                    <p:sp>
                      <p:nvSpPr>
                        <p:cNvPr id="1320" name="矩形: 圆角 1319"/>
                        <p:cNvSpPr/>
                        <p:nvPr/>
                      </p:nvSpPr>
                      <p:spPr>
                        <a:xfrm>
                          <a:off x="3233230" y="1438991"/>
                          <a:ext cx="360000" cy="18159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21" name="图片 1320"/>
                        <p:cNvPicPr preferRelativeResize="0"/>
                        <p:nvPr/>
                      </p:nvPicPr>
                      <p:blipFill>
                        <a:blip r:embed="rId10"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3449230" y="1439786"/>
                          <a:ext cx="144000" cy="180000"/>
                        </a:xfrm>
                        <a:prstGeom prst="rect">
                          <a:avLst/>
                        </a:prstGeom>
                      </p:spPr>
                    </p:pic>
                  </p:grpSp>
                  <p:grpSp>
                    <p:nvGrpSpPr>
                      <p:cNvPr id="1317" name="组合 1316"/>
                      <p:cNvGrpSpPr/>
                      <p:nvPr/>
                    </p:nvGrpSpPr>
                    <p:grpSpPr>
                      <a:xfrm>
                        <a:off x="3526322" y="1246555"/>
                        <a:ext cx="360000" cy="180000"/>
                        <a:chOff x="5320860" y="1489369"/>
                        <a:chExt cx="360000" cy="180000"/>
                      </a:xfrm>
                    </p:grpSpPr>
                    <p:pic>
                      <p:nvPicPr>
                        <p:cNvPr id="1318" name="图形 1317" descr="返回箭头"/>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320860" y="1489369"/>
                          <a:ext cx="180000" cy="180000"/>
                        </a:xfrm>
                        <a:prstGeom prst="rect">
                          <a:avLst/>
                        </a:prstGeom>
                      </p:spPr>
                    </p:pic>
                    <p:sp>
                      <p:nvSpPr>
                        <p:cNvPr id="1319" name="文本框 1318"/>
                        <p:cNvSpPr txBox="1"/>
                        <p:nvPr/>
                      </p:nvSpPr>
                      <p:spPr>
                        <a:xfrm>
                          <a:off x="5500860" y="1489369"/>
                          <a:ext cx="180000" cy="180000"/>
                        </a:xfrm>
                        <a:prstGeom prst="rect">
                          <a:avLst/>
                        </a:prstGeom>
                        <a:noFill/>
                      </p:spPr>
                      <p:txBody>
                        <a:bodyPr wrap="none" rtlCol="0" anchor="ctr">
                          <a:spAutoFit/>
                        </a:bodyPr>
                        <a:lstStyle/>
                        <a:p>
                          <a:pPr algn="ctr"/>
                          <a:r>
                            <a:rPr lang="en-US" altLang="zh-CN" sz="900" b="1" dirty="0">
                              <a:latin typeface="Times New Roman" panose="02020603050405020304" pitchFamily="18" charset="0"/>
                              <a:cs typeface="Times New Roman" panose="02020603050405020304" pitchFamily="18" charset="0"/>
                            </a:rPr>
                            <a:t>× 5</a:t>
                          </a:r>
                          <a:endParaRPr lang="zh-CN" altLang="en-US" sz="900" b="1" dirty="0">
                            <a:latin typeface="Times New Roman" panose="02020603050405020304" pitchFamily="18" charset="0"/>
                            <a:cs typeface="Times New Roman" panose="02020603050405020304" pitchFamily="18" charset="0"/>
                          </a:endParaRPr>
                        </a:p>
                      </p:txBody>
                    </p:sp>
                  </p:grpSp>
                </p:grpSp>
                <p:cxnSp>
                  <p:nvCxnSpPr>
                    <p:cNvPr id="1315" name="直接箭头连接符 1314"/>
                    <p:cNvCxnSpPr>
                      <a:endCxn id="1313" idx="1"/>
                    </p:cNvCxnSpPr>
                    <p:nvPr/>
                  </p:nvCxnSpPr>
                  <p:spPr>
                    <a:xfrm>
                      <a:off x="3886322" y="1426555"/>
                      <a:ext cx="23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345" name="组合 1344"/>
                <p:cNvGrpSpPr/>
                <p:nvPr/>
              </p:nvGrpSpPr>
              <p:grpSpPr>
                <a:xfrm>
                  <a:off x="4344571" y="1419154"/>
                  <a:ext cx="900000" cy="540000"/>
                  <a:chOff x="4058283" y="1794673"/>
                  <a:chExt cx="900000" cy="540000"/>
                </a:xfrm>
              </p:grpSpPr>
              <p:sp>
                <p:nvSpPr>
                  <p:cNvPr id="758" name="文本框 757"/>
                  <p:cNvSpPr txBox="1"/>
                  <p:nvPr/>
                </p:nvSpPr>
                <p:spPr>
                  <a:xfrm>
                    <a:off x="4058283" y="2154673"/>
                    <a:ext cx="90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Average Score 2</a:t>
                    </a:r>
                    <a:endParaRPr lang="zh-CN" altLang="en-US" sz="900" dirty="0">
                      <a:latin typeface="Times New Roman" panose="02020603050405020304" pitchFamily="18" charset="0"/>
                      <a:cs typeface="Times New Roman" panose="02020603050405020304" pitchFamily="18" charset="0"/>
                    </a:endParaRPr>
                  </a:p>
                </p:txBody>
              </p:sp>
              <p:grpSp>
                <p:nvGrpSpPr>
                  <p:cNvPr id="1322" name="组合 1321"/>
                  <p:cNvGrpSpPr/>
                  <p:nvPr/>
                </p:nvGrpSpPr>
                <p:grpSpPr>
                  <a:xfrm>
                    <a:off x="4058283" y="1794673"/>
                    <a:ext cx="900000" cy="360000"/>
                    <a:chOff x="3526322" y="1246555"/>
                    <a:chExt cx="900000" cy="360000"/>
                  </a:xfrm>
                </p:grpSpPr>
                <p:pic>
                  <p:nvPicPr>
                    <p:cNvPr id="1323" name="图片 1322"/>
                    <p:cNvPicPr preferRelativeResize="0"/>
                    <p:nvPr/>
                  </p:nvPicPr>
                  <p:blipFill>
                    <a:blip r:embed="rId9"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4120322" y="1246555"/>
                      <a:ext cx="306000" cy="360000"/>
                    </a:xfrm>
                    <a:prstGeom prst="rect">
                      <a:avLst/>
                    </a:prstGeom>
                  </p:spPr>
                </p:pic>
                <p:grpSp>
                  <p:nvGrpSpPr>
                    <p:cNvPr id="1324" name="组合 1323"/>
                    <p:cNvGrpSpPr/>
                    <p:nvPr/>
                  </p:nvGrpSpPr>
                  <p:grpSpPr>
                    <a:xfrm>
                      <a:off x="3526322" y="1246555"/>
                      <a:ext cx="360000" cy="360000"/>
                      <a:chOff x="3526322" y="1246555"/>
                      <a:chExt cx="360000" cy="360000"/>
                    </a:xfrm>
                  </p:grpSpPr>
                  <p:grpSp>
                    <p:nvGrpSpPr>
                      <p:cNvPr id="1326" name="组合 1325"/>
                      <p:cNvGrpSpPr/>
                      <p:nvPr/>
                    </p:nvGrpSpPr>
                    <p:grpSpPr>
                      <a:xfrm>
                        <a:off x="3526322" y="1424965"/>
                        <a:ext cx="360000" cy="181590"/>
                        <a:chOff x="3233230" y="1438991"/>
                        <a:chExt cx="360000" cy="181590"/>
                      </a:xfrm>
                    </p:grpSpPr>
                    <p:sp>
                      <p:nvSpPr>
                        <p:cNvPr id="1330" name="矩形: 圆角 1329"/>
                        <p:cNvSpPr/>
                        <p:nvPr/>
                      </p:nvSpPr>
                      <p:spPr>
                        <a:xfrm>
                          <a:off x="3233230" y="1438991"/>
                          <a:ext cx="360000" cy="18159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1" name="图片 1330"/>
                        <p:cNvPicPr preferRelativeResize="0"/>
                        <p:nvPr/>
                      </p:nvPicPr>
                      <p:blipFill>
                        <a:blip r:embed="rId10"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3449230" y="1439786"/>
                          <a:ext cx="144000" cy="180000"/>
                        </a:xfrm>
                        <a:prstGeom prst="rect">
                          <a:avLst/>
                        </a:prstGeom>
                      </p:spPr>
                    </p:pic>
                  </p:grpSp>
                  <p:grpSp>
                    <p:nvGrpSpPr>
                      <p:cNvPr id="1327" name="组合 1326"/>
                      <p:cNvGrpSpPr/>
                      <p:nvPr/>
                    </p:nvGrpSpPr>
                    <p:grpSpPr>
                      <a:xfrm>
                        <a:off x="3526322" y="1246555"/>
                        <a:ext cx="360000" cy="180000"/>
                        <a:chOff x="5320860" y="1489369"/>
                        <a:chExt cx="360000" cy="180000"/>
                      </a:xfrm>
                    </p:grpSpPr>
                    <p:pic>
                      <p:nvPicPr>
                        <p:cNvPr id="1328" name="图形 1327" descr="返回箭头"/>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320860" y="1489369"/>
                          <a:ext cx="180000" cy="180000"/>
                        </a:xfrm>
                        <a:prstGeom prst="rect">
                          <a:avLst/>
                        </a:prstGeom>
                      </p:spPr>
                    </p:pic>
                    <p:sp>
                      <p:nvSpPr>
                        <p:cNvPr id="1329" name="文本框 1328"/>
                        <p:cNvSpPr txBox="1"/>
                        <p:nvPr/>
                      </p:nvSpPr>
                      <p:spPr>
                        <a:xfrm>
                          <a:off x="5500860" y="1489369"/>
                          <a:ext cx="180000" cy="180000"/>
                        </a:xfrm>
                        <a:prstGeom prst="rect">
                          <a:avLst/>
                        </a:prstGeom>
                        <a:noFill/>
                      </p:spPr>
                      <p:txBody>
                        <a:bodyPr wrap="none" rtlCol="0" anchor="ctr">
                          <a:spAutoFit/>
                        </a:bodyPr>
                        <a:lstStyle/>
                        <a:p>
                          <a:pPr algn="ctr"/>
                          <a:r>
                            <a:rPr lang="en-US" altLang="zh-CN" sz="900" b="1" dirty="0">
                              <a:latin typeface="Times New Roman" panose="02020603050405020304" pitchFamily="18" charset="0"/>
                              <a:cs typeface="Times New Roman" panose="02020603050405020304" pitchFamily="18" charset="0"/>
                            </a:rPr>
                            <a:t>× 5</a:t>
                          </a:r>
                          <a:endParaRPr lang="zh-CN" altLang="en-US" sz="900" b="1" dirty="0">
                            <a:latin typeface="Times New Roman" panose="02020603050405020304" pitchFamily="18" charset="0"/>
                            <a:cs typeface="Times New Roman" panose="02020603050405020304" pitchFamily="18" charset="0"/>
                          </a:endParaRPr>
                        </a:p>
                      </p:txBody>
                    </p:sp>
                  </p:grpSp>
                </p:grpSp>
                <p:cxnSp>
                  <p:nvCxnSpPr>
                    <p:cNvPr id="1325" name="直接箭头连接符 1324"/>
                    <p:cNvCxnSpPr>
                      <a:endCxn id="1323" idx="1"/>
                    </p:cNvCxnSpPr>
                    <p:nvPr/>
                  </p:nvCxnSpPr>
                  <p:spPr>
                    <a:xfrm>
                      <a:off x="3886322" y="1426555"/>
                      <a:ext cx="23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346" name="组合 1345"/>
                <p:cNvGrpSpPr/>
                <p:nvPr/>
              </p:nvGrpSpPr>
              <p:grpSpPr>
                <a:xfrm>
                  <a:off x="5334571" y="1419154"/>
                  <a:ext cx="900000" cy="540000"/>
                  <a:chOff x="5337244" y="1794673"/>
                  <a:chExt cx="900000" cy="540000"/>
                </a:xfrm>
              </p:grpSpPr>
              <p:sp>
                <p:nvSpPr>
                  <p:cNvPr id="742" name="文本框 741"/>
                  <p:cNvSpPr txBox="1"/>
                  <p:nvPr/>
                </p:nvSpPr>
                <p:spPr>
                  <a:xfrm>
                    <a:off x="5337244" y="2154673"/>
                    <a:ext cx="90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Average Score 4</a:t>
                    </a:r>
                    <a:endParaRPr lang="zh-CN" altLang="en-US" sz="900" dirty="0">
                      <a:latin typeface="Times New Roman" panose="02020603050405020304" pitchFamily="18" charset="0"/>
                      <a:cs typeface="Times New Roman" panose="02020603050405020304" pitchFamily="18" charset="0"/>
                    </a:endParaRPr>
                  </a:p>
                </p:txBody>
              </p:sp>
              <p:grpSp>
                <p:nvGrpSpPr>
                  <p:cNvPr id="1332" name="组合 1331"/>
                  <p:cNvGrpSpPr/>
                  <p:nvPr/>
                </p:nvGrpSpPr>
                <p:grpSpPr>
                  <a:xfrm>
                    <a:off x="5337244" y="1794673"/>
                    <a:ext cx="900000" cy="360000"/>
                    <a:chOff x="3526322" y="1246555"/>
                    <a:chExt cx="900000" cy="360000"/>
                  </a:xfrm>
                </p:grpSpPr>
                <p:pic>
                  <p:nvPicPr>
                    <p:cNvPr id="1333" name="图片 1332"/>
                    <p:cNvPicPr preferRelativeResize="0"/>
                    <p:nvPr/>
                  </p:nvPicPr>
                  <p:blipFill>
                    <a:blip r:embed="rId9"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4120322" y="1246555"/>
                      <a:ext cx="306000" cy="360000"/>
                    </a:xfrm>
                    <a:prstGeom prst="rect">
                      <a:avLst/>
                    </a:prstGeom>
                  </p:spPr>
                </p:pic>
                <p:grpSp>
                  <p:nvGrpSpPr>
                    <p:cNvPr id="1334" name="组合 1333"/>
                    <p:cNvGrpSpPr/>
                    <p:nvPr/>
                  </p:nvGrpSpPr>
                  <p:grpSpPr>
                    <a:xfrm>
                      <a:off x="3526322" y="1246555"/>
                      <a:ext cx="360000" cy="360000"/>
                      <a:chOff x="3526322" y="1246555"/>
                      <a:chExt cx="360000" cy="360000"/>
                    </a:xfrm>
                  </p:grpSpPr>
                  <p:grpSp>
                    <p:nvGrpSpPr>
                      <p:cNvPr id="1336" name="组合 1335"/>
                      <p:cNvGrpSpPr/>
                      <p:nvPr/>
                    </p:nvGrpSpPr>
                    <p:grpSpPr>
                      <a:xfrm>
                        <a:off x="3526322" y="1424965"/>
                        <a:ext cx="360000" cy="181590"/>
                        <a:chOff x="3233230" y="1438991"/>
                        <a:chExt cx="360000" cy="181590"/>
                      </a:xfrm>
                    </p:grpSpPr>
                    <p:sp>
                      <p:nvSpPr>
                        <p:cNvPr id="1340" name="矩形: 圆角 1339"/>
                        <p:cNvSpPr/>
                        <p:nvPr/>
                      </p:nvSpPr>
                      <p:spPr>
                        <a:xfrm>
                          <a:off x="3233230" y="1438991"/>
                          <a:ext cx="360000" cy="18159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41" name="图片 1340"/>
                        <p:cNvPicPr preferRelativeResize="0"/>
                        <p:nvPr/>
                      </p:nvPicPr>
                      <p:blipFill>
                        <a:blip r:embed="rId10"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3449230" y="1439786"/>
                          <a:ext cx="144000" cy="180000"/>
                        </a:xfrm>
                        <a:prstGeom prst="rect">
                          <a:avLst/>
                        </a:prstGeom>
                      </p:spPr>
                    </p:pic>
                  </p:grpSp>
                  <p:grpSp>
                    <p:nvGrpSpPr>
                      <p:cNvPr id="1337" name="组合 1336"/>
                      <p:cNvGrpSpPr/>
                      <p:nvPr/>
                    </p:nvGrpSpPr>
                    <p:grpSpPr>
                      <a:xfrm>
                        <a:off x="3526322" y="1246555"/>
                        <a:ext cx="360000" cy="180000"/>
                        <a:chOff x="5320860" y="1489369"/>
                        <a:chExt cx="360000" cy="180000"/>
                      </a:xfrm>
                    </p:grpSpPr>
                    <p:pic>
                      <p:nvPicPr>
                        <p:cNvPr id="1338" name="图形 1337" descr="返回箭头"/>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320860" y="1489369"/>
                          <a:ext cx="180000" cy="180000"/>
                        </a:xfrm>
                        <a:prstGeom prst="rect">
                          <a:avLst/>
                        </a:prstGeom>
                      </p:spPr>
                    </p:pic>
                    <p:sp>
                      <p:nvSpPr>
                        <p:cNvPr id="1339" name="文本框 1338"/>
                        <p:cNvSpPr txBox="1"/>
                        <p:nvPr/>
                      </p:nvSpPr>
                      <p:spPr>
                        <a:xfrm>
                          <a:off x="5500860" y="1489369"/>
                          <a:ext cx="180000" cy="180000"/>
                        </a:xfrm>
                        <a:prstGeom prst="rect">
                          <a:avLst/>
                        </a:prstGeom>
                        <a:noFill/>
                      </p:spPr>
                      <p:txBody>
                        <a:bodyPr wrap="none" rtlCol="0" anchor="ctr">
                          <a:spAutoFit/>
                        </a:bodyPr>
                        <a:lstStyle/>
                        <a:p>
                          <a:pPr algn="ctr"/>
                          <a:r>
                            <a:rPr lang="en-US" altLang="zh-CN" sz="900" b="1" dirty="0">
                              <a:latin typeface="Times New Roman" panose="02020603050405020304" pitchFamily="18" charset="0"/>
                              <a:cs typeface="Times New Roman" panose="02020603050405020304" pitchFamily="18" charset="0"/>
                            </a:rPr>
                            <a:t>× 5</a:t>
                          </a:r>
                          <a:endParaRPr lang="zh-CN" altLang="en-US" sz="900" b="1" dirty="0">
                            <a:latin typeface="Times New Roman" panose="02020603050405020304" pitchFamily="18" charset="0"/>
                            <a:cs typeface="Times New Roman" panose="02020603050405020304" pitchFamily="18" charset="0"/>
                          </a:endParaRPr>
                        </a:p>
                      </p:txBody>
                    </p:sp>
                  </p:grpSp>
                </p:grpSp>
                <p:cxnSp>
                  <p:nvCxnSpPr>
                    <p:cNvPr id="1335" name="直接箭头连接符 1334"/>
                    <p:cNvCxnSpPr>
                      <a:endCxn id="1333" idx="1"/>
                    </p:cNvCxnSpPr>
                    <p:nvPr/>
                  </p:nvCxnSpPr>
                  <p:spPr>
                    <a:xfrm>
                      <a:off x="3886322" y="1426555"/>
                      <a:ext cx="23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grpSp>
        <p:grpSp>
          <p:nvGrpSpPr>
            <p:cNvPr id="1445" name="组合 1444"/>
            <p:cNvGrpSpPr/>
            <p:nvPr/>
          </p:nvGrpSpPr>
          <p:grpSpPr>
            <a:xfrm>
              <a:off x="3520866" y="2070000"/>
              <a:ext cx="3060000" cy="1080000"/>
              <a:chOff x="3529137" y="2049154"/>
              <a:chExt cx="3060000" cy="1080000"/>
            </a:xfrm>
          </p:grpSpPr>
          <p:sp>
            <p:nvSpPr>
              <p:cNvPr id="1365" name="矩形: 圆角 1364"/>
              <p:cNvSpPr/>
              <p:nvPr/>
            </p:nvSpPr>
            <p:spPr>
              <a:xfrm>
                <a:off x="3529137" y="2049154"/>
                <a:ext cx="3060000" cy="1080000"/>
              </a:xfrm>
              <a:prstGeom prst="roundRect">
                <a:avLst/>
              </a:prstGeom>
              <a:solidFill>
                <a:schemeClr val="accent6">
                  <a:lumMod val="20000"/>
                  <a:lumOff val="80000"/>
                </a:schemeClr>
              </a:solidFill>
              <a:ln w="12700">
                <a:noFill/>
                <a:prstDash val="dash"/>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444" name="组合 1443"/>
              <p:cNvGrpSpPr/>
              <p:nvPr/>
            </p:nvGrpSpPr>
            <p:grpSpPr>
              <a:xfrm>
                <a:off x="3619137" y="2049154"/>
                <a:ext cx="2880000" cy="1080000"/>
                <a:chOff x="3849571" y="2049154"/>
                <a:chExt cx="2880000" cy="1080000"/>
              </a:xfrm>
            </p:grpSpPr>
            <p:grpSp>
              <p:nvGrpSpPr>
                <p:cNvPr id="1367" name="组合 1366"/>
                <p:cNvGrpSpPr/>
                <p:nvPr/>
              </p:nvGrpSpPr>
              <p:grpSpPr>
                <a:xfrm>
                  <a:off x="3849571" y="2049154"/>
                  <a:ext cx="900000" cy="540000"/>
                  <a:chOff x="3481322" y="1221624"/>
                  <a:chExt cx="900000" cy="540000"/>
                </a:xfrm>
              </p:grpSpPr>
              <p:sp>
                <p:nvSpPr>
                  <p:cNvPr id="1416" name="文本框 1415"/>
                  <p:cNvSpPr txBox="1"/>
                  <p:nvPr/>
                </p:nvSpPr>
                <p:spPr>
                  <a:xfrm>
                    <a:off x="3481322" y="1581624"/>
                    <a:ext cx="90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Average Score 1</a:t>
                    </a:r>
                    <a:endParaRPr lang="zh-CN" altLang="en-US" sz="900" dirty="0">
                      <a:latin typeface="Times New Roman" panose="02020603050405020304" pitchFamily="18" charset="0"/>
                      <a:cs typeface="Times New Roman" panose="02020603050405020304" pitchFamily="18" charset="0"/>
                    </a:endParaRPr>
                  </a:p>
                </p:txBody>
              </p:sp>
              <p:grpSp>
                <p:nvGrpSpPr>
                  <p:cNvPr id="1417" name="组合 1416"/>
                  <p:cNvGrpSpPr/>
                  <p:nvPr/>
                </p:nvGrpSpPr>
                <p:grpSpPr>
                  <a:xfrm>
                    <a:off x="3481322" y="1221624"/>
                    <a:ext cx="900000" cy="360000"/>
                    <a:chOff x="3526322" y="1246555"/>
                    <a:chExt cx="900000" cy="360000"/>
                  </a:xfrm>
                </p:grpSpPr>
                <p:pic>
                  <p:nvPicPr>
                    <p:cNvPr id="1418" name="图片 1417"/>
                    <p:cNvPicPr preferRelativeResize="0"/>
                    <p:nvPr/>
                  </p:nvPicPr>
                  <p:blipFill>
                    <a:blip r:embed="rId9"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4120322" y="1246555"/>
                      <a:ext cx="306000" cy="360000"/>
                    </a:xfrm>
                    <a:prstGeom prst="rect">
                      <a:avLst/>
                    </a:prstGeom>
                  </p:spPr>
                </p:pic>
                <p:grpSp>
                  <p:nvGrpSpPr>
                    <p:cNvPr id="1419" name="组合 1418"/>
                    <p:cNvGrpSpPr/>
                    <p:nvPr/>
                  </p:nvGrpSpPr>
                  <p:grpSpPr>
                    <a:xfrm>
                      <a:off x="3526322" y="1246555"/>
                      <a:ext cx="360000" cy="360000"/>
                      <a:chOff x="3526322" y="1246555"/>
                      <a:chExt cx="360000" cy="360000"/>
                    </a:xfrm>
                  </p:grpSpPr>
                  <p:grpSp>
                    <p:nvGrpSpPr>
                      <p:cNvPr id="1421" name="组合 1420"/>
                      <p:cNvGrpSpPr/>
                      <p:nvPr/>
                    </p:nvGrpSpPr>
                    <p:grpSpPr>
                      <a:xfrm>
                        <a:off x="3526322" y="1424965"/>
                        <a:ext cx="360000" cy="181590"/>
                        <a:chOff x="3233230" y="1438991"/>
                        <a:chExt cx="360000" cy="181590"/>
                      </a:xfrm>
                    </p:grpSpPr>
                    <p:sp>
                      <p:nvSpPr>
                        <p:cNvPr id="1425" name="矩形: 圆角 1424"/>
                        <p:cNvSpPr/>
                        <p:nvPr/>
                      </p:nvSpPr>
                      <p:spPr>
                        <a:xfrm>
                          <a:off x="3233230" y="1438991"/>
                          <a:ext cx="360000" cy="181590"/>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26" name="图片 1425"/>
                        <p:cNvPicPr preferRelativeResize="0"/>
                        <p:nvPr/>
                      </p:nvPicPr>
                      <p:blipFill>
                        <a:blip r:embed="rId10"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3449230" y="1439786"/>
                          <a:ext cx="144000" cy="180000"/>
                        </a:xfrm>
                        <a:prstGeom prst="rect">
                          <a:avLst/>
                        </a:prstGeom>
                      </p:spPr>
                    </p:pic>
                  </p:grpSp>
                  <p:grpSp>
                    <p:nvGrpSpPr>
                      <p:cNvPr id="1422" name="组合 1421"/>
                      <p:cNvGrpSpPr/>
                      <p:nvPr/>
                    </p:nvGrpSpPr>
                    <p:grpSpPr>
                      <a:xfrm>
                        <a:off x="3526322" y="1246555"/>
                        <a:ext cx="360000" cy="180000"/>
                        <a:chOff x="5320860" y="1489369"/>
                        <a:chExt cx="360000" cy="180000"/>
                      </a:xfrm>
                    </p:grpSpPr>
                    <p:pic>
                      <p:nvPicPr>
                        <p:cNvPr id="1423" name="图形 1422" descr="返回箭头"/>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320860" y="1489369"/>
                          <a:ext cx="180000" cy="180000"/>
                        </a:xfrm>
                        <a:prstGeom prst="rect">
                          <a:avLst/>
                        </a:prstGeom>
                      </p:spPr>
                    </p:pic>
                    <p:sp>
                      <p:nvSpPr>
                        <p:cNvPr id="1424" name="文本框 1423"/>
                        <p:cNvSpPr txBox="1"/>
                        <p:nvPr/>
                      </p:nvSpPr>
                      <p:spPr>
                        <a:xfrm>
                          <a:off x="5500860" y="1489369"/>
                          <a:ext cx="180000" cy="180000"/>
                        </a:xfrm>
                        <a:prstGeom prst="rect">
                          <a:avLst/>
                        </a:prstGeom>
                        <a:noFill/>
                      </p:spPr>
                      <p:txBody>
                        <a:bodyPr wrap="none" rtlCol="0" anchor="ctr">
                          <a:spAutoFit/>
                        </a:bodyPr>
                        <a:lstStyle/>
                        <a:p>
                          <a:pPr algn="ctr"/>
                          <a:r>
                            <a:rPr lang="en-US" altLang="zh-CN" sz="900" b="1" dirty="0">
                              <a:latin typeface="Times New Roman" panose="02020603050405020304" pitchFamily="18" charset="0"/>
                              <a:cs typeface="Times New Roman" panose="02020603050405020304" pitchFamily="18" charset="0"/>
                            </a:rPr>
                            <a:t>× 5</a:t>
                          </a:r>
                          <a:endParaRPr lang="zh-CN" altLang="en-US" sz="900" b="1" dirty="0">
                            <a:latin typeface="Times New Roman" panose="02020603050405020304" pitchFamily="18" charset="0"/>
                            <a:cs typeface="Times New Roman" panose="02020603050405020304" pitchFamily="18" charset="0"/>
                          </a:endParaRPr>
                        </a:p>
                      </p:txBody>
                    </p:sp>
                  </p:grpSp>
                </p:grpSp>
                <p:cxnSp>
                  <p:nvCxnSpPr>
                    <p:cNvPr id="1420" name="直接箭头连接符 1419"/>
                    <p:cNvCxnSpPr>
                      <a:endCxn id="1418" idx="1"/>
                    </p:cNvCxnSpPr>
                    <p:nvPr/>
                  </p:nvCxnSpPr>
                  <p:spPr>
                    <a:xfrm>
                      <a:off x="3886322" y="1426555"/>
                      <a:ext cx="23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368" name="组合 1367"/>
                <p:cNvGrpSpPr/>
                <p:nvPr/>
              </p:nvGrpSpPr>
              <p:grpSpPr>
                <a:xfrm>
                  <a:off x="4839571" y="2049154"/>
                  <a:ext cx="900000" cy="540000"/>
                  <a:chOff x="4696322" y="1221624"/>
                  <a:chExt cx="900000" cy="540000"/>
                </a:xfrm>
              </p:grpSpPr>
              <p:sp>
                <p:nvSpPr>
                  <p:cNvPr id="1405" name="文本框 1404"/>
                  <p:cNvSpPr txBox="1"/>
                  <p:nvPr/>
                </p:nvSpPr>
                <p:spPr>
                  <a:xfrm>
                    <a:off x="4696322" y="1581624"/>
                    <a:ext cx="90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Average Score 3</a:t>
                    </a:r>
                    <a:endParaRPr lang="zh-CN" altLang="en-US" sz="900" dirty="0">
                      <a:latin typeface="Times New Roman" panose="02020603050405020304" pitchFamily="18" charset="0"/>
                      <a:cs typeface="Times New Roman" panose="02020603050405020304" pitchFamily="18" charset="0"/>
                    </a:endParaRPr>
                  </a:p>
                </p:txBody>
              </p:sp>
              <p:grpSp>
                <p:nvGrpSpPr>
                  <p:cNvPr id="1406" name="组合 1405"/>
                  <p:cNvGrpSpPr/>
                  <p:nvPr/>
                </p:nvGrpSpPr>
                <p:grpSpPr>
                  <a:xfrm>
                    <a:off x="4696322" y="1221624"/>
                    <a:ext cx="900000" cy="360000"/>
                    <a:chOff x="3526322" y="1246555"/>
                    <a:chExt cx="900000" cy="360000"/>
                  </a:xfrm>
                </p:grpSpPr>
                <p:pic>
                  <p:nvPicPr>
                    <p:cNvPr id="1407" name="图片 1406"/>
                    <p:cNvPicPr preferRelativeResize="0"/>
                    <p:nvPr/>
                  </p:nvPicPr>
                  <p:blipFill>
                    <a:blip r:embed="rId9"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4120322" y="1246555"/>
                      <a:ext cx="306000" cy="360000"/>
                    </a:xfrm>
                    <a:prstGeom prst="rect">
                      <a:avLst/>
                    </a:prstGeom>
                  </p:spPr>
                </p:pic>
                <p:grpSp>
                  <p:nvGrpSpPr>
                    <p:cNvPr id="1408" name="组合 1407"/>
                    <p:cNvGrpSpPr/>
                    <p:nvPr/>
                  </p:nvGrpSpPr>
                  <p:grpSpPr>
                    <a:xfrm>
                      <a:off x="3526322" y="1246555"/>
                      <a:ext cx="360000" cy="360000"/>
                      <a:chOff x="3526322" y="1246555"/>
                      <a:chExt cx="360000" cy="360000"/>
                    </a:xfrm>
                  </p:grpSpPr>
                  <p:grpSp>
                    <p:nvGrpSpPr>
                      <p:cNvPr id="1410" name="组合 1409"/>
                      <p:cNvGrpSpPr/>
                      <p:nvPr/>
                    </p:nvGrpSpPr>
                    <p:grpSpPr>
                      <a:xfrm>
                        <a:off x="3526322" y="1424965"/>
                        <a:ext cx="360000" cy="181590"/>
                        <a:chOff x="3233230" y="1438991"/>
                        <a:chExt cx="360000" cy="181590"/>
                      </a:xfrm>
                    </p:grpSpPr>
                    <p:sp>
                      <p:nvSpPr>
                        <p:cNvPr id="1414" name="矩形: 圆角 1413"/>
                        <p:cNvSpPr/>
                        <p:nvPr/>
                      </p:nvSpPr>
                      <p:spPr>
                        <a:xfrm>
                          <a:off x="3233230" y="1438991"/>
                          <a:ext cx="360000" cy="181590"/>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15" name="图片 1414"/>
                        <p:cNvPicPr preferRelativeResize="0"/>
                        <p:nvPr/>
                      </p:nvPicPr>
                      <p:blipFill>
                        <a:blip r:embed="rId10"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3449230" y="1439786"/>
                          <a:ext cx="144000" cy="180000"/>
                        </a:xfrm>
                        <a:prstGeom prst="rect">
                          <a:avLst/>
                        </a:prstGeom>
                      </p:spPr>
                    </p:pic>
                  </p:grpSp>
                  <p:grpSp>
                    <p:nvGrpSpPr>
                      <p:cNvPr id="1411" name="组合 1410"/>
                      <p:cNvGrpSpPr/>
                      <p:nvPr/>
                    </p:nvGrpSpPr>
                    <p:grpSpPr>
                      <a:xfrm>
                        <a:off x="3526322" y="1246555"/>
                        <a:ext cx="360000" cy="180000"/>
                        <a:chOff x="5320860" y="1489369"/>
                        <a:chExt cx="360000" cy="180000"/>
                      </a:xfrm>
                    </p:grpSpPr>
                    <p:pic>
                      <p:nvPicPr>
                        <p:cNvPr id="1412" name="图形 1411" descr="返回箭头"/>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320860" y="1489369"/>
                          <a:ext cx="180000" cy="180000"/>
                        </a:xfrm>
                        <a:prstGeom prst="rect">
                          <a:avLst/>
                        </a:prstGeom>
                      </p:spPr>
                    </p:pic>
                    <p:sp>
                      <p:nvSpPr>
                        <p:cNvPr id="1413" name="文本框 1412"/>
                        <p:cNvSpPr txBox="1"/>
                        <p:nvPr/>
                      </p:nvSpPr>
                      <p:spPr>
                        <a:xfrm>
                          <a:off x="5500860" y="1489369"/>
                          <a:ext cx="180000" cy="180000"/>
                        </a:xfrm>
                        <a:prstGeom prst="rect">
                          <a:avLst/>
                        </a:prstGeom>
                        <a:noFill/>
                      </p:spPr>
                      <p:txBody>
                        <a:bodyPr wrap="none" rtlCol="0" anchor="ctr">
                          <a:spAutoFit/>
                        </a:bodyPr>
                        <a:lstStyle/>
                        <a:p>
                          <a:pPr algn="ctr"/>
                          <a:r>
                            <a:rPr lang="en-US" altLang="zh-CN" sz="900" b="1" dirty="0">
                              <a:latin typeface="Times New Roman" panose="02020603050405020304" pitchFamily="18" charset="0"/>
                              <a:cs typeface="Times New Roman" panose="02020603050405020304" pitchFamily="18" charset="0"/>
                            </a:rPr>
                            <a:t>× 5</a:t>
                          </a:r>
                          <a:endParaRPr lang="zh-CN" altLang="en-US" sz="900" b="1" dirty="0">
                            <a:latin typeface="Times New Roman" panose="02020603050405020304" pitchFamily="18" charset="0"/>
                            <a:cs typeface="Times New Roman" panose="02020603050405020304" pitchFamily="18" charset="0"/>
                          </a:endParaRPr>
                        </a:p>
                      </p:txBody>
                    </p:sp>
                  </p:grpSp>
                </p:grpSp>
                <p:cxnSp>
                  <p:nvCxnSpPr>
                    <p:cNvPr id="1409" name="直接箭头连接符 1408"/>
                    <p:cNvCxnSpPr>
                      <a:endCxn id="1407" idx="1"/>
                    </p:cNvCxnSpPr>
                    <p:nvPr/>
                  </p:nvCxnSpPr>
                  <p:spPr>
                    <a:xfrm>
                      <a:off x="3886322" y="1426555"/>
                      <a:ext cx="23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369" name="组合 1368"/>
                <p:cNvGrpSpPr/>
                <p:nvPr/>
              </p:nvGrpSpPr>
              <p:grpSpPr>
                <a:xfrm>
                  <a:off x="5829571" y="2049154"/>
                  <a:ext cx="900000" cy="540000"/>
                  <a:chOff x="5956322" y="1221624"/>
                  <a:chExt cx="900000" cy="540000"/>
                </a:xfrm>
              </p:grpSpPr>
              <p:sp>
                <p:nvSpPr>
                  <p:cNvPr id="1394" name="文本框 1393"/>
                  <p:cNvSpPr txBox="1"/>
                  <p:nvPr/>
                </p:nvSpPr>
                <p:spPr>
                  <a:xfrm>
                    <a:off x="5956322" y="1581624"/>
                    <a:ext cx="90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Average Score 5</a:t>
                    </a:r>
                    <a:endParaRPr lang="zh-CN" altLang="en-US" sz="900" dirty="0">
                      <a:latin typeface="Times New Roman" panose="02020603050405020304" pitchFamily="18" charset="0"/>
                      <a:cs typeface="Times New Roman" panose="02020603050405020304" pitchFamily="18" charset="0"/>
                    </a:endParaRPr>
                  </a:p>
                </p:txBody>
              </p:sp>
              <p:grpSp>
                <p:nvGrpSpPr>
                  <p:cNvPr id="1395" name="组合 1394"/>
                  <p:cNvGrpSpPr/>
                  <p:nvPr/>
                </p:nvGrpSpPr>
                <p:grpSpPr>
                  <a:xfrm>
                    <a:off x="5956322" y="1221624"/>
                    <a:ext cx="900000" cy="360000"/>
                    <a:chOff x="3526322" y="1246555"/>
                    <a:chExt cx="900000" cy="360000"/>
                  </a:xfrm>
                </p:grpSpPr>
                <p:pic>
                  <p:nvPicPr>
                    <p:cNvPr id="1396" name="图片 1395"/>
                    <p:cNvPicPr preferRelativeResize="0"/>
                    <p:nvPr/>
                  </p:nvPicPr>
                  <p:blipFill>
                    <a:blip r:embed="rId9"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4120322" y="1246555"/>
                      <a:ext cx="306000" cy="360000"/>
                    </a:xfrm>
                    <a:prstGeom prst="rect">
                      <a:avLst/>
                    </a:prstGeom>
                  </p:spPr>
                </p:pic>
                <p:grpSp>
                  <p:nvGrpSpPr>
                    <p:cNvPr id="1397" name="组合 1396"/>
                    <p:cNvGrpSpPr/>
                    <p:nvPr/>
                  </p:nvGrpSpPr>
                  <p:grpSpPr>
                    <a:xfrm>
                      <a:off x="3526322" y="1246555"/>
                      <a:ext cx="360000" cy="360000"/>
                      <a:chOff x="3526322" y="1246555"/>
                      <a:chExt cx="360000" cy="360000"/>
                    </a:xfrm>
                  </p:grpSpPr>
                  <p:grpSp>
                    <p:nvGrpSpPr>
                      <p:cNvPr id="1399" name="组合 1398"/>
                      <p:cNvGrpSpPr/>
                      <p:nvPr/>
                    </p:nvGrpSpPr>
                    <p:grpSpPr>
                      <a:xfrm>
                        <a:off x="3526322" y="1424965"/>
                        <a:ext cx="360000" cy="181590"/>
                        <a:chOff x="3233230" y="1438991"/>
                        <a:chExt cx="360000" cy="181590"/>
                      </a:xfrm>
                    </p:grpSpPr>
                    <p:sp>
                      <p:nvSpPr>
                        <p:cNvPr id="1403" name="矩形: 圆角 1402"/>
                        <p:cNvSpPr/>
                        <p:nvPr/>
                      </p:nvSpPr>
                      <p:spPr>
                        <a:xfrm>
                          <a:off x="3233230" y="1438991"/>
                          <a:ext cx="360000" cy="181590"/>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04" name="图片 1403"/>
                        <p:cNvPicPr preferRelativeResize="0"/>
                        <p:nvPr/>
                      </p:nvPicPr>
                      <p:blipFill>
                        <a:blip r:embed="rId10"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3449230" y="1439786"/>
                          <a:ext cx="144000" cy="180000"/>
                        </a:xfrm>
                        <a:prstGeom prst="rect">
                          <a:avLst/>
                        </a:prstGeom>
                      </p:spPr>
                    </p:pic>
                  </p:grpSp>
                  <p:grpSp>
                    <p:nvGrpSpPr>
                      <p:cNvPr id="1400" name="组合 1399"/>
                      <p:cNvGrpSpPr/>
                      <p:nvPr/>
                    </p:nvGrpSpPr>
                    <p:grpSpPr>
                      <a:xfrm>
                        <a:off x="3526322" y="1246555"/>
                        <a:ext cx="360000" cy="180000"/>
                        <a:chOff x="5320860" y="1489369"/>
                        <a:chExt cx="360000" cy="180000"/>
                      </a:xfrm>
                    </p:grpSpPr>
                    <p:pic>
                      <p:nvPicPr>
                        <p:cNvPr id="1401" name="图形 1400" descr="返回箭头"/>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320860" y="1489369"/>
                          <a:ext cx="180000" cy="180000"/>
                        </a:xfrm>
                        <a:prstGeom prst="rect">
                          <a:avLst/>
                        </a:prstGeom>
                      </p:spPr>
                    </p:pic>
                    <p:sp>
                      <p:nvSpPr>
                        <p:cNvPr id="1402" name="文本框 1401"/>
                        <p:cNvSpPr txBox="1"/>
                        <p:nvPr/>
                      </p:nvSpPr>
                      <p:spPr>
                        <a:xfrm>
                          <a:off x="5500860" y="1489369"/>
                          <a:ext cx="180000" cy="180000"/>
                        </a:xfrm>
                        <a:prstGeom prst="rect">
                          <a:avLst/>
                        </a:prstGeom>
                        <a:noFill/>
                      </p:spPr>
                      <p:txBody>
                        <a:bodyPr wrap="none" rtlCol="0" anchor="ctr">
                          <a:spAutoFit/>
                        </a:bodyPr>
                        <a:lstStyle/>
                        <a:p>
                          <a:pPr algn="ctr"/>
                          <a:r>
                            <a:rPr lang="en-US" altLang="zh-CN" sz="900" b="1" dirty="0">
                              <a:latin typeface="Times New Roman" panose="02020603050405020304" pitchFamily="18" charset="0"/>
                              <a:cs typeface="Times New Roman" panose="02020603050405020304" pitchFamily="18" charset="0"/>
                            </a:rPr>
                            <a:t>× 5</a:t>
                          </a:r>
                          <a:endParaRPr lang="zh-CN" altLang="en-US" sz="900" b="1" dirty="0">
                            <a:latin typeface="Times New Roman" panose="02020603050405020304" pitchFamily="18" charset="0"/>
                            <a:cs typeface="Times New Roman" panose="02020603050405020304" pitchFamily="18" charset="0"/>
                          </a:endParaRPr>
                        </a:p>
                      </p:txBody>
                    </p:sp>
                  </p:grpSp>
                </p:grpSp>
                <p:cxnSp>
                  <p:nvCxnSpPr>
                    <p:cNvPr id="1398" name="直接箭头连接符 1397"/>
                    <p:cNvCxnSpPr>
                      <a:endCxn id="1396" idx="1"/>
                    </p:cNvCxnSpPr>
                    <p:nvPr/>
                  </p:nvCxnSpPr>
                  <p:spPr>
                    <a:xfrm>
                      <a:off x="3886322" y="1426555"/>
                      <a:ext cx="23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370" name="组合 1369"/>
                <p:cNvGrpSpPr/>
                <p:nvPr/>
              </p:nvGrpSpPr>
              <p:grpSpPr>
                <a:xfrm>
                  <a:off x="4344571" y="2589154"/>
                  <a:ext cx="900000" cy="540000"/>
                  <a:chOff x="4058283" y="1794673"/>
                  <a:chExt cx="900000" cy="540000"/>
                </a:xfrm>
              </p:grpSpPr>
              <p:sp>
                <p:nvSpPr>
                  <p:cNvPr id="1383" name="文本框 1382"/>
                  <p:cNvSpPr txBox="1"/>
                  <p:nvPr/>
                </p:nvSpPr>
                <p:spPr>
                  <a:xfrm>
                    <a:off x="4058283" y="2154673"/>
                    <a:ext cx="90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Average Score 2</a:t>
                    </a:r>
                    <a:endParaRPr lang="zh-CN" altLang="en-US" sz="900" dirty="0">
                      <a:latin typeface="Times New Roman" panose="02020603050405020304" pitchFamily="18" charset="0"/>
                      <a:cs typeface="Times New Roman" panose="02020603050405020304" pitchFamily="18" charset="0"/>
                    </a:endParaRPr>
                  </a:p>
                </p:txBody>
              </p:sp>
              <p:grpSp>
                <p:nvGrpSpPr>
                  <p:cNvPr id="1384" name="组合 1383"/>
                  <p:cNvGrpSpPr/>
                  <p:nvPr/>
                </p:nvGrpSpPr>
                <p:grpSpPr>
                  <a:xfrm>
                    <a:off x="4058283" y="1794673"/>
                    <a:ext cx="900000" cy="360000"/>
                    <a:chOff x="3526322" y="1246555"/>
                    <a:chExt cx="900000" cy="360000"/>
                  </a:xfrm>
                </p:grpSpPr>
                <p:pic>
                  <p:nvPicPr>
                    <p:cNvPr id="1385" name="图片 1384"/>
                    <p:cNvPicPr preferRelativeResize="0"/>
                    <p:nvPr/>
                  </p:nvPicPr>
                  <p:blipFill>
                    <a:blip r:embed="rId9"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4120322" y="1246555"/>
                      <a:ext cx="306000" cy="360000"/>
                    </a:xfrm>
                    <a:prstGeom prst="rect">
                      <a:avLst/>
                    </a:prstGeom>
                  </p:spPr>
                </p:pic>
                <p:grpSp>
                  <p:nvGrpSpPr>
                    <p:cNvPr id="1386" name="组合 1385"/>
                    <p:cNvGrpSpPr/>
                    <p:nvPr/>
                  </p:nvGrpSpPr>
                  <p:grpSpPr>
                    <a:xfrm>
                      <a:off x="3526322" y="1246555"/>
                      <a:ext cx="360000" cy="360000"/>
                      <a:chOff x="3526322" y="1246555"/>
                      <a:chExt cx="360000" cy="360000"/>
                    </a:xfrm>
                  </p:grpSpPr>
                  <p:grpSp>
                    <p:nvGrpSpPr>
                      <p:cNvPr id="1388" name="组合 1387"/>
                      <p:cNvGrpSpPr/>
                      <p:nvPr/>
                    </p:nvGrpSpPr>
                    <p:grpSpPr>
                      <a:xfrm>
                        <a:off x="3526322" y="1424965"/>
                        <a:ext cx="360000" cy="181590"/>
                        <a:chOff x="3233230" y="1438991"/>
                        <a:chExt cx="360000" cy="181590"/>
                      </a:xfrm>
                    </p:grpSpPr>
                    <p:sp>
                      <p:nvSpPr>
                        <p:cNvPr id="1392" name="矩形: 圆角 1391"/>
                        <p:cNvSpPr/>
                        <p:nvPr/>
                      </p:nvSpPr>
                      <p:spPr>
                        <a:xfrm>
                          <a:off x="3233230" y="1438991"/>
                          <a:ext cx="360000" cy="181590"/>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93" name="图片 1392"/>
                        <p:cNvPicPr preferRelativeResize="0"/>
                        <p:nvPr/>
                      </p:nvPicPr>
                      <p:blipFill>
                        <a:blip r:embed="rId10"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3449230" y="1439786"/>
                          <a:ext cx="144000" cy="180000"/>
                        </a:xfrm>
                        <a:prstGeom prst="rect">
                          <a:avLst/>
                        </a:prstGeom>
                      </p:spPr>
                    </p:pic>
                  </p:grpSp>
                  <p:grpSp>
                    <p:nvGrpSpPr>
                      <p:cNvPr id="1389" name="组合 1388"/>
                      <p:cNvGrpSpPr/>
                      <p:nvPr/>
                    </p:nvGrpSpPr>
                    <p:grpSpPr>
                      <a:xfrm>
                        <a:off x="3526322" y="1246555"/>
                        <a:ext cx="360000" cy="180000"/>
                        <a:chOff x="5320860" y="1489369"/>
                        <a:chExt cx="360000" cy="180000"/>
                      </a:xfrm>
                    </p:grpSpPr>
                    <p:pic>
                      <p:nvPicPr>
                        <p:cNvPr id="1390" name="图形 1389" descr="返回箭头"/>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320860" y="1489369"/>
                          <a:ext cx="180000" cy="180000"/>
                        </a:xfrm>
                        <a:prstGeom prst="rect">
                          <a:avLst/>
                        </a:prstGeom>
                      </p:spPr>
                    </p:pic>
                    <p:sp>
                      <p:nvSpPr>
                        <p:cNvPr id="1391" name="文本框 1390"/>
                        <p:cNvSpPr txBox="1"/>
                        <p:nvPr/>
                      </p:nvSpPr>
                      <p:spPr>
                        <a:xfrm>
                          <a:off x="5500860" y="1489369"/>
                          <a:ext cx="180000" cy="180000"/>
                        </a:xfrm>
                        <a:prstGeom prst="rect">
                          <a:avLst/>
                        </a:prstGeom>
                        <a:noFill/>
                      </p:spPr>
                      <p:txBody>
                        <a:bodyPr wrap="none" rtlCol="0" anchor="ctr">
                          <a:spAutoFit/>
                        </a:bodyPr>
                        <a:lstStyle/>
                        <a:p>
                          <a:pPr algn="ctr"/>
                          <a:r>
                            <a:rPr lang="en-US" altLang="zh-CN" sz="900" b="1" dirty="0">
                              <a:latin typeface="Times New Roman" panose="02020603050405020304" pitchFamily="18" charset="0"/>
                              <a:cs typeface="Times New Roman" panose="02020603050405020304" pitchFamily="18" charset="0"/>
                            </a:rPr>
                            <a:t>× 5</a:t>
                          </a:r>
                          <a:endParaRPr lang="zh-CN" altLang="en-US" sz="900" b="1" dirty="0">
                            <a:latin typeface="Times New Roman" panose="02020603050405020304" pitchFamily="18" charset="0"/>
                            <a:cs typeface="Times New Roman" panose="02020603050405020304" pitchFamily="18" charset="0"/>
                          </a:endParaRPr>
                        </a:p>
                      </p:txBody>
                    </p:sp>
                  </p:grpSp>
                </p:grpSp>
                <p:cxnSp>
                  <p:nvCxnSpPr>
                    <p:cNvPr id="1387" name="直接箭头连接符 1386"/>
                    <p:cNvCxnSpPr>
                      <a:endCxn id="1385" idx="1"/>
                    </p:cNvCxnSpPr>
                    <p:nvPr/>
                  </p:nvCxnSpPr>
                  <p:spPr>
                    <a:xfrm>
                      <a:off x="3886322" y="1426555"/>
                      <a:ext cx="23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371" name="组合 1370"/>
                <p:cNvGrpSpPr/>
                <p:nvPr/>
              </p:nvGrpSpPr>
              <p:grpSpPr>
                <a:xfrm>
                  <a:off x="5334571" y="2589154"/>
                  <a:ext cx="900000" cy="540000"/>
                  <a:chOff x="5337244" y="1794673"/>
                  <a:chExt cx="900000" cy="540000"/>
                </a:xfrm>
              </p:grpSpPr>
              <p:sp>
                <p:nvSpPr>
                  <p:cNvPr id="1372" name="文本框 1371"/>
                  <p:cNvSpPr txBox="1"/>
                  <p:nvPr/>
                </p:nvSpPr>
                <p:spPr>
                  <a:xfrm>
                    <a:off x="5337244" y="2154673"/>
                    <a:ext cx="90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Average Score 4</a:t>
                    </a:r>
                    <a:endParaRPr lang="zh-CN" altLang="en-US" sz="900" dirty="0">
                      <a:latin typeface="Times New Roman" panose="02020603050405020304" pitchFamily="18" charset="0"/>
                      <a:cs typeface="Times New Roman" panose="02020603050405020304" pitchFamily="18" charset="0"/>
                    </a:endParaRPr>
                  </a:p>
                </p:txBody>
              </p:sp>
              <p:grpSp>
                <p:nvGrpSpPr>
                  <p:cNvPr id="1373" name="组合 1372"/>
                  <p:cNvGrpSpPr/>
                  <p:nvPr/>
                </p:nvGrpSpPr>
                <p:grpSpPr>
                  <a:xfrm>
                    <a:off x="5337244" y="1794673"/>
                    <a:ext cx="900000" cy="360000"/>
                    <a:chOff x="3526322" y="1246555"/>
                    <a:chExt cx="900000" cy="360000"/>
                  </a:xfrm>
                </p:grpSpPr>
                <p:pic>
                  <p:nvPicPr>
                    <p:cNvPr id="1374" name="图片 1373"/>
                    <p:cNvPicPr preferRelativeResize="0"/>
                    <p:nvPr/>
                  </p:nvPicPr>
                  <p:blipFill>
                    <a:blip r:embed="rId9"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4120322" y="1246555"/>
                      <a:ext cx="306000" cy="360000"/>
                    </a:xfrm>
                    <a:prstGeom prst="rect">
                      <a:avLst/>
                    </a:prstGeom>
                  </p:spPr>
                </p:pic>
                <p:grpSp>
                  <p:nvGrpSpPr>
                    <p:cNvPr id="1375" name="组合 1374"/>
                    <p:cNvGrpSpPr/>
                    <p:nvPr/>
                  </p:nvGrpSpPr>
                  <p:grpSpPr>
                    <a:xfrm>
                      <a:off x="3526322" y="1246555"/>
                      <a:ext cx="360000" cy="360000"/>
                      <a:chOff x="3526322" y="1246555"/>
                      <a:chExt cx="360000" cy="360000"/>
                    </a:xfrm>
                  </p:grpSpPr>
                  <p:grpSp>
                    <p:nvGrpSpPr>
                      <p:cNvPr id="1377" name="组合 1376"/>
                      <p:cNvGrpSpPr/>
                      <p:nvPr/>
                    </p:nvGrpSpPr>
                    <p:grpSpPr>
                      <a:xfrm>
                        <a:off x="3526322" y="1424965"/>
                        <a:ext cx="360000" cy="181590"/>
                        <a:chOff x="3233230" y="1438991"/>
                        <a:chExt cx="360000" cy="181590"/>
                      </a:xfrm>
                    </p:grpSpPr>
                    <p:sp>
                      <p:nvSpPr>
                        <p:cNvPr id="1381" name="矩形: 圆角 1380"/>
                        <p:cNvSpPr/>
                        <p:nvPr/>
                      </p:nvSpPr>
                      <p:spPr>
                        <a:xfrm>
                          <a:off x="3233230" y="1438991"/>
                          <a:ext cx="360000" cy="181590"/>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82" name="图片 1381"/>
                        <p:cNvPicPr preferRelativeResize="0"/>
                        <p:nvPr/>
                      </p:nvPicPr>
                      <p:blipFill>
                        <a:blip r:embed="rId10" cstate="print">
                          <a:clrChange>
                            <a:clrFrom>
                              <a:srgbClr val="F5F5F7"/>
                            </a:clrFrom>
                            <a:clrTo>
                              <a:srgbClr val="F5F5F7">
                                <a:alpha val="0"/>
                              </a:srgbClr>
                            </a:clrTo>
                          </a:clrChange>
                          <a:extLst>
                            <a:ext uri="{28A0092B-C50C-407E-A947-70E740481C1C}">
                              <a14:useLocalDpi xmlns:a14="http://schemas.microsoft.com/office/drawing/2010/main" val="0"/>
                            </a:ext>
                          </a:extLst>
                        </a:blip>
                        <a:srcRect l="10994" t="10181" r="10479" b="8502"/>
                        <a:stretch>
                          <a:fillRect/>
                        </a:stretch>
                      </p:blipFill>
                      <p:spPr>
                        <a:xfrm>
                          <a:off x="3449230" y="1439786"/>
                          <a:ext cx="144000" cy="180000"/>
                        </a:xfrm>
                        <a:prstGeom prst="rect">
                          <a:avLst/>
                        </a:prstGeom>
                      </p:spPr>
                    </p:pic>
                  </p:grpSp>
                  <p:grpSp>
                    <p:nvGrpSpPr>
                      <p:cNvPr id="1378" name="组合 1377"/>
                      <p:cNvGrpSpPr/>
                      <p:nvPr/>
                    </p:nvGrpSpPr>
                    <p:grpSpPr>
                      <a:xfrm>
                        <a:off x="3526322" y="1246555"/>
                        <a:ext cx="360000" cy="180000"/>
                        <a:chOff x="5320860" y="1489369"/>
                        <a:chExt cx="360000" cy="180000"/>
                      </a:xfrm>
                    </p:grpSpPr>
                    <p:pic>
                      <p:nvPicPr>
                        <p:cNvPr id="1379" name="图形 1378" descr="返回箭头"/>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320860" y="1489369"/>
                          <a:ext cx="180000" cy="180000"/>
                        </a:xfrm>
                        <a:prstGeom prst="rect">
                          <a:avLst/>
                        </a:prstGeom>
                      </p:spPr>
                    </p:pic>
                    <p:sp>
                      <p:nvSpPr>
                        <p:cNvPr id="1380" name="文本框 1379"/>
                        <p:cNvSpPr txBox="1"/>
                        <p:nvPr/>
                      </p:nvSpPr>
                      <p:spPr>
                        <a:xfrm>
                          <a:off x="5500860" y="1489369"/>
                          <a:ext cx="180000" cy="180000"/>
                        </a:xfrm>
                        <a:prstGeom prst="rect">
                          <a:avLst/>
                        </a:prstGeom>
                        <a:noFill/>
                      </p:spPr>
                      <p:txBody>
                        <a:bodyPr wrap="none" rtlCol="0" anchor="ctr">
                          <a:spAutoFit/>
                        </a:bodyPr>
                        <a:lstStyle/>
                        <a:p>
                          <a:pPr algn="ctr"/>
                          <a:r>
                            <a:rPr lang="en-US" altLang="zh-CN" sz="900" b="1" dirty="0">
                              <a:latin typeface="Times New Roman" panose="02020603050405020304" pitchFamily="18" charset="0"/>
                              <a:cs typeface="Times New Roman" panose="02020603050405020304" pitchFamily="18" charset="0"/>
                            </a:rPr>
                            <a:t>× 5</a:t>
                          </a:r>
                          <a:endParaRPr lang="zh-CN" altLang="en-US" sz="900" b="1" dirty="0">
                            <a:latin typeface="Times New Roman" panose="02020603050405020304" pitchFamily="18" charset="0"/>
                            <a:cs typeface="Times New Roman" panose="02020603050405020304" pitchFamily="18" charset="0"/>
                          </a:endParaRPr>
                        </a:p>
                      </p:txBody>
                    </p:sp>
                  </p:grpSp>
                </p:grpSp>
                <p:cxnSp>
                  <p:nvCxnSpPr>
                    <p:cNvPr id="1376" name="直接箭头连接符 1375"/>
                    <p:cNvCxnSpPr>
                      <a:endCxn id="1374" idx="1"/>
                    </p:cNvCxnSpPr>
                    <p:nvPr/>
                  </p:nvCxnSpPr>
                  <p:spPr>
                    <a:xfrm>
                      <a:off x="3886322" y="1426555"/>
                      <a:ext cx="23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grpSp>
        <p:cxnSp>
          <p:nvCxnSpPr>
            <p:cNvPr id="1151" name="直接箭头连接符 1150"/>
            <p:cNvCxnSpPr>
              <a:stCxn id="10" idx="1"/>
              <a:endCxn id="28" idx="3"/>
            </p:cNvCxnSpPr>
            <p:nvPr/>
          </p:nvCxnSpPr>
          <p:spPr>
            <a:xfrm flipH="1">
              <a:off x="3305634" y="540000"/>
              <a:ext cx="21523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55" name="矩形 1454"/>
            <p:cNvSpPr/>
            <p:nvPr/>
          </p:nvSpPr>
          <p:spPr>
            <a:xfrm>
              <a:off x="2656100" y="2844000"/>
              <a:ext cx="1260000" cy="396000"/>
            </a:xfrm>
            <a:prstGeom prst="rect">
              <a:avLst/>
            </a:prstGeom>
            <a:solidFill>
              <a:srgbClr val="FADBDF"/>
            </a:solidFill>
            <a:ln w="12700">
              <a:solidFill>
                <a:schemeClr val="tx1"/>
              </a:solidFill>
              <a:prstDash val="dash"/>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640"/>
            </a:p>
          </p:txBody>
        </p:sp>
        <p:grpSp>
          <p:nvGrpSpPr>
            <p:cNvPr id="1463" name="组合 1462"/>
            <p:cNvGrpSpPr/>
            <p:nvPr/>
          </p:nvGrpSpPr>
          <p:grpSpPr>
            <a:xfrm>
              <a:off x="2656100" y="2862000"/>
              <a:ext cx="1260000" cy="360000"/>
              <a:chOff x="2382084" y="3253189"/>
              <a:chExt cx="1260000" cy="360000"/>
            </a:xfrm>
          </p:grpSpPr>
          <p:sp>
            <p:nvSpPr>
              <p:cNvPr id="1428" name="文本框 1427"/>
              <p:cNvSpPr txBox="1"/>
              <p:nvPr/>
            </p:nvSpPr>
            <p:spPr>
              <a:xfrm>
                <a:off x="2472084" y="3433189"/>
                <a:ext cx="108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Average Improvement</a:t>
                </a:r>
                <a:endParaRPr lang="zh-CN" altLang="en-US" sz="900" dirty="0">
                  <a:latin typeface="Times New Roman" panose="02020603050405020304" pitchFamily="18" charset="0"/>
                  <a:cs typeface="Times New Roman" panose="02020603050405020304" pitchFamily="18" charset="0"/>
                </a:endParaRPr>
              </a:p>
            </p:txBody>
          </p:sp>
          <p:grpSp>
            <p:nvGrpSpPr>
              <p:cNvPr id="1462" name="组合 1461"/>
              <p:cNvGrpSpPr/>
              <p:nvPr/>
            </p:nvGrpSpPr>
            <p:grpSpPr>
              <a:xfrm>
                <a:off x="2382084" y="3253189"/>
                <a:ext cx="1260000" cy="180000"/>
                <a:chOff x="2382084" y="3369168"/>
                <a:chExt cx="1260000" cy="180000"/>
              </a:xfrm>
            </p:grpSpPr>
            <p:sp>
              <p:nvSpPr>
                <p:cNvPr id="1459" name="文本框 1458"/>
                <p:cNvSpPr txBox="1"/>
                <p:nvPr/>
              </p:nvSpPr>
              <p:spPr>
                <a:xfrm>
                  <a:off x="2382084" y="3369168"/>
                  <a:ext cx="1260000" cy="180000"/>
                </a:xfrm>
                <a:prstGeom prst="rect">
                  <a:avLst/>
                </a:prstGeom>
                <a:noFill/>
              </p:spPr>
              <p:txBody>
                <a:bodyPr wrap="none" rtlCol="0" anchor="ctr">
                  <a:spAutoFit/>
                </a:bodyPr>
                <a:lstStyle/>
                <a:p>
                  <a:r>
                    <a:rPr lang="en-US" altLang="zh-CN" sz="900" dirty="0">
                      <a:latin typeface="Times New Roman" panose="02020603050405020304" pitchFamily="18" charset="0"/>
                      <a:cs typeface="Times New Roman" panose="02020603050405020304" pitchFamily="18" charset="0"/>
                    </a:rPr>
                    <a:t>(              -              ) / 5</a:t>
                  </a:r>
                  <a:endParaRPr lang="zh-CN" altLang="en-US" sz="900" dirty="0">
                    <a:latin typeface="Times New Roman" panose="02020603050405020304" pitchFamily="18" charset="0"/>
                    <a:cs typeface="Times New Roman" panose="02020603050405020304" pitchFamily="18" charset="0"/>
                  </a:endParaRPr>
                </a:p>
              </p:txBody>
            </p:sp>
            <p:sp>
              <p:nvSpPr>
                <p:cNvPr id="1453" name="矩形 1452"/>
                <p:cNvSpPr/>
                <p:nvPr/>
              </p:nvSpPr>
              <p:spPr>
                <a:xfrm>
                  <a:off x="2539137" y="3369168"/>
                  <a:ext cx="360000" cy="1800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4" name="矩形 1453"/>
                <p:cNvSpPr/>
                <p:nvPr/>
              </p:nvSpPr>
              <p:spPr>
                <a:xfrm>
                  <a:off x="2971137" y="3369168"/>
                  <a:ext cx="360000" cy="18000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cxnSp>
          <p:nvCxnSpPr>
            <p:cNvPr id="1476" name="连接符: 肘形 1475"/>
            <p:cNvCxnSpPr>
              <a:stCxn id="1365" idx="1"/>
            </p:cNvCxnSpPr>
            <p:nvPr/>
          </p:nvCxnSpPr>
          <p:spPr>
            <a:xfrm rot="10800000">
              <a:off x="2802164" y="990000"/>
              <a:ext cx="718702" cy="1620000"/>
            </a:xfrm>
            <a:prstGeom prst="bentConnector2">
              <a:avLst/>
            </a:prstGeom>
            <a:ln>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485" name="连接符: 肘形 1484"/>
            <p:cNvCxnSpPr>
              <a:stCxn id="1520" idx="2"/>
              <a:endCxn id="483" idx="1"/>
            </p:cNvCxnSpPr>
            <p:nvPr/>
          </p:nvCxnSpPr>
          <p:spPr>
            <a:xfrm rot="16200000" flipH="1">
              <a:off x="3026250" y="945384"/>
              <a:ext cx="450000" cy="53923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520" name="文本框 1519"/>
            <p:cNvSpPr txBox="1"/>
            <p:nvPr/>
          </p:nvSpPr>
          <p:spPr>
            <a:xfrm>
              <a:off x="2801634" y="810000"/>
              <a:ext cx="360000" cy="180000"/>
            </a:xfrm>
            <a:prstGeom prst="rect">
              <a:avLst/>
            </a:prstGeom>
            <a:noFill/>
          </p:spPr>
          <p:txBody>
            <a:bodyPr wrap="none" rtlCol="0" anchor="ctr">
              <a:spAutoFit/>
            </a:bodyPr>
            <a:lstStyle/>
            <a:p>
              <a:pPr algn="ctr"/>
              <a:r>
                <a:rPr lang="en-US" altLang="zh-CN" sz="900" dirty="0">
                  <a:latin typeface="Times New Roman" panose="02020603050405020304" pitchFamily="18" charset="0"/>
                  <a:cs typeface="Times New Roman" panose="02020603050405020304" pitchFamily="18" charset="0"/>
                </a:rPr>
                <a:t>LLM</a:t>
              </a:r>
              <a:endParaRPr lang="zh-CN" altLang="en-US" sz="900" dirty="0">
                <a:latin typeface="Times New Roman" panose="02020603050405020304" pitchFamily="18" charset="0"/>
                <a:cs typeface="Times New Roman" panose="02020603050405020304" pitchFamily="18" charset="0"/>
              </a:endParaRPr>
            </a:p>
          </p:txBody>
        </p:sp>
        <p:pic>
          <p:nvPicPr>
            <p:cNvPr id="1521" name="图片 1520"/>
            <p:cNvPicPr preferRelativeResize="0"/>
            <p:nvPr/>
          </p:nvPicPr>
          <p:blipFill>
            <a:blip r:embed="rId4">
              <a:clrChange>
                <a:clrFrom>
                  <a:srgbClr val="FFFFFF"/>
                </a:clrFrom>
                <a:clrTo>
                  <a:srgbClr val="FFFFFF">
                    <a:alpha val="0"/>
                  </a:srgbClr>
                </a:clrTo>
              </a:clrChange>
            </a:blip>
            <a:srcRect l="17429" t="13778" r="17936" b="16952"/>
            <a:stretch>
              <a:fillRect/>
            </a:stretch>
          </p:blipFill>
          <p:spPr>
            <a:xfrm>
              <a:off x="2657634" y="270000"/>
              <a:ext cx="648000" cy="540000"/>
            </a:xfrm>
            <a:prstGeom prst="rect">
              <a:avLst/>
            </a:prstGeom>
          </p:spPr>
        </p:pic>
      </p:grpSp>
      <p:sp>
        <p:nvSpPr>
          <p:cNvPr id="1535" name="文本框 1534"/>
          <p:cNvSpPr txBox="1"/>
          <p:nvPr/>
        </p:nvSpPr>
        <p:spPr>
          <a:xfrm>
            <a:off x="629557" y="3735398"/>
            <a:ext cx="6120000" cy="2308324"/>
          </a:xfrm>
          <a:prstGeom prst="rect">
            <a:avLst/>
          </a:prstGeom>
          <a:noFill/>
        </p:spPr>
        <p:txBody>
          <a:bodyPr wrap="square" rtlCol="0">
            <a:spAutoFit/>
          </a:bodyPr>
          <a:lstStyle/>
          <a:p>
            <a:r>
              <a:rPr lang="zh-CN" altLang="en-US" dirty="0"/>
              <a:t>图</a:t>
            </a:r>
            <a:r>
              <a:rPr lang="en-US" altLang="zh-CN" dirty="0"/>
              <a:t>3</a:t>
            </a:r>
            <a:r>
              <a:rPr lang="zh-CN" altLang="en-US" dirty="0"/>
              <a:t>：优化方法性能评估流程。（详见</a:t>
            </a:r>
            <a:r>
              <a:rPr lang="en-US" altLang="zh-CN" dirty="0"/>
              <a:t>§4.1</a:t>
            </a:r>
            <a:r>
              <a:rPr lang="zh-CN" altLang="en-US" dirty="0"/>
              <a:t>中</a:t>
            </a:r>
            <a:r>
              <a:rPr lang="zh-CN" altLang="en-US" b="1" dirty="0"/>
              <a:t>评估指标部分</a:t>
            </a:r>
            <a:r>
              <a:rPr lang="zh-CN" altLang="en-US" dirty="0"/>
              <a:t>）分别使用</a:t>
            </a:r>
            <a:r>
              <a:rPr lang="en-US" altLang="zh-CN" dirty="0"/>
              <a:t>LLM</a:t>
            </a:r>
            <a:r>
              <a:rPr lang="zh-CN" altLang="en-US" dirty="0"/>
              <a:t>基于优化前和优化后的</a:t>
            </a:r>
            <a:r>
              <a:rPr lang="en-US" altLang="zh-CN" dirty="0"/>
              <a:t>5</a:t>
            </a:r>
            <a:r>
              <a:rPr lang="zh-CN" altLang="en-US" dirty="0"/>
              <a:t>个内容源为每个查询生成响应，通过对比响应中各内容源的相对可见性得分变化，评估</a:t>
            </a:r>
            <a:r>
              <a:rPr lang="en-US" altLang="zh-CN" dirty="0"/>
              <a:t>GSEO</a:t>
            </a:r>
            <a:r>
              <a:rPr lang="zh-CN" altLang="en-US" dirty="0"/>
              <a:t>方法对内容曝光效果的提升。每个多样化检索样本包含</a:t>
            </a:r>
            <a:r>
              <a:rPr lang="en-US" altLang="zh-CN" dirty="0"/>
              <a:t>1</a:t>
            </a:r>
            <a:r>
              <a:rPr lang="zh-CN" altLang="en-US" dirty="0"/>
              <a:t>条原始查询与</a:t>
            </a:r>
            <a:r>
              <a:rPr lang="en-US" altLang="zh-CN" dirty="0"/>
              <a:t>4</a:t>
            </a:r>
            <a:r>
              <a:rPr lang="zh-CN" altLang="en-US" dirty="0"/>
              <a:t>条由</a:t>
            </a:r>
            <a:r>
              <a:rPr lang="en-US" altLang="zh-CN" dirty="0"/>
              <a:t>GPT-4</a:t>
            </a:r>
            <a:r>
              <a:rPr lang="zh-CN" altLang="en-US" dirty="0"/>
              <a:t>生成的相关变体。对每个查询下重复生成</a:t>
            </a:r>
            <a:r>
              <a:rPr lang="en-US" altLang="zh-CN" dirty="0"/>
              <a:t>5</a:t>
            </a:r>
            <a:r>
              <a:rPr lang="zh-CN" altLang="en-US" dirty="0"/>
              <a:t>次响应并评估，取平均作为该查询下优化方法的最终表现。最终将</a:t>
            </a:r>
            <a:r>
              <a:rPr lang="en-US" altLang="zh-CN" dirty="0"/>
              <a:t>5</a:t>
            </a:r>
            <a:r>
              <a:rPr lang="zh-CN" altLang="en-US" dirty="0"/>
              <a:t>个查询的结果平均作为该检索样本下优化方法的整体表现。</a:t>
            </a:r>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 name="矩形 508"/>
          <p:cNvSpPr/>
          <p:nvPr/>
        </p:nvSpPr>
        <p:spPr>
          <a:xfrm>
            <a:off x="106200" y="-534472"/>
            <a:ext cx="7560000" cy="52564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48" name="图片 547"/>
          <p:cNvPicPr>
            <a:picLocks noChangeAspect="1"/>
          </p:cNvPicPr>
          <p:nvPr/>
        </p:nvPicPr>
        <p:blipFill>
          <a:blip r:embed="rId3"/>
          <a:stretch>
            <a:fillRect/>
          </a:stretch>
        </p:blipFill>
        <p:spPr>
          <a:xfrm>
            <a:off x="0" y="-3151675"/>
            <a:ext cx="7772400" cy="3123221"/>
          </a:xfrm>
          <a:prstGeom prst="rect">
            <a:avLst/>
          </a:prstGeom>
        </p:spPr>
      </p:pic>
      <p:pic>
        <p:nvPicPr>
          <p:cNvPr id="75" name="图片 74"/>
          <p:cNvPicPr>
            <a:picLocks noChangeAspect="1"/>
          </p:cNvPicPr>
          <p:nvPr/>
        </p:nvPicPr>
        <p:blipFill>
          <a:blip r:embed="rId4"/>
          <a:stretch>
            <a:fillRect/>
          </a:stretch>
        </p:blipFill>
        <p:spPr>
          <a:xfrm>
            <a:off x="0" y="-3359217"/>
            <a:ext cx="7772400" cy="3345427"/>
          </a:xfrm>
          <a:prstGeom prst="rect">
            <a:avLst/>
          </a:prstGeom>
        </p:spPr>
      </p:pic>
      <p:sp>
        <p:nvSpPr>
          <p:cNvPr id="7" name="文本框 6"/>
          <p:cNvSpPr txBox="1"/>
          <p:nvPr/>
        </p:nvSpPr>
        <p:spPr>
          <a:xfrm>
            <a:off x="4393384" y="3125020"/>
            <a:ext cx="3425216" cy="1323439"/>
          </a:xfrm>
          <a:prstGeom prst="rect">
            <a:avLst/>
          </a:prstGeom>
        </p:spPr>
        <p:txBody>
          <a:bodyPr wrap="square">
            <a:spAutoFit/>
          </a:bodyPr>
          <a:lstStyle/>
          <a:p>
            <a:r>
              <a:rPr lang="zh-CN" altLang="en-US" sz="1600" dirty="0"/>
              <a:t>图</a:t>
            </a:r>
            <a:r>
              <a:rPr lang="en-US" altLang="zh-CN" sz="1600" dirty="0"/>
              <a:t>5</a:t>
            </a:r>
            <a:r>
              <a:rPr lang="zh-CN" altLang="en-US" sz="1600" dirty="0"/>
              <a:t>：</a:t>
            </a:r>
            <a:r>
              <a:rPr lang="en-US" altLang="zh-CN" sz="1600" dirty="0"/>
              <a:t>RAID G-SEO</a:t>
            </a:r>
            <a:r>
              <a:rPr lang="zh-CN" altLang="en-US" sz="1600" dirty="0"/>
              <a:t>在角色视角上的偏好分布。我们对</a:t>
            </a:r>
            <a:r>
              <a:rPr lang="en-US" altLang="zh-CN" sz="1600" dirty="0"/>
              <a:t>4W</a:t>
            </a:r>
            <a:r>
              <a:rPr lang="zh-CN" altLang="en-US" sz="1600" dirty="0"/>
              <a:t>多角色反思模块生成的用户角色进行语义聚类，揭示了其在检索意图泛化过程中所偏好的认知视角类型分布。</a:t>
            </a:r>
            <a:endParaRPr lang="zh-CN" altLang="en-US" sz="1600" dirty="0">
              <a:solidFill>
                <a:srgbClr val="000000"/>
              </a:solidFill>
              <a:latin typeface="宋体" panose="02010600030101010101" pitchFamily="2" charset="-122"/>
              <a:ea typeface="宋体" panose="02010600030101010101" pitchFamily="2" charset="-122"/>
              <a:sym typeface="+mn-ea"/>
            </a:endParaRPr>
          </a:p>
        </p:txBody>
      </p:sp>
      <p:sp>
        <p:nvSpPr>
          <p:cNvPr id="11" name="文本框 10"/>
          <p:cNvSpPr txBox="1"/>
          <p:nvPr/>
        </p:nvSpPr>
        <p:spPr>
          <a:xfrm>
            <a:off x="267970" y="8408494"/>
            <a:ext cx="6975996" cy="1569660"/>
          </a:xfrm>
          <a:prstGeom prst="rect">
            <a:avLst/>
          </a:prstGeom>
        </p:spPr>
        <p:txBody>
          <a:bodyPr wrap="square">
            <a:spAutoFit/>
          </a:bodyPr>
          <a:lstStyle/>
          <a:p>
            <a:r>
              <a:rPr lang="zh-CN" altLang="en-US" sz="1600" dirty="0"/>
              <a:t>图</a:t>
            </a:r>
            <a:r>
              <a:rPr lang="en-US" altLang="zh-CN" sz="1600" dirty="0"/>
              <a:t>6</a:t>
            </a:r>
            <a:r>
              <a:rPr lang="zh-CN" altLang="en-US" sz="1600" dirty="0"/>
              <a:t>：</a:t>
            </a:r>
            <a:r>
              <a:rPr lang="en-US" altLang="zh-CN" sz="1600" dirty="0"/>
              <a:t>RAID G-SEO </a:t>
            </a:r>
            <a:r>
              <a:rPr lang="zh-CN" altLang="en-US" sz="1600" dirty="0"/>
              <a:t>在优化步骤规划中的偏好分布。我们对该方法生成的每条优化步骤进行解析，提取其对应的优化目标与操作类别，并据此进行聚类分析。图（</a:t>
            </a:r>
            <a:r>
              <a:rPr lang="en-US" altLang="zh-CN" sz="1600" dirty="0"/>
              <a:t>a</a:t>
            </a:r>
            <a:r>
              <a:rPr lang="zh-CN" altLang="en-US" sz="1600" dirty="0"/>
              <a:t>）展示优化步骤在不同优化目标上的分布情况，反映意图在内容优化导向中的偏好倾向（如提升理解清晰性、增加内容深度和价值等）；图（</a:t>
            </a:r>
            <a:r>
              <a:rPr lang="en-US" altLang="zh-CN" sz="1600" dirty="0"/>
              <a:t>b</a:t>
            </a:r>
            <a:r>
              <a:rPr lang="zh-CN" altLang="en-US" sz="1600" dirty="0"/>
              <a:t>）展示各步骤在操作类型上的分布情况，揭示意图在执行策略层面的具体体现（如内容结构重新组织、扩展信息等）。</a:t>
            </a:r>
          </a:p>
        </p:txBody>
      </p:sp>
      <p:sp>
        <p:nvSpPr>
          <p:cNvPr id="8" name="文本框 7">
            <a:extLst>
              <a:ext uri="{FF2B5EF4-FFF2-40B4-BE49-F238E27FC236}">
                <a16:creationId xmlns:a16="http://schemas.microsoft.com/office/drawing/2014/main" id="{3EEDFB9B-C505-9C97-82C2-938E326B9C8E}"/>
              </a:ext>
            </a:extLst>
          </p:cNvPr>
          <p:cNvSpPr txBox="1"/>
          <p:nvPr/>
        </p:nvSpPr>
        <p:spPr>
          <a:xfrm>
            <a:off x="202555" y="5145027"/>
            <a:ext cx="6216292" cy="1077218"/>
          </a:xfrm>
          <a:prstGeom prst="rect">
            <a:avLst/>
          </a:prstGeom>
        </p:spPr>
        <p:txBody>
          <a:bodyPr wrap="square">
            <a:spAutoFit/>
          </a:bodyPr>
          <a:lstStyle/>
          <a:p>
            <a:r>
              <a:rPr lang="zh-CN" altLang="en-US" sz="1600" dirty="0"/>
              <a:t>图</a:t>
            </a:r>
            <a:r>
              <a:rPr lang="en-US" altLang="zh-CN" sz="1600" dirty="0"/>
              <a:t>4</a:t>
            </a:r>
            <a:r>
              <a:rPr lang="zh-CN" altLang="en-US" sz="1600" dirty="0"/>
              <a:t>：</a:t>
            </a:r>
            <a:r>
              <a:rPr lang="en-US" altLang="zh-CN" sz="1600" dirty="0"/>
              <a:t>G-SEO </a:t>
            </a:r>
            <a:r>
              <a:rPr lang="zh-CN" altLang="en-US" sz="1600" dirty="0"/>
              <a:t>方法在多样化 </a:t>
            </a:r>
            <a:r>
              <a:rPr lang="en-US" altLang="zh-CN" sz="1600" dirty="0"/>
              <a:t>GSE </a:t>
            </a:r>
            <a:r>
              <a:rPr lang="zh-CN" altLang="en-US" sz="1600" dirty="0"/>
              <a:t>检索场景下的适应性分析。我们以各方法在多个内容优化任务中有效提升主观与客观可见性的次数作为衡量指标，评估其在不同检索场景中泛化能力与实际效用。图（</a:t>
            </a:r>
            <a:r>
              <a:rPr lang="en-US" altLang="zh-CN" sz="1600" dirty="0"/>
              <a:t>a</a:t>
            </a:r>
            <a:r>
              <a:rPr lang="zh-CN" altLang="en-US" sz="1600" dirty="0"/>
              <a:t>）是</a:t>
            </a:r>
            <a:r>
              <a:rPr lang="en-US" altLang="zh-CN" sz="1600" dirty="0"/>
              <a:t>RAID G-SEO</a:t>
            </a:r>
            <a:r>
              <a:rPr lang="zh-CN" altLang="en-US" sz="1600" dirty="0"/>
              <a:t>与其他基线方法的对比，图（</a:t>
            </a:r>
            <a:r>
              <a:rPr lang="en-US" altLang="zh-CN" sz="1600" dirty="0"/>
              <a:t>b</a:t>
            </a:r>
            <a:r>
              <a:rPr lang="zh-CN" altLang="en-US" sz="1600" dirty="0"/>
              <a:t>）是消融实验的部分。</a:t>
            </a:r>
          </a:p>
        </p:txBody>
      </p:sp>
      <p:grpSp>
        <p:nvGrpSpPr>
          <p:cNvPr id="9" name="组合 8">
            <a:extLst>
              <a:ext uri="{FF2B5EF4-FFF2-40B4-BE49-F238E27FC236}">
                <a16:creationId xmlns:a16="http://schemas.microsoft.com/office/drawing/2014/main" id="{4DEFB37B-B9AD-6911-998A-C98574BEAB6D}"/>
              </a:ext>
            </a:extLst>
          </p:cNvPr>
          <p:cNvGrpSpPr/>
          <p:nvPr/>
        </p:nvGrpSpPr>
        <p:grpSpPr>
          <a:xfrm>
            <a:off x="-109130" y="6319269"/>
            <a:ext cx="7740000" cy="2700000"/>
            <a:chOff x="0" y="5157862"/>
            <a:chExt cx="7740000" cy="2700000"/>
          </a:xfrm>
          <a:solidFill>
            <a:schemeClr val="bg1"/>
          </a:solidFill>
        </p:grpSpPr>
        <p:sp>
          <p:nvSpPr>
            <p:cNvPr id="2" name="文本框 1">
              <a:extLst>
                <a:ext uri="{FF2B5EF4-FFF2-40B4-BE49-F238E27FC236}">
                  <a16:creationId xmlns:a16="http://schemas.microsoft.com/office/drawing/2014/main" id="{B2307091-9137-C210-6BEB-B2BEAD185722}"/>
                </a:ext>
              </a:extLst>
            </p:cNvPr>
            <p:cNvSpPr txBox="1"/>
            <p:nvPr/>
          </p:nvSpPr>
          <p:spPr>
            <a:xfrm>
              <a:off x="0" y="7677862"/>
              <a:ext cx="3600000" cy="180000"/>
            </a:xfrm>
            <a:prstGeom prst="rect">
              <a:avLst/>
            </a:prstGeom>
            <a:noFill/>
          </p:spPr>
          <p:txBody>
            <a:bodyPr anchor="ctr">
              <a:spAutoFit/>
            </a:bodyPr>
            <a:lstStyle/>
            <a:p>
              <a:pPr algn="ctr"/>
              <a:r>
                <a:rPr lang="en-US" altLang="zh-CN" sz="900" dirty="0">
                  <a:latin typeface="Times New Roman" panose="02020603050405020304" pitchFamily="18" charset="0"/>
                  <a:cs typeface="Times New Roman" panose="02020603050405020304" pitchFamily="18" charset="0"/>
                </a:rPr>
                <a:t>(a)</a:t>
              </a:r>
              <a:endParaRPr lang="zh-CN" altLang="en-US" sz="9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51210DD2-B7BB-F4CF-C0D9-9742B5DFE6D8}"/>
                </a:ext>
              </a:extLst>
            </p:cNvPr>
            <p:cNvSpPr txBox="1"/>
            <p:nvPr/>
          </p:nvSpPr>
          <p:spPr>
            <a:xfrm>
              <a:off x="3780000" y="7677862"/>
              <a:ext cx="3960000" cy="180000"/>
            </a:xfrm>
            <a:prstGeom prst="rect">
              <a:avLst/>
            </a:prstGeom>
            <a:noFill/>
          </p:spPr>
          <p:txBody>
            <a:bodyPr anchor="ctr">
              <a:spAutoFit/>
            </a:bodyPr>
            <a:lstStyle/>
            <a:p>
              <a:pPr algn="ctr"/>
              <a:r>
                <a:rPr lang="en-US" altLang="zh-CN" sz="900" dirty="0">
                  <a:latin typeface="Times New Roman" panose="02020603050405020304" pitchFamily="18" charset="0"/>
                  <a:cs typeface="Times New Roman" panose="02020603050405020304" pitchFamily="18" charset="0"/>
                </a:rPr>
                <a:t>(b)</a:t>
              </a:r>
              <a:endParaRPr lang="zh-CN" altLang="en-US" sz="900" dirty="0">
                <a:latin typeface="Times New Roman" panose="02020603050405020304" pitchFamily="18" charset="0"/>
                <a:cs typeface="Times New Roman" panose="02020603050405020304" pitchFamily="18" charset="0"/>
              </a:endParaRPr>
            </a:p>
          </p:txBody>
        </p:sp>
        <p:graphicFrame>
          <p:nvGraphicFramePr>
            <p:cNvPr id="16" name="图表 15">
              <a:extLst>
                <a:ext uri="{FF2B5EF4-FFF2-40B4-BE49-F238E27FC236}">
                  <a16:creationId xmlns:a16="http://schemas.microsoft.com/office/drawing/2014/main" id="{E93FC4C4-FAB5-B2CD-B7EB-8874282067BE}"/>
                </a:ext>
              </a:extLst>
            </p:cNvPr>
            <p:cNvGraphicFramePr/>
            <p:nvPr>
              <p:extLst>
                <p:ext uri="{D42A27DB-BD31-4B8C-83A1-F6EECF244321}">
                  <p14:modId xmlns:p14="http://schemas.microsoft.com/office/powerpoint/2010/main" val="1736674816"/>
                </p:ext>
              </p:extLst>
            </p:nvPr>
          </p:nvGraphicFramePr>
          <p:xfrm>
            <a:off x="0" y="5157863"/>
            <a:ext cx="3600000" cy="252031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7" name="图表 16">
              <a:extLst>
                <a:ext uri="{FF2B5EF4-FFF2-40B4-BE49-F238E27FC236}">
                  <a16:creationId xmlns:a16="http://schemas.microsoft.com/office/drawing/2014/main" id="{A58321D1-C91D-213F-F57F-44AF3E697A38}"/>
                </a:ext>
              </a:extLst>
            </p:cNvPr>
            <p:cNvGraphicFramePr/>
            <p:nvPr>
              <p:extLst>
                <p:ext uri="{D42A27DB-BD31-4B8C-83A1-F6EECF244321}">
                  <p14:modId xmlns:p14="http://schemas.microsoft.com/office/powerpoint/2010/main" val="1676597180"/>
                </p:ext>
              </p:extLst>
            </p:nvPr>
          </p:nvGraphicFramePr>
          <p:xfrm>
            <a:off x="3780000" y="5157862"/>
            <a:ext cx="3960000" cy="2520315"/>
          </p:xfrm>
          <a:graphic>
            <a:graphicData uri="http://schemas.openxmlformats.org/drawingml/2006/chart">
              <c:chart xmlns:c="http://schemas.openxmlformats.org/drawingml/2006/chart" xmlns:r="http://schemas.openxmlformats.org/officeDocument/2006/relationships" r:id="rId6"/>
            </a:graphicData>
          </a:graphic>
        </p:graphicFrame>
      </p:grpSp>
      <p:graphicFrame>
        <p:nvGraphicFramePr>
          <p:cNvPr id="6" name="图表 5" descr="7b0a202020202263686172745265734964223a20223230343735393537220a7d0a">
            <a:extLst>
              <a:ext uri="{FF2B5EF4-FFF2-40B4-BE49-F238E27FC236}">
                <a16:creationId xmlns:a16="http://schemas.microsoft.com/office/drawing/2014/main" id="{1739E970-65F1-7E02-CBAF-1E0AB4B6ED4A}"/>
              </a:ext>
            </a:extLst>
          </p:cNvPr>
          <p:cNvGraphicFramePr/>
          <p:nvPr>
            <p:extLst>
              <p:ext uri="{D42A27DB-BD31-4B8C-83A1-F6EECF244321}">
                <p14:modId xmlns:p14="http://schemas.microsoft.com/office/powerpoint/2010/main" val="271335739"/>
              </p:ext>
            </p:extLst>
          </p:nvPr>
        </p:nvGraphicFramePr>
        <p:xfrm>
          <a:off x="4950879" y="313275"/>
          <a:ext cx="5033010" cy="2524760"/>
        </p:xfrm>
        <a:graphic>
          <a:graphicData uri="http://schemas.openxmlformats.org/drawingml/2006/chart">
            <c:chart xmlns:c="http://schemas.openxmlformats.org/drawingml/2006/chart" xmlns:r="http://schemas.openxmlformats.org/officeDocument/2006/relationships" r:id="rId7"/>
          </a:graphicData>
        </a:graphic>
      </p:graphicFrame>
      <p:grpSp>
        <p:nvGrpSpPr>
          <p:cNvPr id="35" name="组合 34">
            <a:extLst>
              <a:ext uri="{FF2B5EF4-FFF2-40B4-BE49-F238E27FC236}">
                <a16:creationId xmlns:a16="http://schemas.microsoft.com/office/drawing/2014/main" id="{A55444F0-C1FD-91D3-ED3A-D54F39D938C3}"/>
              </a:ext>
            </a:extLst>
          </p:cNvPr>
          <p:cNvGrpSpPr/>
          <p:nvPr/>
        </p:nvGrpSpPr>
        <p:grpSpPr>
          <a:xfrm>
            <a:off x="278753" y="62410"/>
            <a:ext cx="5220000" cy="5760000"/>
            <a:chOff x="278753" y="62410"/>
            <a:chExt cx="5220000" cy="5760000"/>
          </a:xfrm>
        </p:grpSpPr>
        <p:sp>
          <p:nvSpPr>
            <p:cNvPr id="13" name="矩形 12">
              <a:extLst>
                <a:ext uri="{FF2B5EF4-FFF2-40B4-BE49-F238E27FC236}">
                  <a16:creationId xmlns:a16="http://schemas.microsoft.com/office/drawing/2014/main" id="{CA378728-6553-F6F3-D33B-227341624649}"/>
                </a:ext>
              </a:extLst>
            </p:cNvPr>
            <p:cNvSpPr/>
            <p:nvPr/>
          </p:nvSpPr>
          <p:spPr>
            <a:xfrm>
              <a:off x="278753" y="62410"/>
              <a:ext cx="5220000" cy="576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a:extLst>
                <a:ext uri="{FF2B5EF4-FFF2-40B4-BE49-F238E27FC236}">
                  <a16:creationId xmlns:a16="http://schemas.microsoft.com/office/drawing/2014/main" id="{E21D4CC3-83BC-4857-9CB3-494B71E24FC2}"/>
                </a:ext>
              </a:extLst>
            </p:cNvPr>
            <p:cNvGrpSpPr/>
            <p:nvPr/>
          </p:nvGrpSpPr>
          <p:grpSpPr>
            <a:xfrm>
              <a:off x="278753" y="152410"/>
              <a:ext cx="5220000" cy="5580000"/>
              <a:chOff x="202555" y="-13790"/>
              <a:chExt cx="5220000" cy="5580000"/>
            </a:xfrm>
          </p:grpSpPr>
          <p:grpSp>
            <p:nvGrpSpPr>
              <p:cNvPr id="29" name="组合 28">
                <a:extLst>
                  <a:ext uri="{FF2B5EF4-FFF2-40B4-BE49-F238E27FC236}">
                    <a16:creationId xmlns:a16="http://schemas.microsoft.com/office/drawing/2014/main" id="{D0B7D256-5D2F-F5F4-6C42-A3BEEC976C29}"/>
                  </a:ext>
                </a:extLst>
              </p:cNvPr>
              <p:cNvGrpSpPr/>
              <p:nvPr/>
            </p:nvGrpSpPr>
            <p:grpSpPr>
              <a:xfrm>
                <a:off x="202555" y="-13790"/>
                <a:ext cx="5220000" cy="2700000"/>
                <a:chOff x="-742124" y="-292866"/>
                <a:chExt cx="5220000" cy="2700000"/>
              </a:xfrm>
              <a:solidFill>
                <a:schemeClr val="bg1"/>
              </a:solidFill>
            </p:grpSpPr>
            <p:graphicFrame>
              <p:nvGraphicFramePr>
                <p:cNvPr id="33" name="图表 32">
                  <a:extLst>
                    <a:ext uri="{FF2B5EF4-FFF2-40B4-BE49-F238E27FC236}">
                      <a16:creationId xmlns:a16="http://schemas.microsoft.com/office/drawing/2014/main" id="{993E2A7C-89AD-A90B-B638-BD2BFC7DFBAB}"/>
                    </a:ext>
                  </a:extLst>
                </p:cNvPr>
                <p:cNvGraphicFramePr/>
                <p:nvPr>
                  <p:extLst>
                    <p:ext uri="{D42A27DB-BD31-4B8C-83A1-F6EECF244321}">
                      <p14:modId xmlns:p14="http://schemas.microsoft.com/office/powerpoint/2010/main" val="2464021559"/>
                    </p:ext>
                  </p:extLst>
                </p:nvPr>
              </p:nvGraphicFramePr>
              <p:xfrm>
                <a:off x="-742124" y="-292866"/>
                <a:ext cx="5220000" cy="2520000"/>
              </p:xfrm>
              <a:graphic>
                <a:graphicData uri="http://schemas.openxmlformats.org/drawingml/2006/chart">
                  <c:chart xmlns:c="http://schemas.openxmlformats.org/drawingml/2006/chart" xmlns:r="http://schemas.openxmlformats.org/officeDocument/2006/relationships" r:id="rId8"/>
                </a:graphicData>
              </a:graphic>
            </p:graphicFrame>
            <p:sp>
              <p:nvSpPr>
                <p:cNvPr id="34" name="文本框 33">
                  <a:extLst>
                    <a:ext uri="{FF2B5EF4-FFF2-40B4-BE49-F238E27FC236}">
                      <a16:creationId xmlns:a16="http://schemas.microsoft.com/office/drawing/2014/main" id="{D98284BF-BAF1-6B10-BFB1-8166999596DE}"/>
                    </a:ext>
                  </a:extLst>
                </p:cNvPr>
                <p:cNvSpPr txBox="1"/>
                <p:nvPr/>
              </p:nvSpPr>
              <p:spPr>
                <a:xfrm>
                  <a:off x="-742124" y="2227134"/>
                  <a:ext cx="5220000" cy="180000"/>
                </a:xfrm>
                <a:prstGeom prst="rect">
                  <a:avLst/>
                </a:prstGeom>
                <a:noFill/>
              </p:spPr>
              <p:txBody>
                <a:bodyPr anchor="ctr">
                  <a:spAutoFit/>
                </a:bodyPr>
                <a:lstStyle/>
                <a:p>
                  <a:pPr algn="ctr"/>
                  <a:r>
                    <a:rPr lang="en-US" altLang="zh-CN" sz="900" dirty="0">
                      <a:latin typeface="Times New Roman" panose="02020603050405020304" pitchFamily="18" charset="0"/>
                      <a:cs typeface="Times New Roman" panose="02020603050405020304" pitchFamily="18" charset="0"/>
                    </a:rPr>
                    <a:t>(a)</a:t>
                  </a:r>
                  <a:endParaRPr lang="zh-CN" altLang="en-US" sz="900" dirty="0">
                    <a:latin typeface="Times New Roman" panose="02020603050405020304" pitchFamily="18" charset="0"/>
                    <a:cs typeface="Times New Roman" panose="02020603050405020304" pitchFamily="18" charset="0"/>
                  </a:endParaRPr>
                </a:p>
              </p:txBody>
            </p:sp>
          </p:grpSp>
          <p:grpSp>
            <p:nvGrpSpPr>
              <p:cNvPr id="30" name="组合 29">
                <a:extLst>
                  <a:ext uri="{FF2B5EF4-FFF2-40B4-BE49-F238E27FC236}">
                    <a16:creationId xmlns:a16="http://schemas.microsoft.com/office/drawing/2014/main" id="{B9A25D1F-5A22-E771-CEE6-12CB0B2F2610}"/>
                  </a:ext>
                </a:extLst>
              </p:cNvPr>
              <p:cNvGrpSpPr/>
              <p:nvPr/>
            </p:nvGrpSpPr>
            <p:grpSpPr>
              <a:xfrm>
                <a:off x="382555" y="2866210"/>
                <a:ext cx="4860000" cy="2700000"/>
                <a:chOff x="-562124" y="2581979"/>
                <a:chExt cx="4860000" cy="2700000"/>
              </a:xfrm>
              <a:solidFill>
                <a:schemeClr val="bg1"/>
              </a:solidFill>
            </p:grpSpPr>
            <p:sp>
              <p:nvSpPr>
                <p:cNvPr id="31" name="文本框 30">
                  <a:extLst>
                    <a:ext uri="{FF2B5EF4-FFF2-40B4-BE49-F238E27FC236}">
                      <a16:creationId xmlns:a16="http://schemas.microsoft.com/office/drawing/2014/main" id="{29F707DE-5664-2E6A-897F-C503C44B2921}"/>
                    </a:ext>
                  </a:extLst>
                </p:cNvPr>
                <p:cNvSpPr txBox="1"/>
                <p:nvPr/>
              </p:nvSpPr>
              <p:spPr>
                <a:xfrm>
                  <a:off x="-22124" y="5101979"/>
                  <a:ext cx="3780000" cy="180000"/>
                </a:xfrm>
                <a:prstGeom prst="rect">
                  <a:avLst/>
                </a:prstGeom>
                <a:noFill/>
              </p:spPr>
              <p:txBody>
                <a:bodyPr anchor="ctr">
                  <a:spAutoFit/>
                </a:bodyPr>
                <a:lstStyle/>
                <a:p>
                  <a:pPr algn="ctr"/>
                  <a:r>
                    <a:rPr lang="en-US" altLang="zh-CN" sz="900" dirty="0">
                      <a:latin typeface="Times New Roman" panose="02020603050405020304" pitchFamily="18" charset="0"/>
                      <a:cs typeface="Times New Roman" panose="02020603050405020304" pitchFamily="18" charset="0"/>
                    </a:rPr>
                    <a:t>(b)</a:t>
                  </a:r>
                  <a:endParaRPr lang="zh-CN" altLang="en-US" sz="900" dirty="0">
                    <a:latin typeface="Times New Roman" panose="02020603050405020304" pitchFamily="18" charset="0"/>
                    <a:cs typeface="Times New Roman" panose="02020603050405020304" pitchFamily="18" charset="0"/>
                  </a:endParaRPr>
                </a:p>
              </p:txBody>
            </p:sp>
            <p:graphicFrame>
              <p:nvGraphicFramePr>
                <p:cNvPr id="32" name="图表 31">
                  <a:extLst>
                    <a:ext uri="{FF2B5EF4-FFF2-40B4-BE49-F238E27FC236}">
                      <a16:creationId xmlns:a16="http://schemas.microsoft.com/office/drawing/2014/main" id="{82DE4520-81E1-4EAE-02A9-AE10F8261E7A}"/>
                    </a:ext>
                  </a:extLst>
                </p:cNvPr>
                <p:cNvGraphicFramePr/>
                <p:nvPr>
                  <p:extLst>
                    <p:ext uri="{D42A27DB-BD31-4B8C-83A1-F6EECF244321}">
                      <p14:modId xmlns:p14="http://schemas.microsoft.com/office/powerpoint/2010/main" val="421673187"/>
                    </p:ext>
                  </p:extLst>
                </p:nvPr>
              </p:nvGraphicFramePr>
              <p:xfrm>
                <a:off x="-562124" y="2581979"/>
                <a:ext cx="4860000" cy="2520000"/>
              </p:xfrm>
              <a:graphic>
                <a:graphicData uri="http://schemas.openxmlformats.org/drawingml/2006/chart">
                  <c:chart xmlns:c="http://schemas.openxmlformats.org/drawingml/2006/chart" xmlns:r="http://schemas.openxmlformats.org/officeDocument/2006/relationships" r:id="rId9"/>
                </a:graphicData>
              </a:graphic>
            </p:graphicFrame>
          </p:gr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0806D61F-6C5A-C083-C4BC-5E0C41B20636}"/>
              </a:ext>
            </a:extLst>
          </p:cNvPr>
          <p:cNvPicPr>
            <a:picLocks noChangeAspect="1"/>
          </p:cNvPicPr>
          <p:nvPr/>
        </p:nvPicPr>
        <p:blipFill>
          <a:blip r:embed="rId3"/>
          <a:stretch>
            <a:fillRect/>
          </a:stretch>
        </p:blipFill>
        <p:spPr>
          <a:xfrm>
            <a:off x="0" y="-3151675"/>
            <a:ext cx="7772400" cy="3123221"/>
          </a:xfrm>
          <a:prstGeom prst="rect">
            <a:avLst/>
          </a:prstGeom>
        </p:spPr>
      </p:pic>
      <p:graphicFrame>
        <p:nvGraphicFramePr>
          <p:cNvPr id="15" name="表格 14">
            <a:extLst>
              <a:ext uri="{FF2B5EF4-FFF2-40B4-BE49-F238E27FC236}">
                <a16:creationId xmlns:a16="http://schemas.microsoft.com/office/drawing/2014/main" id="{D08F6E8D-E286-5AE8-4D8D-1285B2AE8D09}"/>
              </a:ext>
            </a:extLst>
          </p:cNvPr>
          <p:cNvGraphicFramePr>
            <a:graphicFrameLocks noGrp="1"/>
          </p:cNvGraphicFramePr>
          <p:nvPr>
            <p:extLst>
              <p:ext uri="{D42A27DB-BD31-4B8C-83A1-F6EECF244321}">
                <p14:modId xmlns:p14="http://schemas.microsoft.com/office/powerpoint/2010/main" val="843333204"/>
              </p:ext>
            </p:extLst>
          </p:nvPr>
        </p:nvGraphicFramePr>
        <p:xfrm>
          <a:off x="-789248" y="45720"/>
          <a:ext cx="9936000" cy="10012680"/>
        </p:xfrm>
        <a:graphic>
          <a:graphicData uri="http://schemas.openxmlformats.org/drawingml/2006/table">
            <a:tbl>
              <a:tblPr firstRow="1" bandRow="1">
                <a:tableStyleId>{5940675A-B579-460E-94D1-54222C63F5DA}</a:tableStyleId>
              </a:tblPr>
              <a:tblGrid>
                <a:gridCol w="1296000">
                  <a:extLst>
                    <a:ext uri="{9D8B030D-6E8A-4147-A177-3AD203B41FA5}">
                      <a16:colId xmlns:a16="http://schemas.microsoft.com/office/drawing/2014/main" val="984329843"/>
                    </a:ext>
                  </a:extLst>
                </a:gridCol>
                <a:gridCol w="4320000">
                  <a:extLst>
                    <a:ext uri="{9D8B030D-6E8A-4147-A177-3AD203B41FA5}">
                      <a16:colId xmlns:a16="http://schemas.microsoft.com/office/drawing/2014/main" val="478333586"/>
                    </a:ext>
                  </a:extLst>
                </a:gridCol>
                <a:gridCol w="4320000">
                  <a:extLst>
                    <a:ext uri="{9D8B030D-6E8A-4147-A177-3AD203B41FA5}">
                      <a16:colId xmlns:a16="http://schemas.microsoft.com/office/drawing/2014/main" val="1746152341"/>
                    </a:ext>
                  </a:extLst>
                </a:gridCol>
              </a:tblGrid>
              <a:tr h="186488">
                <a:tc>
                  <a:txBody>
                    <a:bodyPr/>
                    <a:lstStyle/>
                    <a:p>
                      <a:pPr marL="0" marR="0" lvl="0" indent="0" algn="l" defTabSz="777240" rtl="0" eaLnBrk="1" fontAlgn="auto" latinLnBrk="0" hangingPunct="1">
                        <a:lnSpc>
                          <a:spcPct val="100000"/>
                        </a:lnSpc>
                        <a:spcBef>
                          <a:spcPts val="0"/>
                        </a:spcBef>
                        <a:spcAft>
                          <a:spcPts val="0"/>
                        </a:spcAft>
                        <a:buClrTx/>
                        <a:buSzTx/>
                        <a:buFontTx/>
                        <a:buNone/>
                        <a:tabLst/>
                        <a:defRPr/>
                      </a:pPr>
                      <a:r>
                        <a:rPr lang="en-US" altLang="zh-CN" sz="900" dirty="0"/>
                        <a:t>Optimization State</a:t>
                      </a:r>
                      <a:endParaRPr lang="zh-CN" altLang="en-US" sz="90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marL="0" marR="0" lvl="0" indent="0" algn="ctr" defTabSz="777240" rtl="0" eaLnBrk="1" fontAlgn="auto" latinLnBrk="0" hangingPunct="1">
                        <a:lnSpc>
                          <a:spcPct val="100000"/>
                        </a:lnSpc>
                        <a:spcBef>
                          <a:spcPts val="0"/>
                        </a:spcBef>
                        <a:spcAft>
                          <a:spcPts val="0"/>
                        </a:spcAft>
                        <a:buClrTx/>
                        <a:buSzTx/>
                        <a:buFontTx/>
                        <a:buNone/>
                        <a:tabLst/>
                        <a:defRPr/>
                      </a:pPr>
                      <a:r>
                        <a:rPr lang="en-US" altLang="zh-CN" sz="900" dirty="0"/>
                        <a:t>Success</a:t>
                      </a:r>
                      <a:endParaRPr lang="zh-CN" altLang="en-US" sz="90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marL="0" marR="0" lvl="0" indent="0" algn="ctr" defTabSz="777240" rtl="0" eaLnBrk="1" fontAlgn="auto" latinLnBrk="0" hangingPunct="1">
                        <a:lnSpc>
                          <a:spcPct val="100000"/>
                        </a:lnSpc>
                        <a:spcBef>
                          <a:spcPts val="0"/>
                        </a:spcBef>
                        <a:spcAft>
                          <a:spcPts val="0"/>
                        </a:spcAft>
                        <a:buClrTx/>
                        <a:buSzTx/>
                        <a:buFontTx/>
                        <a:buNone/>
                        <a:tabLst/>
                        <a:defRPr/>
                      </a:pPr>
                      <a:r>
                        <a:rPr lang="en-US" altLang="zh-CN" sz="900" dirty="0">
                          <a:latin typeface="Times New Roman" panose="02020603050405020304" pitchFamily="18" charset="0"/>
                          <a:cs typeface="Times New Roman" panose="02020603050405020304" pitchFamily="18" charset="0"/>
                        </a:rPr>
                        <a:t>Failure</a:t>
                      </a:r>
                      <a:endParaRPr lang="zh-CN" altLang="en-US" sz="90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3572471481"/>
                  </a:ext>
                </a:extLst>
              </a:tr>
              <a:tr h="186488">
                <a:tc>
                  <a:txBody>
                    <a:bodyPr/>
                    <a:lstStyle/>
                    <a:p>
                      <a:pPr marL="0" marR="0" lvl="0" indent="0" algn="l" defTabSz="777240" rtl="0" eaLnBrk="1" fontAlgn="auto" latinLnBrk="0" hangingPunct="1">
                        <a:lnSpc>
                          <a:spcPct val="100000"/>
                        </a:lnSpc>
                        <a:spcBef>
                          <a:spcPts val="0"/>
                        </a:spcBef>
                        <a:spcAft>
                          <a:spcPts val="0"/>
                        </a:spcAft>
                        <a:buClrTx/>
                        <a:buSzTx/>
                        <a:buFontTx/>
                        <a:buNone/>
                        <a:tabLst/>
                        <a:defRPr/>
                      </a:pPr>
                      <a:r>
                        <a:rPr lang="en-US" altLang="zh-CN" sz="900" dirty="0"/>
                        <a:t>Query</a:t>
                      </a:r>
                      <a:endParaRPr lang="zh-CN" altLang="en-US" sz="90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marL="0" marR="0" lvl="0" indent="0" algn="ctr" defTabSz="777240" rtl="0" eaLnBrk="1" fontAlgn="auto" latinLnBrk="0" hangingPunct="1">
                        <a:lnSpc>
                          <a:spcPct val="100000"/>
                        </a:lnSpc>
                        <a:spcBef>
                          <a:spcPts val="0"/>
                        </a:spcBef>
                        <a:spcAft>
                          <a:spcPts val="0"/>
                        </a:spcAft>
                        <a:buClrTx/>
                        <a:buSzTx/>
                        <a:buFontTx/>
                        <a:buNone/>
                        <a:tabLst/>
                        <a:defRPr/>
                      </a:pPr>
                      <a:r>
                        <a:rPr lang="en-US" altLang="zh-CN" sz="900" dirty="0"/>
                        <a:t>How do climate changes affect the hosting of the Winter Olympics?</a:t>
                      </a:r>
                      <a:endParaRPr lang="zh-CN" altLang="en-US" sz="90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marL="0" marR="0" lvl="0" indent="0" algn="ctr" defTabSz="777240" rtl="0" eaLnBrk="1" fontAlgn="auto" latinLnBrk="0" hangingPunct="1">
                        <a:lnSpc>
                          <a:spcPct val="100000"/>
                        </a:lnSpc>
                        <a:spcBef>
                          <a:spcPts val="0"/>
                        </a:spcBef>
                        <a:spcAft>
                          <a:spcPts val="0"/>
                        </a:spcAft>
                        <a:buClrTx/>
                        <a:buSzTx/>
                        <a:buFontTx/>
                        <a:buNone/>
                        <a:tabLst/>
                        <a:defRPr/>
                      </a:pPr>
                      <a:r>
                        <a:rPr lang="en-US" altLang="zh-CN" sz="900" dirty="0">
                          <a:latin typeface="Times New Roman" panose="02020603050405020304" pitchFamily="18" charset="0"/>
                          <a:cs typeface="Times New Roman" panose="02020603050405020304" pitchFamily="18" charset="0"/>
                        </a:rPr>
                        <a:t>What are the health benefits of using olive oil in salad dressings?</a:t>
                      </a:r>
                      <a:endParaRPr lang="zh-CN" altLang="en-US" sz="90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330446272"/>
                  </a:ext>
                </a:extLst>
              </a:tr>
              <a:tr h="1305419">
                <a:tc>
                  <a:txBody>
                    <a:bodyPr/>
                    <a:lstStyle/>
                    <a:p>
                      <a:pPr marL="0" marR="0" lvl="0" indent="0" algn="l" defTabSz="777240" rtl="0" eaLnBrk="1" fontAlgn="auto" latinLnBrk="0" hangingPunct="1">
                        <a:lnSpc>
                          <a:spcPct val="100000"/>
                        </a:lnSpc>
                        <a:spcBef>
                          <a:spcPts val="0"/>
                        </a:spcBef>
                        <a:spcAft>
                          <a:spcPts val="0"/>
                        </a:spcAft>
                        <a:buClrTx/>
                        <a:buSzTx/>
                        <a:buFontTx/>
                        <a:buNone/>
                        <a:tabLst/>
                        <a:defRPr/>
                      </a:pPr>
                      <a:r>
                        <a:rPr lang="en-US" altLang="zh-CN" sz="900" dirty="0"/>
                        <a:t>Original Source</a:t>
                      </a:r>
                      <a:endParaRPr lang="zh-CN" altLang="en-US" sz="90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r>
                        <a:rPr lang="en-US" altLang="zh-CN" sz="900" dirty="0">
                          <a:latin typeface="Times New Roman" panose="02020603050405020304" pitchFamily="18" charset="0"/>
                          <a:cs typeface="Times New Roman" panose="02020603050405020304" pitchFamily="18" charset="0"/>
                        </a:rPr>
                        <a:t>Skeleton is one of the 'ice sports' on the Winter Olympic Games program. This extreme sport requires individuals to ride a small sled down a frozen track while lying face down and forward facing.\n\</a:t>
                      </a:r>
                      <a:r>
                        <a:rPr lang="en-US" altLang="zh-CN" sz="900" dirty="0" err="1">
                          <a:latin typeface="Times New Roman" panose="02020603050405020304" pitchFamily="18" charset="0"/>
                          <a:cs typeface="Times New Roman" panose="02020603050405020304" pitchFamily="18" charset="0"/>
                        </a:rPr>
                        <a:t>nSkeleton</a:t>
                      </a:r>
                      <a:r>
                        <a:rPr lang="en-US" altLang="zh-CN" sz="900" dirty="0">
                          <a:latin typeface="Times New Roman" panose="02020603050405020304" pitchFamily="18" charset="0"/>
                          <a:cs typeface="Times New Roman" panose="02020603050405020304" pitchFamily="18" charset="0"/>
                        </a:rPr>
                        <a:t> was first on the program at the 1928 Winter Olympics in St. Moritz, and again in 1948 Winter Olympics. After a long hiatus, it was reintroduced at the 2002 Winter Olympics with both men's and women's events.\n\</a:t>
                      </a:r>
                      <a:r>
                        <a:rPr lang="en-US" altLang="zh-CN" sz="900" dirty="0" err="1">
                          <a:latin typeface="Times New Roman" panose="02020603050405020304" pitchFamily="18" charset="0"/>
                          <a:cs typeface="Times New Roman" panose="02020603050405020304" pitchFamily="18" charset="0"/>
                        </a:rPr>
                        <a:t>nSkeleton</a:t>
                      </a:r>
                      <a:r>
                        <a:rPr lang="en-US" altLang="zh-CN" sz="900" dirty="0">
                          <a:latin typeface="Times New Roman" panose="02020603050405020304" pitchFamily="18" charset="0"/>
                          <a:cs typeface="Times New Roman" panose="02020603050405020304" pitchFamily="18" charset="0"/>
                        </a:rPr>
                        <a:t> is a head-first version of the luge, and is run on the same track (as is bobsled). Amazingly, the skeleton sled has no steering or braking mechanism, the participants steer by movements of the body and travel at speeds up to 130 km/</a:t>
                      </a:r>
                      <a:r>
                        <a:rPr lang="en-US" altLang="zh-CN" sz="900" dirty="0" err="1">
                          <a:latin typeface="Times New Roman" panose="02020603050405020304" pitchFamily="18" charset="0"/>
                          <a:cs typeface="Times New Roman" panose="02020603050405020304" pitchFamily="18" charset="0"/>
                        </a:rPr>
                        <a:t>hr</a:t>
                      </a:r>
                      <a:r>
                        <a:rPr lang="en-US" altLang="zh-CN" sz="900" dirty="0">
                          <a:latin typeface="Times New Roman" panose="02020603050405020304" pitchFamily="18" charset="0"/>
                          <a:cs typeface="Times New Roman" panose="02020603050405020304" pitchFamily="18" charset="0"/>
                        </a:rPr>
                        <a:t> (80 mph).\n\</a:t>
                      </a:r>
                      <a:r>
                        <a:rPr lang="en-US" altLang="zh-CN" sz="900" dirty="0" err="1">
                          <a:latin typeface="Times New Roman" panose="02020603050405020304" pitchFamily="18" charset="0"/>
                          <a:cs typeface="Times New Roman" panose="02020603050405020304" pitchFamily="18" charset="0"/>
                        </a:rPr>
                        <a:t>nTrivia</a:t>
                      </a:r>
                      <a:r>
                        <a:rPr lang="en-US" altLang="zh-CN" sz="900" dirty="0">
                          <a:latin typeface="Times New Roman" panose="02020603050405020304" pitchFamily="18" charset="0"/>
                          <a:cs typeface="Times New Roman" panose="02020603050405020304" pitchFamily="18" charset="0"/>
                        </a:rPr>
                        <a:t> (History)\n- American Jennison Heaton won the first Olympic skeleton gold medal at St Moritz in 1928, beating his brother John, who took the silver…</a:t>
                      </a:r>
                      <a:endParaRPr lang="zh-CN" altLang="en-US" sz="90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r>
                        <a:rPr lang="en-US" altLang="zh-CN" sz="900" dirty="0">
                          <a:latin typeface="Times New Roman" panose="02020603050405020304" pitchFamily="18" charset="0"/>
                          <a:cs typeface="Times New Roman" panose="02020603050405020304" pitchFamily="18" charset="0"/>
                        </a:rPr>
                        <a:t>I have been on a mission to help you build a collection of salad dressing recipes for a year now. Today’s recipe, Lemon Balsamic Salad Dressing is the newest one that I think you will enjoy. It is the balsamic vinegar added version of my all time favorite, Lemon Salad Dressing.\n\</a:t>
                      </a:r>
                      <a:r>
                        <a:rPr lang="en-US" altLang="zh-CN" sz="900" dirty="0" err="1">
                          <a:latin typeface="Times New Roman" panose="02020603050405020304" pitchFamily="18" charset="0"/>
                          <a:cs typeface="Times New Roman" panose="02020603050405020304" pitchFamily="18" charset="0"/>
                        </a:rPr>
                        <a:t>nI</a:t>
                      </a:r>
                      <a:r>
                        <a:rPr lang="en-US" altLang="zh-CN" sz="900" dirty="0">
                          <a:latin typeface="Times New Roman" panose="02020603050405020304" pitchFamily="18" charset="0"/>
                          <a:cs typeface="Times New Roman" panose="02020603050405020304" pitchFamily="18" charset="0"/>
                        </a:rPr>
                        <a:t> recently used this lemon balsamic vinaigrette in Cucumber Mozzarella Tomato Salad recipe but you can pretty much use it in any salad. This dressing especially compliments salad recipes with a minimal number of ingredients like my Blueberry Salad and Avocado Quinoa Salad.\n\</a:t>
                      </a:r>
                      <a:r>
                        <a:rPr lang="en-US" altLang="zh-CN" sz="900" dirty="0" err="1">
                          <a:latin typeface="Times New Roman" panose="02020603050405020304" pitchFamily="18" charset="0"/>
                          <a:cs typeface="Times New Roman" panose="02020603050405020304" pitchFamily="18" charset="0"/>
                        </a:rPr>
                        <a:t>nWhy</a:t>
                      </a:r>
                      <a:r>
                        <a:rPr lang="en-US" altLang="zh-CN" sz="900" dirty="0">
                          <a:latin typeface="Times New Roman" panose="02020603050405020304" pitchFamily="18" charset="0"/>
                          <a:cs typeface="Times New Roman" panose="02020603050405020304" pitchFamily="18" charset="0"/>
                        </a:rPr>
                        <a:t> Should You Make This Recipe?\n- You know what goes in there: I get it. It is convenient to grab a bottle of balsamic vinaigrette when you are at the store. However, most of those are packed with preservatives and low quality ingredients. When you make homemade dressings like this one, you know every single ingredient that goes in this one...</a:t>
                      </a:r>
                      <a:endParaRPr lang="zh-CN" altLang="en-US" sz="90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1512480396"/>
                  </a:ext>
                </a:extLst>
              </a:tr>
              <a:tr h="1305419">
                <a:tc>
                  <a:txBody>
                    <a:bodyPr/>
                    <a:lstStyle/>
                    <a:p>
                      <a:pPr marL="0" marR="0" lvl="0" indent="0" algn="l" defTabSz="777240" rtl="0" eaLnBrk="1" fontAlgn="auto" latinLnBrk="0" hangingPunct="1">
                        <a:lnSpc>
                          <a:spcPct val="100000"/>
                        </a:lnSpc>
                        <a:spcBef>
                          <a:spcPts val="0"/>
                        </a:spcBef>
                        <a:spcAft>
                          <a:spcPts val="0"/>
                        </a:spcAft>
                        <a:buClrTx/>
                        <a:buSzTx/>
                        <a:buFontTx/>
                        <a:buNone/>
                        <a:tabLst/>
                        <a:defRPr/>
                      </a:pPr>
                      <a:r>
                        <a:rPr lang="en-US" altLang="zh-CN" sz="900" dirty="0"/>
                        <a:t>Optimized Source</a:t>
                      </a:r>
                      <a:endParaRPr lang="zh-CN" altLang="en-US" sz="90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r>
                        <a:rPr lang="en-US" altLang="zh-CN" sz="900" dirty="0">
                          <a:latin typeface="Times New Roman" panose="02020603050405020304" pitchFamily="18" charset="0"/>
                          <a:cs typeface="Times New Roman" panose="02020603050405020304" pitchFamily="18" charset="0"/>
                        </a:rPr>
                        <a:t>Skeleton is a thrilling ‘ice sport’ featured in the Winter Olympic Games, where athletes ride a small sled down a frozen track head-first while lying face down. This extreme sport demands precision and speed, as participants navigate the course at</a:t>
                      </a:r>
                      <a:r>
                        <a:rPr lang="zh-CN" altLang="en-US" sz="900" dirty="0">
                          <a:latin typeface="Times New Roman" panose="02020603050405020304" pitchFamily="18" charset="0"/>
                          <a:cs typeface="Times New Roman" panose="02020603050405020304" pitchFamily="18" charset="0"/>
                        </a:rPr>
                        <a:t> </a:t>
                      </a:r>
                      <a:r>
                        <a:rPr lang="en-US" altLang="zh-CN" sz="900" dirty="0">
                          <a:latin typeface="Times New Roman" panose="02020603050405020304" pitchFamily="18" charset="0"/>
                          <a:cs typeface="Times New Roman" panose="02020603050405020304" pitchFamily="18" charset="0"/>
                        </a:rPr>
                        <a:t>amazing speeds of up to 130 km/</a:t>
                      </a:r>
                      <a:r>
                        <a:rPr lang="en-US" altLang="zh-CN" sz="900" dirty="0" err="1">
                          <a:latin typeface="Times New Roman" panose="02020603050405020304" pitchFamily="18" charset="0"/>
                          <a:cs typeface="Times New Roman" panose="02020603050405020304" pitchFamily="18" charset="0"/>
                        </a:rPr>
                        <a:t>hr</a:t>
                      </a:r>
                      <a:r>
                        <a:rPr lang="en-US" altLang="zh-CN" sz="900" dirty="0">
                          <a:latin typeface="Times New Roman" panose="02020603050405020304" pitchFamily="18" charset="0"/>
                          <a:cs typeface="Times New Roman" panose="02020603050405020304" pitchFamily="18" charset="0"/>
                        </a:rPr>
                        <a:t> (80 mph) without steering or braking mechanisms, steering is achieved through body movements.  \n\</a:t>
                      </a:r>
                      <a:r>
                        <a:rPr lang="en-US" altLang="zh-CN" sz="900" dirty="0" err="1">
                          <a:latin typeface="Times New Roman" panose="02020603050405020304" pitchFamily="18" charset="0"/>
                          <a:cs typeface="Times New Roman" panose="02020603050405020304" pitchFamily="18" charset="0"/>
                        </a:rPr>
                        <a:t>nFirst</a:t>
                      </a:r>
                      <a:r>
                        <a:rPr lang="en-US" altLang="zh-CN" sz="900" dirty="0">
                          <a:latin typeface="Times New Roman" panose="02020603050405020304" pitchFamily="18" charset="0"/>
                          <a:cs typeface="Times New Roman" panose="02020603050405020304" pitchFamily="18" charset="0"/>
                        </a:rPr>
                        <a:t> introduced at the 1928 Winter Olympics in St. Moritz, Skeleton made a brief return in 1948 before being reintroduced in 2002 with separate events for men and women. The sport is a head-first version of luge, using the same track as bobsled.  \n\n**Notable Achievements &amp; History:**  \n- **1928:** American Jennison Heaton claimed the first Olympic skeleton gold medal, outpacing his brother John, who won silver.  \n- **1948:** Skeleton returned to St. Moritz, with American John Heaton again securing silver...</a:t>
                      </a:r>
                      <a:endParaRPr lang="zh-CN" altLang="en-US" sz="90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r>
                        <a:rPr lang="en-US" altLang="zh-CN" sz="900" dirty="0">
                          <a:latin typeface="Times New Roman" panose="02020603050405020304" pitchFamily="18" charset="0"/>
                          <a:cs typeface="Times New Roman" panose="02020603050405020304" pitchFamily="18" charset="0"/>
                        </a:rPr>
                        <a:t>I have been on a mission to help you build a collection of salad dressing recipes for a year now. Today’s recipe, Lemon Balsamic Salad Dressing, is the newest one that I think you will enjoy. It is the balsamic vinegar added version of my all time favorite, Lemon Salad Dressing.\n\</a:t>
                      </a:r>
                      <a:r>
                        <a:rPr lang="en-US" altLang="zh-CN" sz="900" dirty="0" err="1">
                          <a:latin typeface="Times New Roman" panose="02020603050405020304" pitchFamily="18" charset="0"/>
                          <a:cs typeface="Times New Roman" panose="02020603050405020304" pitchFamily="18" charset="0"/>
                        </a:rPr>
                        <a:t>nI</a:t>
                      </a:r>
                      <a:r>
                        <a:rPr lang="en-US" altLang="zh-CN" sz="900" dirty="0">
                          <a:latin typeface="Times New Roman" panose="02020603050405020304" pitchFamily="18" charset="0"/>
                          <a:cs typeface="Times New Roman" panose="02020603050405020304" pitchFamily="18" charset="0"/>
                        </a:rPr>
                        <a:t> recently used this lemon balsamic vinaigrette in Cucumber Mozzarella Tomato Salad recipe but you can pretty much use it in any salad. This dressing especially compliments salad recipes with a minimal number of ingredients like my Blueberry Salad and Avocado Quinoa Salad.\n\n**Why Make This Lemon Balsamic Salad Dressing?**\n\n*   **Know Your Ingredients:** Unlike store-bought versions packed with preservatives and low-quality ingredients, making homemade dressings like this one allows you to know exactly what goes in. You control the quality.\n*   **Quick &amp; Easy:** This recipe comes together in just 5 minutes using only 6 simple ingredients ...</a:t>
                      </a:r>
                      <a:endParaRPr lang="zh-CN" altLang="en-US" sz="90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4047410107"/>
                  </a:ext>
                </a:extLst>
              </a:tr>
              <a:tr h="2312456">
                <a:tc>
                  <a:txBody>
                    <a:bodyPr/>
                    <a:lstStyle/>
                    <a:p>
                      <a:pPr marL="0" marR="0" lvl="0" indent="0" algn="l" defTabSz="777240" rtl="0" eaLnBrk="1" fontAlgn="auto" latinLnBrk="0" hangingPunct="1">
                        <a:lnSpc>
                          <a:spcPct val="100000"/>
                        </a:lnSpc>
                        <a:spcBef>
                          <a:spcPts val="0"/>
                        </a:spcBef>
                        <a:spcAft>
                          <a:spcPts val="0"/>
                        </a:spcAft>
                        <a:buClrTx/>
                        <a:buSzTx/>
                        <a:buFontTx/>
                        <a:buNone/>
                        <a:tabLst/>
                        <a:defRPr/>
                      </a:pPr>
                      <a:r>
                        <a:rPr lang="en-US" altLang="zh-CN" sz="900" dirty="0"/>
                        <a:t>Original Response</a:t>
                      </a:r>
                      <a:endParaRPr lang="zh-CN" altLang="en-US" sz="90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r>
                        <a:rPr lang="en-US" altLang="zh-CN" sz="900" dirty="0">
                          <a:latin typeface="Times New Roman" panose="02020603050405020304" pitchFamily="18" charset="0"/>
                          <a:cs typeface="Times New Roman" panose="02020603050405020304" pitchFamily="18" charset="0"/>
                        </a:rPr>
                        <a:t>Climate change significantly impacts the hosting of the Winter Olympics by making it increasingly difficult to find suitable locations with consistent snow and cold temperatures [4]. The 2022 Winter Olympics in Beijing, China, faced challenges related to climate change, as the region experienced unusually warm temperatures and limited natural snowfall, requiring extensive use of artificial snow [4]. This situation highlights the vulnerability of winter sports events to shifting climate conditions and underscores the challenges future host cities may encounter [4].\n\</a:t>
                      </a:r>
                      <a:r>
                        <a:rPr lang="en-US" altLang="zh-CN" sz="900" dirty="0" err="1">
                          <a:latin typeface="Times New Roman" panose="02020603050405020304" pitchFamily="18" charset="0"/>
                          <a:cs typeface="Times New Roman" panose="02020603050405020304" pitchFamily="18" charset="0"/>
                        </a:rPr>
                        <a:t>nThe</a:t>
                      </a:r>
                      <a:r>
                        <a:rPr lang="en-US" altLang="zh-CN" sz="900" dirty="0">
                          <a:latin typeface="Times New Roman" panose="02020603050405020304" pitchFamily="18" charset="0"/>
                          <a:cs typeface="Times New Roman" panose="02020603050405020304" pitchFamily="18" charset="0"/>
                        </a:rPr>
                        <a:t> increasing frequency of extreme weather events, such as heatwaves and droughts, further complicates the planning and execution of Winter Olympics, as they can disrupt training and competition schedules [4]. Additionally, the costs associated with artificial snow and climate control measures may rise, adding financial pressure to host countries [4]. These factors collectively demonstrate how climate change is altering the landscape of the Winter Olympics and posing significant challenges for future editions [4].\n\</a:t>
                      </a:r>
                      <a:r>
                        <a:rPr lang="en-US" altLang="zh-CN" sz="900" dirty="0" err="1">
                          <a:latin typeface="Times New Roman" panose="02020603050405020304" pitchFamily="18" charset="0"/>
                          <a:cs typeface="Times New Roman" panose="02020603050405020304" pitchFamily="18" charset="0"/>
                        </a:rPr>
                        <a:t>nMoreover</a:t>
                      </a:r>
                      <a:r>
                        <a:rPr lang="en-US" altLang="zh-CN" sz="900" dirty="0">
                          <a:latin typeface="Times New Roman" panose="02020603050405020304" pitchFamily="18" charset="0"/>
                          <a:cs typeface="Times New Roman" panose="02020603050405020304" pitchFamily="18" charset="0"/>
                        </a:rPr>
                        <a:t>, the selection of host cities for the Winter Olympics is becoming increasingly influenced by climate considerations, as potential hosts must demonstrate the ability to maintain suitable conditions for winter sports [4]. The experience of Beijing 2022 underscores the need for host cities to invest in advanced snow-making technology and other climate adaptation strategies to ensure the viability of winter events [4]. As climate change continues to intensify, the Winter Olympics may face more frequent disruptions and the need for innovative solutions to sustain winter sports [4].\n</a:t>
                      </a:r>
                      <a:endParaRPr lang="zh-CN" altLang="en-US" sz="90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r>
                        <a:rPr lang="en-US" altLang="zh-CN" sz="900" dirty="0">
                          <a:latin typeface="Times New Roman" panose="02020603050405020304" pitchFamily="18" charset="0"/>
                          <a:cs typeface="Times New Roman" panose="02020603050405020304" pitchFamily="18" charset="0"/>
                        </a:rPr>
                        <a:t>Extra-virgin olive oil is a key ingredient in many salad dressings, providing body and richness to recipes like lemon vinaigrette [1]. It is a healthy fat that can contribute to the overall nutritional value of a salad when used in moderation [1][2][3]. Olive oil is known for its high content of monounsaturated fats, which are beneficial for heart health [2][3]. Additionally, it contains antioxidants such as oleocanthal, which may have anti-inflammatory properties [2][3]. The use of extra-virgin olive oil in salad dressings can enhance the flavor of greens and other ingredients while providing these health benefits [1][3].\n', '\</a:t>
                      </a:r>
                      <a:r>
                        <a:rPr lang="en-US" altLang="zh-CN" sz="900" dirty="0" err="1">
                          <a:latin typeface="Times New Roman" panose="02020603050405020304" pitchFamily="18" charset="0"/>
                          <a:cs typeface="Times New Roman" panose="02020603050405020304" pitchFamily="18" charset="0"/>
                        </a:rPr>
                        <a:t>nExtra</a:t>
                      </a:r>
                      <a:r>
                        <a:rPr lang="en-US" altLang="zh-CN" sz="900" dirty="0">
                          <a:latin typeface="Times New Roman" panose="02020603050405020304" pitchFamily="18" charset="0"/>
                          <a:cs typeface="Times New Roman" panose="02020603050405020304" pitchFamily="18" charset="0"/>
                        </a:rPr>
                        <a:t>-virgin olive oil is a key ingredient in many salad dressings, providing body and richness to dressings like lemon vinaigrette [1]. It is recommended to use good quality extra-virgin olive oil for the best flavor in homemade dressings </a:t>
                      </a:r>
                      <a:r>
                        <a:rPr lang="en-US" altLang="zh-CN" sz="900" b="1" dirty="0">
                          <a:latin typeface="Times New Roman" panose="02020603050405020304" pitchFamily="18" charset="0"/>
                          <a:cs typeface="Times New Roman" panose="02020603050405020304" pitchFamily="18" charset="0"/>
                        </a:rPr>
                        <a:t>[4]</a:t>
                      </a:r>
                      <a:r>
                        <a:rPr lang="en-US" altLang="zh-CN" sz="900" dirty="0">
                          <a:latin typeface="Times New Roman" panose="02020603050405020304" pitchFamily="18" charset="0"/>
                          <a:cs typeface="Times New Roman" panose="02020603050405020304" pitchFamily="18" charset="0"/>
                        </a:rPr>
                        <a:t>. Olive oil can also be used as a base for a simple salad dressing, combined with vinegar, mustard, salt, and pepper, and optionally enhanced with flavorings like garlic, herbs, or honey [5]. Additionally, olive oil is a healthy fat that contributes to the nutritional profile of salad dressings, making them a more wholesome choice for salads [1][3].</a:t>
                      </a:r>
                      <a:endParaRPr lang="zh-CN" altLang="en-US" sz="90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3762484071"/>
                  </a:ext>
                </a:extLst>
              </a:tr>
              <a:tr h="2871922">
                <a:tc>
                  <a:txBody>
                    <a:bodyPr/>
                    <a:lstStyle/>
                    <a:p>
                      <a:pPr marL="0" marR="0" lvl="0" indent="0" algn="l" defTabSz="777240" rtl="0" eaLnBrk="1" fontAlgn="auto" latinLnBrk="0" hangingPunct="1">
                        <a:lnSpc>
                          <a:spcPct val="100000"/>
                        </a:lnSpc>
                        <a:spcBef>
                          <a:spcPts val="0"/>
                        </a:spcBef>
                        <a:spcAft>
                          <a:spcPts val="0"/>
                        </a:spcAft>
                        <a:buClrTx/>
                        <a:buSzTx/>
                        <a:buFontTx/>
                        <a:buNone/>
                        <a:tabLst/>
                        <a:defRPr/>
                      </a:pPr>
                      <a:r>
                        <a:rPr lang="en-US" altLang="zh-CN" sz="900" dirty="0"/>
                        <a:t>Optimized Response</a:t>
                      </a:r>
                      <a:endParaRPr lang="zh-CN" altLang="en-US" sz="90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r>
                        <a:rPr lang="en-US" altLang="zh-CN" sz="900" dirty="0">
                          <a:latin typeface="Times New Roman" panose="02020603050405020304" pitchFamily="18" charset="0"/>
                          <a:cs typeface="Times New Roman" panose="02020603050405020304" pitchFamily="18" charset="0"/>
                        </a:rPr>
                        <a:t>Climate change poses significant challenges to hosting the Winter Olympics, primarily by threatening the availability of suitable venues for snow and ice sports [1]</a:t>
                      </a:r>
                      <a:r>
                        <a:rPr lang="en-US" altLang="zh-CN" sz="900" b="1" dirty="0">
                          <a:latin typeface="Times New Roman" panose="02020603050405020304" pitchFamily="18" charset="0"/>
                          <a:cs typeface="Times New Roman" panose="02020603050405020304" pitchFamily="18" charset="0"/>
                        </a:rPr>
                        <a:t>[2]</a:t>
                      </a:r>
                      <a:r>
                        <a:rPr lang="en-US" altLang="zh-CN" sz="900" dirty="0">
                          <a:latin typeface="Times New Roman" panose="02020603050405020304" pitchFamily="18" charset="0"/>
                          <a:cs typeface="Times New Roman" panose="02020603050405020304" pitchFamily="18" charset="0"/>
                        </a:rPr>
                        <a:t>[3]. The 2022 Winter Olympics in Beijing, China, exemplified this issue, as some events required the use of existing venues from the 2008 Summer Olympics or the construction of new facilities, while others, like freestyle skiing and snowboarding, were held in locations that were converted from industrial areas [4]. The organizers also had to rely on extensive man-made snow production to ensure adequate conditions for events, highlighting the increasing need for technological interventions to compensate for natural snow scarcity due to warming temperatures [4].\n\</a:t>
                      </a:r>
                      <a:r>
                        <a:rPr lang="en-US" altLang="zh-CN" sz="900" dirty="0" err="1">
                          <a:latin typeface="Times New Roman" panose="02020603050405020304" pitchFamily="18" charset="0"/>
                          <a:cs typeface="Times New Roman" panose="02020603050405020304" pitchFamily="18" charset="0"/>
                        </a:rPr>
                        <a:t>nFurthermore</a:t>
                      </a:r>
                      <a:r>
                        <a:rPr lang="en-US" altLang="zh-CN" sz="900" dirty="0">
                          <a:latin typeface="Times New Roman" panose="02020603050405020304" pitchFamily="18" charset="0"/>
                          <a:cs typeface="Times New Roman" panose="02020603050405020304" pitchFamily="18" charset="0"/>
                        </a:rPr>
                        <a:t>, the host city selection process for the Winter Olympics has become increasingly contentious due to climate change concerns. Oslo, Norway, withdrew its bid to host the 2022 Games partly because of public opposition to the high costs and environmental impact of such an event in a region increasingly affected by climate change [4]. This reflects a broader trend where potential host cities are facing growing pressure to consider the sustainability and environmental footprint of large-scale international sporting events in the context of global climate change [1]</a:t>
                      </a:r>
                      <a:r>
                        <a:rPr lang="en-US" altLang="zh-CN" sz="900" b="1" dirty="0">
                          <a:latin typeface="Times New Roman" panose="02020603050405020304" pitchFamily="18" charset="0"/>
                          <a:cs typeface="Times New Roman" panose="02020603050405020304" pitchFamily="18" charset="0"/>
                        </a:rPr>
                        <a:t>[2]</a:t>
                      </a:r>
                      <a:r>
                        <a:rPr lang="en-US" altLang="zh-CN" sz="900" dirty="0">
                          <a:latin typeface="Times New Roman" panose="02020603050405020304" pitchFamily="18" charset="0"/>
                          <a:cs typeface="Times New Roman" panose="02020603050405020304" pitchFamily="18" charset="0"/>
                        </a:rPr>
                        <a:t>[3].\n\</a:t>
                      </a:r>
                      <a:r>
                        <a:rPr lang="en-US" altLang="zh-CN" sz="900" dirty="0" err="1">
                          <a:latin typeface="Times New Roman" panose="02020603050405020304" pitchFamily="18" charset="0"/>
                          <a:cs typeface="Times New Roman" panose="02020603050405020304" pitchFamily="18" charset="0"/>
                        </a:rPr>
                        <a:t>nThe</a:t>
                      </a:r>
                      <a:r>
                        <a:rPr lang="en-US" altLang="zh-CN" sz="900" dirty="0">
                          <a:latin typeface="Times New Roman" panose="02020603050405020304" pitchFamily="18" charset="0"/>
                          <a:cs typeface="Times New Roman" panose="02020603050405020304" pitchFamily="18" charset="0"/>
                        </a:rPr>
                        <a:t> impact of climate change on the Winter Olympics also extends to the athletes and the integrity of the competition. For instance, at the 2010 Vancouver Olympics, Georgian luger Nodar Kumaritashvili tragically died in a training crash after losing control on the ice track, which raised questions about the safety and suitability of the venue in a warming climate [1]. Such incidents underscore the complex interplay between climate change, venue management, and athlete safety in the context of the Winter Olympics [1]</a:t>
                      </a:r>
                      <a:r>
                        <a:rPr lang="en-US" altLang="zh-CN" sz="900" b="1" dirty="0">
                          <a:latin typeface="Times New Roman" panose="02020603050405020304" pitchFamily="18" charset="0"/>
                          <a:cs typeface="Times New Roman" panose="02020603050405020304" pitchFamily="18" charset="0"/>
                        </a:rPr>
                        <a:t>[2]</a:t>
                      </a:r>
                      <a:r>
                        <a:rPr lang="en-US" altLang="zh-CN" sz="900" dirty="0">
                          <a:latin typeface="Times New Roman" panose="02020603050405020304" pitchFamily="18" charset="0"/>
                          <a:cs typeface="Times New Roman" panose="02020603050405020304" pitchFamily="18" charset="0"/>
                        </a:rPr>
                        <a:t>[3].\n\</a:t>
                      </a:r>
                      <a:r>
                        <a:rPr lang="en-US" altLang="zh-CN" sz="900" dirty="0" err="1">
                          <a:latin typeface="Times New Roman" panose="02020603050405020304" pitchFamily="18" charset="0"/>
                          <a:cs typeface="Times New Roman" panose="02020603050405020304" pitchFamily="18" charset="0"/>
                        </a:rPr>
                        <a:t>nIn</a:t>
                      </a:r>
                      <a:r>
                        <a:rPr lang="en-US" altLang="zh-CN" sz="900" dirty="0">
                          <a:latin typeface="Times New Roman" panose="02020603050405020304" pitchFamily="18" charset="0"/>
                          <a:cs typeface="Times New Roman" panose="02020603050405020304" pitchFamily="18" charset="0"/>
                        </a:rPr>
                        <a:t> summary, climate change challenges the Winter Olympics by threatening venue suitability, increasing the costs and environmental impact of hosting the Games, and raising concerns about athlete safety and competition integrity [1]</a:t>
                      </a:r>
                      <a:r>
                        <a:rPr lang="en-US" altLang="zh-CN" sz="900" b="1" dirty="0">
                          <a:latin typeface="Times New Roman" panose="02020603050405020304" pitchFamily="18" charset="0"/>
                          <a:cs typeface="Times New Roman" panose="02020603050405020304" pitchFamily="18" charset="0"/>
                        </a:rPr>
                        <a:t>[2]</a:t>
                      </a:r>
                      <a:r>
                        <a:rPr lang="en-US" altLang="zh-CN" sz="900" dirty="0">
                          <a:latin typeface="Times New Roman" panose="02020603050405020304" pitchFamily="18" charset="0"/>
                          <a:cs typeface="Times New Roman" panose="02020603050405020304" pitchFamily="18" charset="0"/>
                        </a:rPr>
                        <a:t>[3][4].\n</a:t>
                      </a:r>
                      <a:endParaRPr lang="zh-CN" altLang="en-US" sz="90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r>
                        <a:rPr lang="en-US" altLang="zh-CN" sz="900" dirty="0">
                          <a:latin typeface="Times New Roman" panose="02020603050405020304" pitchFamily="18" charset="0"/>
                          <a:cs typeface="Times New Roman" panose="02020603050405020304" pitchFamily="18" charset="0"/>
                        </a:rPr>
                        <a:t>Extra-virgin olive oil is a key ingredient in many salad dressings, providing body and richness to dressings like lemon vinaigrette, which also includes fresh lemon juice, garlic, Dijon mustard, honey or maple syrup, and optional fresh or dried thyme [1]. Another simple oil and vinegar salad dressing with lemon uses equal parts olive oil and cider vinegar, along with fresh lemon juice, salt, black pepper, and garlic [2]. A basic salad dressing recipe consists of one tablespoon of vinegar, three tablespoons of extra virgin olive oil, half a teaspoon of mustard, and half a teaspoon each of salt and pepper, with optional flavorings like garlic, fresh or dried herbs, or a pinch of spice [5]. These dressings are versatile, suitable for leafy greens, chopped salads, and can even be used to add flavor to beans, lentils, and roasted vegetables [5]. The health benefits of using olive oil in salad dressings include its contribution to heart health due to its high content of monounsaturated fats and potential antioxidant properties [1][3]</a:t>
                      </a:r>
                      <a:r>
                        <a:rPr lang="en-US" altLang="zh-CN" sz="900" b="1" dirty="0">
                          <a:latin typeface="Times New Roman" panose="02020603050405020304" pitchFamily="18" charset="0"/>
                          <a:cs typeface="Times New Roman" panose="02020603050405020304" pitchFamily="18" charset="0"/>
                        </a:rPr>
                        <a:t>[4]</a:t>
                      </a:r>
                      <a:r>
                        <a:rPr lang="en-US" altLang="zh-CN" sz="900" dirty="0">
                          <a:latin typeface="Times New Roman" panose="02020603050405020304" pitchFamily="18" charset="0"/>
                          <a:cs typeface="Times New Roman" panose="02020603050405020304" pitchFamily="18" charset="0"/>
                        </a:rPr>
                        <a:t>. Additionally, olive oil can enhance the absorption of fat-soluble vitamins found in salads [3].\n</a:t>
                      </a:r>
                      <a:endParaRPr lang="zh-CN" altLang="en-US" sz="90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2356240733"/>
                  </a:ext>
                </a:extLst>
              </a:tr>
            </a:tbl>
          </a:graphicData>
        </a:graphic>
      </p:graphicFrame>
      <p:sp>
        <p:nvSpPr>
          <p:cNvPr id="22" name="文本框 21">
            <a:extLst>
              <a:ext uri="{FF2B5EF4-FFF2-40B4-BE49-F238E27FC236}">
                <a16:creationId xmlns:a16="http://schemas.microsoft.com/office/drawing/2014/main" id="{B43E9A38-740F-A680-E2AF-58A011B40046}"/>
              </a:ext>
            </a:extLst>
          </p:cNvPr>
          <p:cNvSpPr txBox="1"/>
          <p:nvPr/>
        </p:nvSpPr>
        <p:spPr>
          <a:xfrm>
            <a:off x="610788" y="-327687"/>
            <a:ext cx="3567964" cy="923330"/>
          </a:xfrm>
          <a:prstGeom prst="rect">
            <a:avLst/>
          </a:prstGeom>
          <a:noFill/>
        </p:spPr>
        <p:txBody>
          <a:bodyPr wrap="none" rtlCol="0">
            <a:spAutoFit/>
          </a:bodyPr>
          <a:lstStyle/>
          <a:p>
            <a:r>
              <a:rPr lang="en-US" altLang="zh-CN" dirty="0"/>
              <a:t>Objective:[2]0.0089304-&gt;0.0323466</a:t>
            </a:r>
          </a:p>
          <a:p>
            <a:r>
              <a:rPr lang="en-US" altLang="zh-CN" dirty="0"/>
              <a:t>[4]</a:t>
            </a:r>
            <a:r>
              <a:rPr lang="zh-CN" altLang="en-US" dirty="0"/>
              <a:t> </a:t>
            </a:r>
            <a:r>
              <a:rPr lang="en-US" altLang="zh-CN" dirty="0"/>
              <a:t>0.7857875-&gt;0.58394843</a:t>
            </a:r>
          </a:p>
          <a:p>
            <a:r>
              <a:rPr lang="en-US" altLang="zh-CN" dirty="0"/>
              <a:t>2.79486369-&gt;2.81584594</a:t>
            </a:r>
            <a:endParaRPr lang="zh-CN" altLang="en-US" dirty="0"/>
          </a:p>
        </p:txBody>
      </p:sp>
      <p:sp>
        <p:nvSpPr>
          <p:cNvPr id="23" name="文本框 22">
            <a:extLst>
              <a:ext uri="{FF2B5EF4-FFF2-40B4-BE49-F238E27FC236}">
                <a16:creationId xmlns:a16="http://schemas.microsoft.com/office/drawing/2014/main" id="{E9C6B03A-1C73-973F-15ED-E6EBB9C7F6FC}"/>
              </a:ext>
            </a:extLst>
          </p:cNvPr>
          <p:cNvSpPr txBox="1"/>
          <p:nvPr/>
        </p:nvSpPr>
        <p:spPr>
          <a:xfrm>
            <a:off x="5117474" y="-1238492"/>
            <a:ext cx="2429955" cy="1477328"/>
          </a:xfrm>
          <a:prstGeom prst="rect">
            <a:avLst/>
          </a:prstGeom>
          <a:noFill/>
        </p:spPr>
        <p:txBody>
          <a:bodyPr wrap="square" rtlCol="0">
            <a:spAutoFit/>
          </a:bodyPr>
          <a:lstStyle/>
          <a:p>
            <a:r>
              <a:rPr lang="en-US" altLang="zh-CN" dirty="0"/>
              <a:t>Objective:[2]</a:t>
            </a:r>
            <a:r>
              <a:rPr lang="zh-CN" altLang="en-US" dirty="0"/>
              <a:t> </a:t>
            </a:r>
            <a:r>
              <a:rPr lang="en-US" altLang="zh-CN" dirty="0"/>
              <a:t>0.07517959-&gt;0.05284601 22.66987203-&gt;2.39058119</a:t>
            </a:r>
            <a:endParaRPr lang="zh-CN" altLang="en-US" dirty="0"/>
          </a:p>
        </p:txBody>
      </p:sp>
    </p:spTree>
    <p:extLst>
      <p:ext uri="{BB962C8B-B14F-4D97-AF65-F5344CB8AC3E}">
        <p14:creationId xmlns:p14="http://schemas.microsoft.com/office/powerpoint/2010/main" val="2102546046"/>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2623</TotalTime>
  <Words>2691</Words>
  <Application>Microsoft Office PowerPoint</Application>
  <PresentationFormat>自定义</PresentationFormat>
  <Paragraphs>136</Paragraphs>
  <Slides>5</Slides>
  <Notes>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vt:i4>
      </vt:variant>
    </vt:vector>
  </HeadingPairs>
  <TitlesOfParts>
    <vt:vector size="12" baseType="lpstr">
      <vt:lpstr>等线</vt:lpstr>
      <vt:lpstr>宋体</vt:lpstr>
      <vt:lpstr>Arial</vt:lpstr>
      <vt:lpstr>Calibri</vt:lpstr>
      <vt:lpstr>Calibri Light</vt:lpstr>
      <vt:lpstr>Times New Roman</vt:lpstr>
      <vt:lpstr>Office 主题​​</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肆 陈</dc:creator>
  <cp:lastModifiedBy>肆 陈</cp:lastModifiedBy>
  <cp:revision>26</cp:revision>
  <dcterms:created xsi:type="dcterms:W3CDTF">2025-07-12T09:26:00Z</dcterms:created>
  <dcterms:modified xsi:type="dcterms:W3CDTF">2026-01-12T16:43:30Z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A6013271242846EB9FBBD519EAB086DF_12</vt:lpwstr>
  </property>
  <property fmtid="{D5CDD505-2E9C-101B-9397-08002B2CF9AE}" pid="3" name="KSOProductBuildVer">
    <vt:lpwstr>2052-12.1.0.22215</vt:lpwstr>
  </property>
</Properties>
</file>